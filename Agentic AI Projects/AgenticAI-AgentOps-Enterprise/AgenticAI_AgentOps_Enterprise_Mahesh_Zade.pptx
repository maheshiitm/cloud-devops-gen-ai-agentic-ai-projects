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image" Target="../media/image55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image" Target="../media/image57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image" Target="../media/image59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image" Target="../media/image6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image" Target="../media/image63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image" Target="../media/image65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image" Target="../media/image6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Relationship Id="rId3" Type="http://schemas.openxmlformats.org/officeDocument/2006/relationships/image" Target="../media/image7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image" Target="../media/image7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image" Target="../media/image75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Relationship Id="rId3" Type="http://schemas.openxmlformats.org/officeDocument/2006/relationships/image" Target="../media/image77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Relationship Id="rId3" Type="http://schemas.openxmlformats.org/officeDocument/2006/relationships/image" Target="../media/image79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Relationship Id="rId3" Type="http://schemas.openxmlformats.org/officeDocument/2006/relationships/image" Target="../media/image8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Relationship Id="rId3" Type="http://schemas.openxmlformats.org/officeDocument/2006/relationships/image" Target="../media/image83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Relationship Id="rId3" Type="http://schemas.openxmlformats.org/officeDocument/2006/relationships/image" Target="../media/image85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Relationship Id="rId3" Type="http://schemas.openxmlformats.org/officeDocument/2006/relationships/image" Target="../media/image87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Relationship Id="rId3" Type="http://schemas.openxmlformats.org/officeDocument/2006/relationships/image" Target="../media/image8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Relationship Id="rId3" Type="http://schemas.openxmlformats.org/officeDocument/2006/relationships/image" Target="../media/image9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Relationship Id="rId3" Type="http://schemas.openxmlformats.org/officeDocument/2006/relationships/image" Target="../media/image93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Relationship Id="rId3" Type="http://schemas.openxmlformats.org/officeDocument/2006/relationships/image" Target="../media/image95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Relationship Id="rId3" Type="http://schemas.openxmlformats.org/officeDocument/2006/relationships/image" Target="../media/image97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Relationship Id="rId3" Type="http://schemas.openxmlformats.org/officeDocument/2006/relationships/image" Target="../media/image99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Relationship Id="rId3" Type="http://schemas.openxmlformats.org/officeDocument/2006/relationships/image" Target="../media/image10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Relationship Id="rId3" Type="http://schemas.openxmlformats.org/officeDocument/2006/relationships/image" Target="../media/image103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Relationship Id="rId3" Type="http://schemas.openxmlformats.org/officeDocument/2006/relationships/image" Target="../media/image105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Relationship Id="rId3" Type="http://schemas.openxmlformats.org/officeDocument/2006/relationships/image" Target="../media/image107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Relationship Id="rId3" Type="http://schemas.openxmlformats.org/officeDocument/2006/relationships/image" Target="../media/image109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Relationship Id="rId3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Relationship Id="rId3" Type="http://schemas.openxmlformats.org/officeDocument/2006/relationships/image" Target="../media/image115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Relationship Id="rId3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Relationship Id="rId3" Type="http://schemas.openxmlformats.org/officeDocument/2006/relationships/image" Target="../media/image119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Relationship Id="rId3" Type="http://schemas.openxmlformats.org/officeDocument/2006/relationships/image" Target="../media/image12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Relationship Id="rId3" Type="http://schemas.openxmlformats.org/officeDocument/2006/relationships/image" Target="../media/image123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Relationship Id="rId3" Type="http://schemas.openxmlformats.org/officeDocument/2006/relationships/image" Target="../media/image125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Relationship Id="rId3" Type="http://schemas.openxmlformats.org/officeDocument/2006/relationships/image" Target="../media/image40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Relationship Id="rId3" Type="http://schemas.openxmlformats.org/officeDocument/2006/relationships/image" Target="../media/image128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Relationship Id="rId3" Type="http://schemas.openxmlformats.org/officeDocument/2006/relationships/image" Target="../media/image130.jpg"/><Relationship Id="rId4" Type="http://schemas.openxmlformats.org/officeDocument/2006/relationships/image" Target="../media/image13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Relationship Id="rId3" Type="http://schemas.openxmlformats.org/officeDocument/2006/relationships/image" Target="../media/image133.jpg"/><Relationship Id="rId4" Type="http://schemas.openxmlformats.org/officeDocument/2006/relationships/image" Target="../media/image134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Relationship Id="rId3" Type="http://schemas.openxmlformats.org/officeDocument/2006/relationships/image" Target="../media/image136.jpg"/><Relationship Id="rId4" Type="http://schemas.openxmlformats.org/officeDocument/2006/relationships/image" Target="../media/image13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Relationship Id="rId3" Type="http://schemas.openxmlformats.org/officeDocument/2006/relationships/image" Target="../media/image139.jpg"/><Relationship Id="rId4" Type="http://schemas.openxmlformats.org/officeDocument/2006/relationships/image" Target="../media/image14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Relationship Id="rId3" Type="http://schemas.openxmlformats.org/officeDocument/2006/relationships/image" Target="../media/image142.jpg"/><Relationship Id="rId4" Type="http://schemas.openxmlformats.org/officeDocument/2006/relationships/image" Target="../media/image143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Relationship Id="rId3" Type="http://schemas.openxmlformats.org/officeDocument/2006/relationships/image" Target="../media/image145.jpg"/><Relationship Id="rId4" Type="http://schemas.openxmlformats.org/officeDocument/2006/relationships/image" Target="../media/image14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jpg"/><Relationship Id="rId3" Type="http://schemas.openxmlformats.org/officeDocument/2006/relationships/image" Target="../media/image148.jpg"/><Relationship Id="rId4" Type="http://schemas.openxmlformats.org/officeDocument/2006/relationships/image" Target="../media/image149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jpg"/><Relationship Id="rId3" Type="http://schemas.openxmlformats.org/officeDocument/2006/relationships/image" Target="../media/image151.jpg"/><Relationship Id="rId4" Type="http://schemas.openxmlformats.org/officeDocument/2006/relationships/image" Target="../media/image152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jpg"/><Relationship Id="rId3" Type="http://schemas.openxmlformats.org/officeDocument/2006/relationships/image" Target="../media/image154.jpg"/><Relationship Id="rId4" Type="http://schemas.openxmlformats.org/officeDocument/2006/relationships/image" Target="../media/image155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jpg"/><Relationship Id="rId3" Type="http://schemas.openxmlformats.org/officeDocument/2006/relationships/image" Target="../media/image157.jpg"/><Relationship Id="rId4" Type="http://schemas.openxmlformats.org/officeDocument/2006/relationships/image" Target="../media/image15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"/>
            <a:ext cx="2148840" cy="4114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A9170"/>
                </a:solidFill>
                <a:latin typeface="Aptos"/>
              </a:rPr>
              <a:t>AGENTIC AI • AGENTOPS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6302B"/>
                </a:solidFill>
                <a:latin typeface="Aptos"/>
              </a:rPr>
              <a:t>AgenticAI AgentOps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487168"/>
            <a:ext cx="10149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5F"/>
                </a:solidFill>
                <a:latin typeface="Aptos"/>
              </a:rPr>
              <a:t>Enterprise Agentic AI reference implementation with harness, context engineering, HITL, tools, memory, evaluation, guardrails, orchestration and observability.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51960"/>
            <a:ext cx="1737360" cy="38404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55C63"/>
                </a:solidFill>
                <a:latin typeface="Aptos"/>
              </a:rPr>
              <a:t>PROJECT PREPARED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42062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892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9170"/>
                </a:solidFill>
                <a:latin typeface="Aptos"/>
              </a:rPr>
              <a:t>Final Project Presentation • September 2026</a:t>
            </a:r>
          </a:p>
        </p:txBody>
      </p:sp>
      <p:pic>
        <p:nvPicPr>
          <p:cNvPr id="8" name="Picture 7" descr="evidence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9791"/>
            <a:ext cx="3794760" cy="1882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598932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35F"/>
                </a:solidFill>
                <a:latin typeface="Aptos"/>
              </a:rPr>
              <a:t>100-slide final evidence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01 / 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02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A controlled enterprise agent runtime where the LLM proposes work, while deterministic application code owns permissions, budgets, tool execution, approval and auditability.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executive summary.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555232"/>
            <a:ext cx="7726679" cy="47905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03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Enterprise agents need more than a prompt: they need controlled execution, bounded autonomy, trusted tool access, evidence, approvals and observable decisions.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problem statement.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470239"/>
            <a:ext cx="7726679" cy="64904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04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Build a reference platform demonstrating safe agent execution, explicit context, narrow tools, persistent memory, evaluation, bounded repair loops and traceable outcomes.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project objectives.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695678"/>
            <a:ext cx="7726679" cy="41981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Enterprise 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05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Project Intelligence Agent: answer project status/risk questions and handle controlled mutations only after policy checks and explicit human approval.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enterprise use case.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243590"/>
            <a:ext cx="7726679" cy="110233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Solution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06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User/API → Agent Harness → Context → Orchestrator → Tools/Memory/Guardrails/HITL → Critic/Repair → Finalizer → Audit/Trace.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solution at a glance.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295101"/>
            <a:ext cx="7726679" cy="99931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Core Design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07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6302B"/>
                </a:solidFill>
                <a:latin typeface="Aptos"/>
              </a:defRPr>
            </a:pPr>
            <a:r>
              <a:t>The LLM does not own the runtime</a:t>
            </a:r>
          </a:p>
          <a:p>
            <a:pPr>
              <a:spcAft>
                <a:spcPts val="700"/>
              </a:spcAft>
              <a:defRPr sz="1250">
                <a:solidFill>
                  <a:srgbClr val="26302B"/>
                </a:solidFill>
                <a:latin typeface="Aptos"/>
              </a:defRPr>
            </a:pPr>
            <a:r>
              <a:t>tools are typed and permissioned</a:t>
            </a:r>
          </a:p>
          <a:p>
            <a:pPr>
              <a:spcAft>
                <a:spcPts val="700"/>
              </a:spcAft>
              <a:defRPr sz="1250">
                <a:solidFill>
                  <a:srgbClr val="26302B"/>
                </a:solidFill>
                <a:latin typeface="Aptos"/>
              </a:defRPr>
            </a:pPr>
            <a:r>
              <a:t>mutations require approval</a:t>
            </a:r>
          </a:p>
          <a:p>
            <a:pPr>
              <a:spcAft>
                <a:spcPts val="700"/>
              </a:spcAft>
              <a:defRPr sz="1250">
                <a:solidFill>
                  <a:srgbClr val="26302B"/>
                </a:solidFill>
                <a:latin typeface="Aptos"/>
              </a:defRPr>
            </a:pPr>
            <a:r>
              <a:t>retrieved data is untrusted</a:t>
            </a:r>
          </a:p>
          <a:p>
            <a:pPr>
              <a:spcAft>
                <a:spcPts val="700"/>
              </a:spcAft>
              <a:defRPr sz="1250">
                <a:solidFill>
                  <a:srgbClr val="26302B"/>
                </a:solidFill>
                <a:latin typeface="Aptos"/>
              </a:defRPr>
            </a:pPr>
            <a:r>
              <a:t>loops and tool calls are bounded.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529477"/>
            <a:ext cx="7726679" cy="53056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Reference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08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runtime separates policy and execution from generation so the model cannot directly bypass permissions or approval gates.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reference architecture.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575837"/>
            <a:ext cx="7726679" cy="43784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Repository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09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app/, data/, docs/, evals/, prompts/, tests/ and .github/workflows/ form the implementation, evidence and delivery structure.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repository structure.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949976"/>
            <a:ext cx="7726679" cy="168956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Runtime Request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10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Receive request → guardrail check → harness → context build → planning → tool execution → critique → bounded repair → final answer → audit.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runtime request lifecycle.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611895"/>
            <a:ext cx="7726679" cy="36572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Agent Harness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11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harness is the control plane around the agent: request state, policy, authentication context, budgets and audit hooks.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agent harness.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803169"/>
            <a:ext cx="7726679" cy="198318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Authentication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12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User identity is carried in the request state and becomes part of the authorization decision and audit trail.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authentication context.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903616"/>
            <a:ext cx="7726679" cy="178228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Policy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13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Registered tools, permissions, mutation classification and approval requirements are evaluated outside the language model.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policy boundary.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424562"/>
            <a:ext cx="7726679" cy="274039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Agent State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14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State tracks request, user, trace ID, plan, context, tool results, critique, revisions, tool calls, approval and audit events.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agent state model.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29607"/>
            <a:ext cx="7726679" cy="393030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Context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15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Context is assembled explicitly from the current task, recent memory and runtime rules before orchestration.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context engineering.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09003"/>
            <a:ext cx="7726679" cy="397151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Context Layer: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16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user's current request is preserved as the task layer so downstream steps remain anchored to the actual objective.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context layer: task.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429713"/>
            <a:ext cx="7726679" cy="273009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Context Layer: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17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Recent user-specific memory is retrieved as supporting context; memory does not replace runtime policy.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context layer: memory.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703405"/>
            <a:ext cx="7726679" cy="418270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Context Layer: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18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Runtime rules include registered tools only, permissions, mutation approval and the rule that retrieved data cannot redefine policy.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context layer: rules.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883011"/>
            <a:ext cx="7726679" cy="18234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Context Provenance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19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Separating task, memory and rules makes the provenance of agent inputs inspectable and auditable.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context provenance.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88845"/>
            <a:ext cx="7726679" cy="381182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Orchestration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20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Planner → Tool Executor → Critic → bounded Repair Loop → Finalizer, with guardrails, memory, HITL and observability around the flow.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orchestration pattern.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575837"/>
            <a:ext cx="7726679" cy="43784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Planner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21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Translate the request into an objective, steps, risk level and whether human approval is required.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planner responsibilities.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798701"/>
            <a:ext cx="7726679" cy="399211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Tool Executor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22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Resolve only registered tools, check permissions, record allowed/blocked tool calls and collect structured results.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tool executor responsibilities.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311237"/>
            <a:ext cx="7726679" cy="296704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Tool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23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registry exposes a small, explicit tool surface rather than allowing arbitrary tool invocation.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tool registry.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700147"/>
            <a:ext cx="7726679" cy="218922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Project Lookup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24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Read-only project lookup provides evidence for status and risk questions without changing project state.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project lookup tool.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617046"/>
            <a:ext cx="7726679" cy="35542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TOOLS &amp;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Risk Update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25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Risk update is classified as a mutating operation and therefore crosses the human approval boundary.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risk update tool.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57938"/>
            <a:ext cx="7726679" cy="38736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TOOLS &amp;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Permission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26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Read permission supports lookup; write permission is required for mutation and is still subject to approval policy.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permission model.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011789"/>
            <a:ext cx="7726679" cy="15659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TOOLS &amp;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Human-in-the-Loop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27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Mutating requests pause for explicit human approval rather than silently changing data.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human-in-the-loop.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550081"/>
            <a:ext cx="7726679" cy="48935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HITL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HITL Approval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28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response exposes requires_human_approval so the client can distinguish a pending approval from a completed response.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hitl approval state.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364641"/>
            <a:ext cx="7726679" cy="8602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HITL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Approval Token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29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An explicit approval token is supplied after human review; the current implementation uses APPROVED in the demonstrated test flow.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approval token flow.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480541"/>
            <a:ext cx="7726679" cy="62843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HITL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Mutation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30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demonstrated mutation is simulated; the runtime reports that no real system changes were made.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mutation safety.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259043"/>
            <a:ext cx="7726679" cy="107143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Prompt Injection Guardrail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31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A request attempting to override instructions or expose secrets is blocked before normal orchestration proceeds.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prompt injection guardrail.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532735"/>
            <a:ext cx="7726679" cy="25240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Guardrails and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32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Guardrails protect the runtime boundary while permissions control access to specific tools and operations.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guardrails and permissions.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374943"/>
            <a:ext cx="7726679" cy="83963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Retrieved Data Is Untrusted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33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External or retrieved content is treated as data, not as a policy source capable of redefining agent rules.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retrieved data is untrusted.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747189"/>
            <a:ext cx="7726679" cy="40951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Memory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34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implementation uses SQLite-backed memory with explicit lifecycle boundaries and a clear extension point for richer semantic memory.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memory architecture.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445166"/>
            <a:ext cx="7726679" cy="26991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Working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35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current AgentState carries task-local execution information such as plan, context, tool results and critique.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working memory.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610002"/>
            <a:ext cx="7726679" cy="236951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Episodic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36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Recent prior events can be retrieved for the user and inserted into context without overriding runtime rules.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episodic memory.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83694"/>
            <a:ext cx="7726679" cy="382213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Semantic Memory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37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design leaves room for a semantic layer while keeping provenance and policy boundaries explicit.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semantic memory extension.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34758"/>
            <a:ext cx="7726679" cy="392000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Loop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38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Repair is bounded by MAX_REVISIONS so an agent cannot enter an unbounded self-correction loop.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loop engineering.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622197"/>
            <a:ext cx="7726679" cy="3451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Tool Call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39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MAX_TOOL_CALLS bounds tool execution and protects against runaway plans or repeated tool invocation.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tool call budget.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189503"/>
            <a:ext cx="7726679" cy="121051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Critic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40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critic checks whether sufficient structured evidence was retrieved and records a pass/fail result and score.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critic.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828925"/>
            <a:ext cx="7726679" cy="193166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Repair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41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When critique fails, the runtime can revise within the configured revision budget and then re-run critique.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repair loop.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060725"/>
            <a:ext cx="7726679" cy="146806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Finalizer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42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finalizer converts the verified execution state into the user-facing response while preserving traceability.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finalizer.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568110"/>
            <a:ext cx="7726679" cy="45329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43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Tracing and audit events provide visibility into context construction, tool decisions, approvals and final execution.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observability.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374943"/>
            <a:ext cx="7726679" cy="83963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Trace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44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Each AgentState receives a trace_id so events from one request can be correlated.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trace identity.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555232"/>
            <a:ext cx="7726679" cy="47905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Audit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45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Important runtime decisions are recorded as structured audit events rather than hidden inside model text.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audit events.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534628"/>
            <a:ext cx="7726679" cy="52026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Evaluation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46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Deep evaluation checks multiple dimensions rather than relying on one aggregate quality number.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evaluation strategy.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674599"/>
            <a:ext cx="7726679" cy="42403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Evaluation Case T1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47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T1 validates the normal tool/evidence path and records a complete passing result in the demonstrated run.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evaluation case t1.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912025"/>
            <a:ext cx="7726679" cy="37654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Evaluation Case 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48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T2 validates another structured tool/evidence scenario and passes the demonstrated checks.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evaluation case t2.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852787"/>
            <a:ext cx="7726679" cy="388394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Evaluation Case T3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49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T3 validates blocked behavior and records blocked_ok=true in the demonstrated run.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evaluation case t3.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493419"/>
            <a:ext cx="7726679" cy="60268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Evaluation Case T4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50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T4 validates another complete tool/evidence/approval path and passes the demonstrated checks.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evaluation case t4.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901723"/>
            <a:ext cx="7726679" cy="378607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Evaluation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51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demonstrated evaluation run reports 1.0 for T1–T4 and an average score of 1.0.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evaluation summary.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480541"/>
            <a:ext cx="7726679" cy="62843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281160" y="6016752"/>
            <a:ext cx="214884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screenshot 051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Automated Test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52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pytest -q completed successfully with 5 passing tests in the demonstrated project run.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automated test suite.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222688"/>
            <a:ext cx="3771900" cy="1144143"/>
          </a:xfrm>
          <a:prstGeom prst="rect">
            <a:avLst/>
          </a:prstGeom>
        </p:spPr>
      </p:pic>
      <p:pic>
        <p:nvPicPr>
          <p:cNvPr id="12" name="Picture 11" descr="evidence_05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820352"/>
            <a:ext cx="3771900" cy="194881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052–053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Guardrail Test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53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Guardrail tests verify blocking behavior and policy boundaries.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guardrail test coverage.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849270"/>
            <a:ext cx="3771900" cy="1890979"/>
          </a:xfrm>
          <a:prstGeom prst="rect">
            <a:avLst/>
          </a:prstGeom>
        </p:spPr>
      </p:pic>
      <p:pic>
        <p:nvPicPr>
          <p:cNvPr id="12" name="Picture 11" descr="evidence_05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812808"/>
            <a:ext cx="3771900" cy="196390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054–055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Memory Test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54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Memory tests validate persistence/retrieval behavior of the memory layer.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memory test coverage.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177425"/>
            <a:ext cx="3771900" cy="1234668"/>
          </a:xfrm>
          <a:prstGeom prst="rect">
            <a:avLst/>
          </a:prstGeom>
        </p:spPr>
      </p:pic>
      <p:pic>
        <p:nvPicPr>
          <p:cNvPr id="12" name="Picture 11" descr="evidence_05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665258"/>
            <a:ext cx="3771900" cy="25900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056–057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Orchestrator Test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55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Orchestrator tests exercise planning, execution, critique and response behavior.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orchestrator test coverage.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728976"/>
            <a:ext cx="3771900" cy="4131567"/>
          </a:xfrm>
          <a:prstGeom prst="rect">
            <a:avLst/>
          </a:prstGeom>
        </p:spPr>
      </p:pic>
      <p:pic>
        <p:nvPicPr>
          <p:cNvPr id="12" name="Picture 11" descr="evidence_05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530727"/>
            <a:ext cx="3771900" cy="52806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058–059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Tool Test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56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Tool tests validate registry and tool behavior.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tool test coverage.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918421"/>
            <a:ext cx="3771900" cy="1752676"/>
          </a:xfrm>
          <a:prstGeom prst="rect">
            <a:avLst/>
          </a:prstGeom>
        </p:spPr>
      </p:pic>
      <p:pic>
        <p:nvPicPr>
          <p:cNvPr id="12" name="Picture 11" descr="evidence_06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413798"/>
            <a:ext cx="3771900" cy="76192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060–061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Python Compilation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57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project was also compiled successfully with the application modules, providing a syntax-level verification step.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python compilation check.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780118"/>
            <a:ext cx="3771900" cy="2029282"/>
          </a:xfrm>
          <a:prstGeom prst="rect">
            <a:avLst/>
          </a:prstGeom>
        </p:spPr>
      </p:pic>
      <p:pic>
        <p:nvPicPr>
          <p:cNvPr id="12" name="Picture 11" descr="evidence_0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157308"/>
            <a:ext cx="3771900" cy="127490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062–063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LLM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58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LLM service uses the OpenAI client and the configured model name; the runtime reads credentials from environment configuration.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llm integration.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834182"/>
            <a:ext cx="3771900" cy="1921154"/>
          </a:xfrm>
          <a:prstGeom prst="rect">
            <a:avLst/>
          </a:prstGeom>
        </p:spPr>
      </p:pic>
      <p:pic>
        <p:nvPicPr>
          <p:cNvPr id="12" name="Picture 11" descr="evidence_0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552101"/>
            <a:ext cx="3771900" cy="48531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064–065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Environment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59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project uses .env.example as the safe template and keeps the real .env outside Git tracking.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environment configuration.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267951"/>
            <a:ext cx="3771900" cy="1053617"/>
          </a:xfrm>
          <a:prstGeom prst="rect">
            <a:avLst/>
          </a:prstGeom>
        </p:spPr>
      </p:pic>
      <p:pic>
        <p:nvPicPr>
          <p:cNvPr id="12" name="Picture 11" descr="evidence_06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817837"/>
            <a:ext cx="3771900" cy="195384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066–067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Secret Hygiene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60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real API key is not included in the GitHub project; .env is ignored and the presentation intentionally does not expose secret values.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secret hygiene.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645141"/>
            <a:ext cx="3771900" cy="299237"/>
          </a:xfrm>
          <a:prstGeom prst="rect">
            <a:avLst/>
          </a:prstGeom>
        </p:spPr>
      </p:pic>
      <p:pic>
        <p:nvPicPr>
          <p:cNvPr id="12" name="Picture 11" descr="evidence_0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850527"/>
            <a:ext cx="3771900" cy="18884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068–069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FastAPI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61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runtime is exposed through FastAPI and Uvicorn for local execution and interactive API testing.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fastapi service.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692918"/>
            <a:ext cx="3771900" cy="203682"/>
          </a:xfrm>
          <a:prstGeom prst="rect">
            <a:avLst/>
          </a:prstGeom>
        </p:spPr>
      </p:pic>
      <p:pic>
        <p:nvPicPr>
          <p:cNvPr id="12" name="Picture 11" descr="evidence_0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885732"/>
            <a:ext cx="3771900" cy="181805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070–071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Health 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62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GET /health provides a simple service health response.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health endpoint.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786405"/>
            <a:ext cx="3771900" cy="2016709"/>
          </a:xfrm>
          <a:prstGeom prst="rect">
            <a:avLst/>
          </a:prstGeom>
        </p:spPr>
      </p:pic>
      <p:pic>
        <p:nvPicPr>
          <p:cNvPr id="12" name="Picture 11" descr="evidence_07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874416"/>
            <a:ext cx="3771900" cy="184068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072–073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Tools 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63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GET /tools exposes the registered tool metadata, including permissions and mutation classification.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tools endpoint.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115780"/>
            <a:ext cx="3771900" cy="3357958"/>
          </a:xfrm>
          <a:prstGeom prst="rect">
            <a:avLst/>
          </a:prstGeom>
        </p:spPr>
      </p:pic>
      <p:pic>
        <p:nvPicPr>
          <p:cNvPr id="12" name="Picture 11" descr="evidence_07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753715"/>
            <a:ext cx="3771900" cy="208208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074–075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Agent 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64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POST /agent/run accepts a user request and returns an auditable AgentResponse.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agent endpoint.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884474"/>
            <a:ext cx="3771900" cy="1820570"/>
          </a:xfrm>
          <a:prstGeom prst="rect">
            <a:avLst/>
          </a:prstGeom>
        </p:spPr>
      </p:pic>
      <p:pic>
        <p:nvPicPr>
          <p:cNvPr id="12" name="Picture 11" descr="evidence_07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848013"/>
            <a:ext cx="3771900" cy="189349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076–077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Normal Query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65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A normal project lookup request returns a successful response with trace and audit information.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normal query evidence.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840469"/>
            <a:ext cx="3771900" cy="1908581"/>
          </a:xfrm>
          <a:prstGeom prst="rect">
            <a:avLst/>
          </a:prstGeom>
        </p:spPr>
      </p:pic>
      <p:pic>
        <p:nvPicPr>
          <p:cNvPr id="12" name="Picture 11" descr="evidence_07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606165"/>
            <a:ext cx="3771900" cy="37719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078–079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Mutation Request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66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A risk update request reaches the approval gate and returns requires_human_approval=true.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mutation request evidence.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671544"/>
            <a:ext cx="3771900" cy="246430"/>
          </a:xfrm>
          <a:prstGeom prst="rect">
            <a:avLst/>
          </a:prstGeom>
        </p:spPr>
      </p:pic>
      <p:pic>
        <p:nvPicPr>
          <p:cNvPr id="12" name="Picture 11" descr="evidence_08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874416"/>
            <a:ext cx="3771900" cy="184068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080–081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Approved Mutation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67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With the demonstrated approval token, the response clears the pending approval flag and records the approved execution path.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approved mutation evidence.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709263"/>
            <a:ext cx="3771900" cy="170992"/>
          </a:xfrm>
          <a:prstGeom prst="rect">
            <a:avLst/>
          </a:prstGeom>
        </p:spPr>
      </p:pic>
      <p:pic>
        <p:nvPicPr>
          <p:cNvPr id="12" name="Picture 11" descr="evidence_08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795206"/>
            <a:ext cx="3771900" cy="199910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082–083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Blocked Prompt Injection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68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prompt-injection test returns HTTP 403 with the guardrail message shown in the evidence.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blocked prompt injection evidence.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849270"/>
            <a:ext cx="3771900" cy="1890979"/>
          </a:xfrm>
          <a:prstGeom prst="rect">
            <a:avLst/>
          </a:prstGeom>
        </p:spPr>
      </p:pic>
      <p:pic>
        <p:nvPicPr>
          <p:cNvPr id="12" name="Picture 11" descr="evidence_08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812718"/>
            <a:ext cx="3771900" cy="196408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084–085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Swagger / OpenAPI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69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local FastAPI Swagger interface provides an interactive view of the service contract and endpoints.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swagger / openapi evidence.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128391"/>
            <a:ext cx="3771900" cy="1332738"/>
          </a:xfrm>
          <a:prstGeom prst="rect">
            <a:avLst/>
          </a:prstGeom>
        </p:spPr>
      </p:pic>
      <p:pic>
        <p:nvPicPr>
          <p:cNvPr id="12" name="Picture 11" descr="evidence_08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776347"/>
            <a:ext cx="3771900" cy="203682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086–087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Local Runtime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70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application was run on 127.0.0.1:8000 and tested through the browser-based API interface.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local runtime evidence.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542042"/>
            <a:ext cx="3771900" cy="505434"/>
          </a:xfrm>
          <a:prstGeom prst="rect">
            <a:avLst/>
          </a:prstGeom>
        </p:spPr>
      </p:pic>
      <p:pic>
        <p:nvPicPr>
          <p:cNvPr id="12" name="Picture 11" descr="evidence_08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844241"/>
            <a:ext cx="3771900" cy="190103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088–089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Git Initialization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71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standalone project was initialized as a Git repository and committed locally before being integrated into the existing parent repository.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git initialization.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632568"/>
            <a:ext cx="3771900" cy="324383"/>
          </a:xfrm>
          <a:prstGeom prst="rect">
            <a:avLst/>
          </a:prstGeom>
        </p:spPr>
      </p:pic>
      <p:pic>
        <p:nvPicPr>
          <p:cNvPr id="12" name="Picture 11" descr="evidence_09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675316"/>
            <a:ext cx="3771900" cy="2388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090–091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GitHub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72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Git Credential Manager was configured and GitHub device authentication completed successfully.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github authentication.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427700"/>
            <a:ext cx="3771900" cy="4734119"/>
          </a:xfrm>
          <a:prstGeom prst="rect">
            <a:avLst/>
          </a:prstGeom>
        </p:spPr>
      </p:pic>
      <p:pic>
        <p:nvPicPr>
          <p:cNvPr id="12" name="Picture 11" descr="evidence_09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824124"/>
            <a:ext cx="3771900" cy="194127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092–093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GITHUB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Parent Repository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73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Because the target GitHub repository already contained other projects, the AgentOps project was inserted into its existing Agentic AI Projects folder rather than replacing the repository root.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parent repository strategy.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599042"/>
            <a:ext cx="3771900" cy="2391435"/>
          </a:xfrm>
          <a:prstGeom prst="rect">
            <a:avLst/>
          </a:prstGeom>
        </p:spPr>
      </p:pic>
      <p:pic>
        <p:nvPicPr>
          <p:cNvPr id="12" name="Picture 11" descr="evidence_09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675316"/>
            <a:ext cx="3771900" cy="2388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094–095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GITHUB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Safe Repository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74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project was copied into the nested GitHub folder while excluding .git, .venv, .pytest_cache, .env and agent_memory.db.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safe repository copy.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647655"/>
            <a:ext cx="3771900" cy="294208"/>
          </a:xfrm>
          <a:prstGeom prst="rect">
            <a:avLst/>
          </a:prstGeom>
        </p:spPr>
      </p:pic>
      <p:pic>
        <p:nvPicPr>
          <p:cNvPr id="12" name="Picture 11" descr="evidence_09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868129"/>
            <a:ext cx="3771900" cy="18532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096–097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GITHUB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Nested Project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75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final GitHub path is Agentic AI Projects/AgenticAI-AgentOps-Enterprise.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nested project structure.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0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611194"/>
            <a:ext cx="3771900" cy="367131"/>
          </a:xfrm>
          <a:prstGeom prst="rect">
            <a:avLst/>
          </a:prstGeom>
        </p:spPr>
      </p:pic>
      <p:pic>
        <p:nvPicPr>
          <p:cNvPr id="12" name="Picture 11" descr="evidence_09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570960"/>
            <a:ext cx="3771900" cy="44759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098–099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GITHUB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Git Staging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76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parent repository status showed the AgentOps project files staged for commit.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git staging evidence.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967456"/>
            <a:ext cx="3771900" cy="1654606"/>
          </a:xfrm>
          <a:prstGeom prst="rect">
            <a:avLst/>
          </a:prstGeom>
        </p:spPr>
      </p:pic>
      <p:pic>
        <p:nvPicPr>
          <p:cNvPr id="12" name="Picture 11" descr="evidence_1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674059"/>
            <a:ext cx="3771900" cy="24140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100–101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GITHUB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Git Commit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77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Commit 00f8252 added the AgenticAI AgentOps Enterprise implementation with 61 files changed.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git commit evidence.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765031"/>
            <a:ext cx="3771900" cy="2059457"/>
          </a:xfrm>
          <a:prstGeom prst="rect">
            <a:avLst/>
          </a:prstGeom>
        </p:spPr>
      </p:pic>
      <p:pic>
        <p:nvPicPr>
          <p:cNvPr id="12" name="Picture 11" descr="evidence_1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787662"/>
            <a:ext cx="3771900" cy="201419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102–103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GITHUB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Git Push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78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final push updated main from 41dbebb to 00f8252.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git push evidence.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435172"/>
            <a:ext cx="3771900" cy="719175"/>
          </a:xfrm>
          <a:prstGeom prst="rect">
            <a:avLst/>
          </a:prstGeom>
        </p:spPr>
      </p:pic>
      <p:pic>
        <p:nvPicPr>
          <p:cNvPr id="12" name="Picture 11" descr="evidence_1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850527"/>
            <a:ext cx="3771900" cy="18884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104–105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GITHUB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GitHub Final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79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existing GitHub repository now contains the full AgenticAI AgentOps Enterprise project under the intended folder.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github final state.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195027"/>
            <a:ext cx="3771900" cy="1199464"/>
          </a:xfrm>
          <a:prstGeom prst="rect">
            <a:avLst/>
          </a:prstGeom>
        </p:spPr>
      </p:pic>
      <p:pic>
        <p:nvPicPr>
          <p:cNvPr id="12" name="Picture 11" descr="evidence_1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437686"/>
            <a:ext cx="3771900" cy="71414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106–107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GITHUB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Deployment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80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project includes Dockerfile, docker-compose.yml and a GitHub Actions workflow as delivery artifacts.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deployment readiness.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350026"/>
            <a:ext cx="3771900" cy="2889467"/>
          </a:xfrm>
          <a:prstGeom prst="rect">
            <a:avLst/>
          </a:prstGeom>
        </p:spPr>
      </p:pic>
      <p:pic>
        <p:nvPicPr>
          <p:cNvPr id="12" name="Picture 11" descr="evidence_1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460318"/>
            <a:ext cx="3771900" cy="66888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108–109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GITHUB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Containerization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81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Docker packaging provides a repeatable runtime option while the local Uvicorn flow remains useful for development and evidence capture.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containerization.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768803"/>
            <a:ext cx="3771900" cy="2051913"/>
          </a:xfrm>
          <a:prstGeom prst="rect">
            <a:avLst/>
          </a:prstGeom>
        </p:spPr>
      </p:pic>
      <p:pic>
        <p:nvPicPr>
          <p:cNvPr id="12" name="Picture 11" descr="evidence_1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685374"/>
            <a:ext cx="3771900" cy="21877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110–111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DELIVERY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CI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82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.github/workflows/ci.yml file provides an automated quality gate for the repository.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ci workflow.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328301"/>
            <a:ext cx="3771900" cy="932916"/>
          </a:xfrm>
          <a:prstGeom prst="rect">
            <a:avLst/>
          </a:prstGeom>
        </p:spPr>
      </p:pic>
      <p:pic>
        <p:nvPicPr>
          <p:cNvPr id="12" name="Picture 11" descr="evidence_1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237776"/>
            <a:ext cx="3771900" cy="111396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112–113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DELIVERY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Project 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83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example data/projects.json file provides structured project evidence for the read/write tool demonstrations.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project data model.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319500"/>
            <a:ext cx="3771900" cy="950518"/>
          </a:xfrm>
          <a:prstGeom prst="rect">
            <a:avLst/>
          </a:prstGeom>
        </p:spPr>
      </p:pic>
      <p:pic>
        <p:nvPicPr>
          <p:cNvPr id="12" name="Picture 11" descr="evidence_1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540785"/>
            <a:ext cx="3771900" cy="50794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114–115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DELIVERY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Prompt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84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planner.md, critic.md and finalizer.md keep core agent instructions versioned as project artifacts.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prompt assets.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695879"/>
            <a:ext cx="3771900" cy="2197760"/>
          </a:xfrm>
          <a:prstGeom prst="rect">
            <a:avLst/>
          </a:prstGeom>
        </p:spPr>
      </p:pic>
      <p:pic>
        <p:nvPicPr>
          <p:cNvPr id="12" name="Picture 11" descr="evidence_1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670287"/>
            <a:ext cx="3771900" cy="24894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116–117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DELIVERY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Documentation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85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docs directory covers project summary, harness, context, HITL, tools, memory, evaluation, loops, guardrails, orchestration, observability and production checklist.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documentation set.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856814"/>
            <a:ext cx="3771900" cy="1875891"/>
          </a:xfrm>
          <a:prstGeom prst="rect">
            <a:avLst/>
          </a:prstGeom>
        </p:spPr>
      </p:pic>
      <p:pic>
        <p:nvPicPr>
          <p:cNvPr id="12" name="Picture 11" descr="evidence_1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824124"/>
            <a:ext cx="3771900" cy="194127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118–119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DELIVERY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Architecture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86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architecture.svg provides a reusable architecture visual for documentation and GitHub presentation.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architecture artifact.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065526"/>
            <a:ext cx="3771900" cy="1458468"/>
          </a:xfrm>
          <a:prstGeom prst="rect">
            <a:avLst/>
          </a:prstGeom>
        </p:spPr>
      </p:pic>
      <p:pic>
        <p:nvPicPr>
          <p:cNvPr id="12" name="Picture 11" descr="evidence_1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660228"/>
            <a:ext cx="3771900" cy="26906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120–121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DELIVERY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Auditability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87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Trace IDs, audit events, evaluation records and repository evidence create a reviewable execution story.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auditability.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592334"/>
            <a:ext cx="3771900" cy="404850"/>
          </a:xfrm>
          <a:prstGeom prst="rect">
            <a:avLst/>
          </a:prstGeom>
        </p:spPr>
      </p:pic>
      <p:pic>
        <p:nvPicPr>
          <p:cNvPr id="12" name="Picture 11" descr="evidence_1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569703"/>
            <a:ext cx="3771900" cy="45011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122–123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Security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88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Prompt-injection blocking, permission checks, human approval for mutation and secret exclusion are the main demonstrated controls.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security controls.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467862"/>
            <a:ext cx="3771900" cy="653796"/>
          </a:xfrm>
          <a:prstGeom prst="rect">
            <a:avLst/>
          </a:prstGeom>
        </p:spPr>
      </p:pic>
      <p:pic>
        <p:nvPicPr>
          <p:cNvPr id="12" name="Picture 11" descr="evidence_1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640243"/>
            <a:ext cx="3771900" cy="230903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124–125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Failure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89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Critique and bounded repair provide a controlled response to insufficient evidence without allowing unlimited retries.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failure handling.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247834"/>
            <a:ext cx="3771900" cy="1093851"/>
          </a:xfrm>
          <a:prstGeom prst="rect">
            <a:avLst/>
          </a:prstGeom>
        </p:spPr>
      </p:pic>
      <p:pic>
        <p:nvPicPr>
          <p:cNvPr id="12" name="Picture 11" descr="evidence_0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3323272"/>
            <a:ext cx="3771900" cy="94297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126–127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Testing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90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Unit tests, deep evaluation, compile checks and API evidence complement one another as multiple verification layers.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testing strategy.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637597"/>
            <a:ext cx="3771900" cy="314325"/>
          </a:xfrm>
          <a:prstGeom prst="rect">
            <a:avLst/>
          </a:prstGeom>
        </p:spPr>
      </p:pic>
      <p:pic>
        <p:nvPicPr>
          <p:cNvPr id="12" name="Picture 11" descr="evidence_1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825381"/>
            <a:ext cx="3771900" cy="19387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869680" y="6016752"/>
            <a:ext cx="256032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128–129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Evidence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91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Screenshots in this deck are retained as evidence of setup, runtime, testing, guardrails, API behavior and GitHub delivery.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evidence mapping.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648526"/>
            <a:ext cx="3771900" cy="1960746"/>
          </a:xfrm>
          <a:prstGeom prst="rect">
            <a:avLst/>
          </a:prstGeom>
        </p:spPr>
      </p:pic>
      <p:pic>
        <p:nvPicPr>
          <p:cNvPr id="12" name="Picture 11" descr="evidence_1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534602"/>
            <a:ext cx="3771900" cy="188595"/>
          </a:xfrm>
          <a:prstGeom prst="rect">
            <a:avLst/>
          </a:prstGeom>
        </p:spPr>
      </p:pic>
      <p:pic>
        <p:nvPicPr>
          <p:cNvPr id="13" name="Picture 12" descr="evidence_13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09" y="4364774"/>
            <a:ext cx="3863339" cy="142943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58200" y="6016752"/>
            <a:ext cx="297180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130–132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92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project demonstrates the requested AgentOps concepts in one cohesive reference implementation and repository structure.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project outcomes.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363609"/>
            <a:ext cx="3771900" cy="530580"/>
          </a:xfrm>
          <a:prstGeom prst="rect">
            <a:avLst/>
          </a:prstGeom>
        </p:spPr>
      </p:pic>
      <p:pic>
        <p:nvPicPr>
          <p:cNvPr id="12" name="Picture 11" descr="evidence_1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474252"/>
            <a:ext cx="3771900" cy="309295"/>
          </a:xfrm>
          <a:prstGeom prst="rect">
            <a:avLst/>
          </a:prstGeom>
        </p:spPr>
      </p:pic>
      <p:pic>
        <p:nvPicPr>
          <p:cNvPr id="13" name="Picture 12" descr="evidence_13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09" y="4036390"/>
            <a:ext cx="3863339" cy="208620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58200" y="6016752"/>
            <a:ext cx="297180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133–135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93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The demonstrated risk mutation is simulated; external production systems, enterprise identity and distributed observability are extension points rather than claimed integrations.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current limitations.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024138"/>
            <a:ext cx="3771900" cy="1209522"/>
          </a:xfrm>
          <a:prstGeom prst="rect">
            <a:avLst/>
          </a:prstGeom>
        </p:spPr>
      </p:pic>
      <p:pic>
        <p:nvPicPr>
          <p:cNvPr id="12" name="Picture 11" descr="evidence_1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1624317"/>
            <a:ext cx="3771900" cy="2009165"/>
          </a:xfrm>
          <a:prstGeom prst="rect">
            <a:avLst/>
          </a:prstGeom>
        </p:spPr>
      </p:pic>
      <p:pic>
        <p:nvPicPr>
          <p:cNvPr id="13" name="Picture 12" descr="evidence_13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09" y="4118808"/>
            <a:ext cx="3863339" cy="192136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58200" y="6016752"/>
            <a:ext cx="297180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136–138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94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Possible next steps include real enterprise connectors, richer semantic memory, production identity, policy engines, distributed tracing and stronger evaluation datasets.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future enhancements.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330919"/>
            <a:ext cx="3771900" cy="595960"/>
          </a:xfrm>
          <a:prstGeom prst="rect">
            <a:avLst/>
          </a:prstGeom>
        </p:spPr>
      </p:pic>
      <p:pic>
        <p:nvPicPr>
          <p:cNvPr id="12" name="Picture 11" descr="evidence_1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445334"/>
            <a:ext cx="3771900" cy="367131"/>
          </a:xfrm>
          <a:prstGeom prst="rect">
            <a:avLst/>
          </a:prstGeom>
        </p:spPr>
      </p:pic>
      <p:pic>
        <p:nvPicPr>
          <p:cNvPr id="13" name="Picture 12" descr="evidence_1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09" y="4973894"/>
            <a:ext cx="3863339" cy="21119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58200" y="6016752"/>
            <a:ext cx="297180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139–141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CLOSEOUT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Interview Demonstration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95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Start with architecture, show a normal read request, demonstrate HITL for mutation, trigger prompt-injection blocking, then show evaluation and GitHub evidence.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interview demonstration flow.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459164"/>
            <a:ext cx="3771900" cy="339471"/>
          </a:xfrm>
          <a:prstGeom prst="rect">
            <a:avLst/>
          </a:prstGeom>
        </p:spPr>
      </p:pic>
      <p:pic>
        <p:nvPicPr>
          <p:cNvPr id="12" name="Picture 11" descr="evidence_1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1620545"/>
            <a:ext cx="3771900" cy="2016709"/>
          </a:xfrm>
          <a:prstGeom prst="rect">
            <a:avLst/>
          </a:prstGeom>
        </p:spPr>
      </p:pic>
      <p:pic>
        <p:nvPicPr>
          <p:cNvPr id="13" name="Picture 12" descr="evidence_14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09" y="4717625"/>
            <a:ext cx="3863339" cy="72373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58200" y="6016752"/>
            <a:ext cx="297180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142–144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CLOSEOUT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Five-Minute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96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1) architecture 2) runtime 3) read tool 4) HITL mutation 5) guardrail block 6) tests/evals 7) GitHub repository.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five-minute walkthrough.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649463"/>
            <a:ext cx="3771900" cy="1958873"/>
          </a:xfrm>
          <a:prstGeom prst="rect">
            <a:avLst/>
          </a:prstGeom>
        </p:spPr>
      </p:pic>
      <p:pic>
        <p:nvPicPr>
          <p:cNvPr id="12" name="Picture 11" descr="evidence_14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382469"/>
            <a:ext cx="3771900" cy="492861"/>
          </a:xfrm>
          <a:prstGeom prst="rect">
            <a:avLst/>
          </a:prstGeom>
        </p:spPr>
      </p:pic>
      <p:pic>
        <p:nvPicPr>
          <p:cNvPr id="13" name="Picture 12" descr="evidence_1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09" y="4120095"/>
            <a:ext cx="3863339" cy="191879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58200" y="6016752"/>
            <a:ext cx="297180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145–147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CLOSEOUT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GitHub Submission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97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README, application code, docs, tests, evaluation assets, prompts, Docker/CI artifacts and the final nested repository path are included.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github submission checklist.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533345"/>
            <a:ext cx="3771900" cy="191109"/>
          </a:xfrm>
          <a:prstGeom prst="rect">
            <a:avLst/>
          </a:prstGeom>
        </p:spPr>
      </p:pic>
      <p:pic>
        <p:nvPicPr>
          <p:cNvPr id="12" name="Picture 11" descr="evidence_1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495626"/>
            <a:ext cx="3771900" cy="266547"/>
          </a:xfrm>
          <a:prstGeom prst="rect">
            <a:avLst/>
          </a:prstGeom>
        </p:spPr>
      </p:pic>
      <p:pic>
        <p:nvPicPr>
          <p:cNvPr id="13" name="Picture 12" descr="evidence_1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09" y="4382803"/>
            <a:ext cx="3863339" cy="139337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58200" y="6016752"/>
            <a:ext cx="297180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148–150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CLOSEOUT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Production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98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C63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6302B"/>
                </a:solidFill>
                <a:latin typeface="Aptos"/>
              </a:defRPr>
            </a:pPr>
            <a:r>
              <a:t>Validate configuration and secrets</a:t>
            </a:r>
          </a:p>
          <a:p>
            <a:pPr>
              <a:spcAft>
                <a:spcPts val="700"/>
              </a:spcAft>
              <a:defRPr sz="1250">
                <a:solidFill>
                  <a:srgbClr val="26302B"/>
                </a:solidFill>
                <a:latin typeface="Aptos"/>
              </a:defRPr>
            </a:pPr>
            <a:r>
              <a:t>run tests and deep evaluation</a:t>
            </a:r>
          </a:p>
          <a:p>
            <a:pPr>
              <a:spcAft>
                <a:spcPts val="700"/>
              </a:spcAft>
              <a:defRPr sz="1250">
                <a:solidFill>
                  <a:srgbClr val="26302B"/>
                </a:solidFill>
                <a:latin typeface="Aptos"/>
              </a:defRPr>
            </a:pPr>
            <a:r>
              <a:t>verify guardrails and HITL</a:t>
            </a:r>
          </a:p>
          <a:p>
            <a:pPr>
              <a:spcAft>
                <a:spcPts val="700"/>
              </a:spcAft>
              <a:defRPr sz="1250">
                <a:solidFill>
                  <a:srgbClr val="26302B"/>
                </a:solidFill>
                <a:latin typeface="Aptos"/>
              </a:defRPr>
            </a:pPr>
            <a:r>
              <a:t>review audit/traces</a:t>
            </a:r>
          </a:p>
          <a:p>
            <a:pPr>
              <a:spcAft>
                <a:spcPts val="700"/>
              </a:spcAft>
              <a:defRPr sz="1250">
                <a:solidFill>
                  <a:srgbClr val="26302B"/>
                </a:solidFill>
                <a:latin typeface="Aptos"/>
              </a:defRPr>
            </a:pPr>
            <a:r>
              <a:t>confirm Docker/CI artifacts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508199"/>
            <a:ext cx="3771900" cy="241401"/>
          </a:xfrm>
          <a:prstGeom prst="rect">
            <a:avLst/>
          </a:prstGeom>
        </p:spPr>
      </p:pic>
      <p:pic>
        <p:nvPicPr>
          <p:cNvPr id="12" name="Picture 11" descr="evidence_15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1630603"/>
            <a:ext cx="3771900" cy="1996592"/>
          </a:xfrm>
          <a:prstGeom prst="rect">
            <a:avLst/>
          </a:prstGeom>
        </p:spPr>
      </p:pic>
      <p:pic>
        <p:nvPicPr>
          <p:cNvPr id="13" name="Picture 12" descr="evidence_15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09" y="4860569"/>
            <a:ext cx="3863339" cy="43784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58200" y="6016752"/>
            <a:ext cx="297180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151–153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PROJECT PREPARED 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1" y="265176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292608"/>
            <a:ext cx="2240280" cy="29260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55C63"/>
                </a:solidFill>
                <a:latin typeface="Aptos"/>
              </a:rPr>
              <a:t>CLOSEOUT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302B"/>
                </a:solidFill>
                <a:latin typeface="Aptos"/>
              </a:rPr>
              <a:t>Final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35F"/>
                </a:solidFill>
                <a:latin typeface="Aptos"/>
              </a:rPr>
              <a:t>99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3154680" cy="475488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2606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A controlled Agentic AI reference platform with explicit context, permissioned tools, HITL, memory, bounded loops, evaluation and observability.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Evidence captured in the project workflow for final summary.</a:t>
            </a:r>
          </a:p>
          <a:p>
            <a:pPr>
              <a:spcAft>
                <a:spcPts val="700"/>
              </a:spcAft>
              <a:defRPr sz="1400">
                <a:solidFill>
                  <a:srgbClr val="26302B"/>
                </a:solidFill>
                <a:latin typeface="Aptos"/>
              </a:defRPr>
            </a:pPr>
            <a:r>
              <a:t>Design intent: controlled, auditable and bounded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742432"/>
            <a:ext cx="1143000" cy="274320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11" name="Picture 10" descr="evidence_1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519514"/>
            <a:ext cx="3771900" cy="218770"/>
          </a:xfrm>
          <a:prstGeom prst="rect">
            <a:avLst/>
          </a:prstGeom>
        </p:spPr>
      </p:pic>
      <p:pic>
        <p:nvPicPr>
          <p:cNvPr id="12" name="Picture 11" descr="evidence_15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19" y="2494368"/>
            <a:ext cx="3771900" cy="269062"/>
          </a:xfrm>
          <a:prstGeom prst="rect">
            <a:avLst/>
          </a:prstGeom>
        </p:spPr>
      </p:pic>
      <p:pic>
        <p:nvPicPr>
          <p:cNvPr id="13" name="Picture 12" descr="evidence_15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09" y="4964879"/>
            <a:ext cx="3863339" cy="2292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58200" y="6016752"/>
            <a:ext cx="297180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154–156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46520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9170"/>
                </a:solidFill>
                <a:latin typeface="Aptos"/>
              </a:rPr>
              <a:t>AgenticAI AgentOps Enterprise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731520"/>
            <a:ext cx="1600200" cy="384048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A9170"/>
                </a:solidFill>
                <a:latin typeface="Aptos"/>
              </a:rPr>
              <a:t>PROJECT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26302B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423160"/>
            <a:ext cx="8686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5B635F"/>
                </a:solidFill>
                <a:latin typeface="Aptos"/>
              </a:rPr>
              <a:t>AgenticAI AgentOps Enterprise
Project Prepared by Mahesh Zade
GitHub-ready reference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434840"/>
            <a:ext cx="1143000" cy="384048"/>
          </a:xfrm>
          <a:prstGeom prst="round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55C63"/>
                </a:solidFill>
                <a:latin typeface="Aptos"/>
              </a:rPr>
              <a:t>Prepared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3392" y="43891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B55C63"/>
                </a:solidFill>
                <a:latin typeface="Aptos"/>
              </a:rPr>
              <a:t>Mahesh Zade</a:t>
            </a:r>
          </a:p>
        </p:txBody>
      </p:sp>
      <p:pic>
        <p:nvPicPr>
          <p:cNvPr id="7" name="Picture 6" descr="evidence_1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984647"/>
            <a:ext cx="2423160" cy="111465"/>
          </a:xfrm>
          <a:prstGeom prst="rect">
            <a:avLst/>
          </a:prstGeom>
        </p:spPr>
      </p:pic>
      <p:pic>
        <p:nvPicPr>
          <p:cNvPr id="8" name="Picture 7" descr="evidence_15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953146"/>
            <a:ext cx="2423160" cy="174467"/>
          </a:xfrm>
          <a:prstGeom prst="rect">
            <a:avLst/>
          </a:prstGeom>
        </p:spPr>
      </p:pic>
      <p:pic>
        <p:nvPicPr>
          <p:cNvPr id="9" name="Picture 8" descr="evidence_15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540" y="4843881"/>
            <a:ext cx="2514600" cy="12941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58200" y="6016752"/>
            <a:ext cx="2971800" cy="274320"/>
          </a:xfrm>
          <a:prstGeom prst="roundRect">
            <a:avLst/>
          </a:prstGeom>
          <a:solidFill>
            <a:srgbClr val="E7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A9170"/>
                </a:solidFill>
                <a:latin typeface="Aptos"/>
              </a:rPr>
              <a:t>Evidence 157–159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A9170"/>
                </a:solidFill>
                <a:latin typeface="Aptos"/>
              </a:rPr>
              <a:t>All available evidence screenshots are embedded in this final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AgenticAI AgentOps Enterprise — Final 100-Slide Project Presentation</dc:title>
  <dc:subject>Agentic AI AgentOps Enterprise project evidence and architecture</dc:subject>
  <dc:creator>Mahesh Zade</dc:creator>
  <cp:keywords>Agentic AI, AgentOps, HITL, Guardrails, Memory, Evaluation, Observability, Mahesh Zade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