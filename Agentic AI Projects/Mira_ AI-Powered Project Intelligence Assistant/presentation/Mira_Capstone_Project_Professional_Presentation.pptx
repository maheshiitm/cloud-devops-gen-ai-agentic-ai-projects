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MIRA</a:t>
            </a:r>
          </a:p>
          <a:p>
            <a:pPr>
              <a:defRPr sz="2800">
                <a:solidFill>
                  <a:srgbClr val="C3DCF0"/>
                </a:solidFill>
              </a:defRPr>
            </a:pPr>
            <a:r>
              <a:t>AI-Powered Project Intelligence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Technical Program Management Capstone Project</a:t>
            </a:r>
          </a:p>
          <a:p>
            <a:pPr>
              <a:defRPr sz="1600">
                <a:solidFill>
                  <a:srgbClr val="CDD7E6"/>
                </a:solidFill>
              </a:defRPr>
            </a:pPr>
            <a:r>
              <a:t>Automating project planning, risk assessment and weekly status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D7"/>
                </a:solidFill>
              </a:defRPr>
            </a:pPr>
            <a:r>
              <a:t>Prepared &amp; Completed by</a:t>
            </a:r>
          </a:p>
          <a:p>
            <a:pPr>
              <a:defRPr sz="2700" b="1">
                <a:solidFill>
                  <a:srgbClr val="FFFFFF"/>
                </a:solidFill>
              </a:defRPr>
            </a:pPr>
            <a:r>
              <a:t>Mahesh Zade</a:t>
            </a:r>
          </a:p>
          <a:p>
            <a:pPr>
              <a:defRPr sz="1300">
                <a:solidFill>
                  <a:srgbClr val="B4C3D7"/>
                </a:solidFill>
              </a:defRPr>
            </a:pPr>
            <a:r>
              <a:t>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CEBF5"/>
                </a:solidFill>
              </a:defRPr>
            </a:pPr>
            <a:r>
              <a:t>Special Thanks to Mr. Gautam Muthukumar &amp; the Interview Kickstart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Mira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96596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PMs/TPMs spend significant manual effort creating project plans, assessing risks and compiling status reports across multiple data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96596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Mira is a multi-agent AI assistant that transforms grounded project data into structured project intelligence.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73152" cy="196596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A containerized LangFlow MVP with Langfuse observability, evaluation guardrails and a GitHub-ready submission package.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2900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73152" cy="182880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575304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Business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050791"/>
            <a:ext cx="450799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• Reduce manual planning effort from hours to minutes</a:t>
            </a:r>
            <a:br/>
            <a:r>
              <a:t>• Improve consistency of project intelligence</a:t>
            </a:r>
            <a:br/>
            <a:r>
              <a:t>• Surface risks and blockers earlier</a:t>
            </a:r>
            <a:br/>
            <a:r>
              <a:t>• Provide traceable, data-grounded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2900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429000"/>
            <a:ext cx="73152" cy="182880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575304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Primary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050791"/>
            <a:ext cx="450799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• Project Plan Generation</a:t>
            </a:r>
            <a:br/>
            <a:r>
              <a:t>• Risk Assessment</a:t>
            </a:r>
            <a:br/>
            <a:r>
              <a:t>• Weekly Status Reporting</a:t>
            </a:r>
            <a:br/>
            <a:r>
              <a:t>• Hallucination guardrails</a:t>
            </a:r>
            <a:br/>
            <a:r>
              <a:t>• Observability and 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Problem, Scope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Mira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214884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52144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491947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Nexora PMs/TPMs manage multiple simultaneous projects. Manual preparation of plans, risk matrices and status reports is time-consuming and creates a risk of inconsistent or fabricated project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73152" cy="214884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152144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627632"/>
            <a:ext cx="491947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• Structured project plans from project descriptions/timelines</a:t>
            </a:r>
            <a:br/>
            <a:r>
              <a:t>• Categorized project risks with mitigation strategies</a:t>
            </a:r>
            <a:br/>
            <a:r>
              <a:t>• Weekly task status and blocker reporting</a:t>
            </a:r>
            <a:br/>
            <a:r>
              <a:t>• Grounded outputs based only on provided project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73152" cy="196596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Planner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096511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Input: project description / timeline</a:t>
            </a:r>
            <a:br/>
            <a:r>
              <a:t>Output: phases, activities and milestones</a:t>
            </a:r>
            <a:br/>
            <a:r>
              <a:t>Guardrail: refuse vague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474720"/>
            <a:ext cx="73152" cy="196596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Risk Assessor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096511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Input: project risk data</a:t>
            </a:r>
            <a:br/>
            <a:r>
              <a:t>Output: categorized risk matrix</a:t>
            </a:r>
            <a:br/>
            <a:r>
              <a:t>Guardrail: no generic/invented risks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474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474720"/>
            <a:ext cx="73152" cy="196596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Status Reporter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096511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Input: task-board CSV</a:t>
            </a:r>
            <a:br/>
            <a:r>
              <a:t>Output: accurate status report</a:t>
            </a:r>
            <a:br/>
            <a:r>
              <a:t>Guardrail: count strictly from source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Solution Architecture &amp;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Final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356616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8074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Ground-Truth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158191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Project Description</a:t>
            </a:r>
            <a:br/>
            <a:r>
              <a:t>Timeline CSV</a:t>
            </a:r>
            <a:br/>
            <a:r>
              <a:t>Risk CSV</a:t>
            </a:r>
            <a:br/>
            <a:r>
              <a:t>Task Board CSV</a:t>
            </a:r>
            <a:br/>
            <a:r>
              <a:t>ABCDE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33172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331720"/>
            <a:ext cx="73152" cy="123444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2478024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User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953512"/>
            <a:ext cx="1033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Natural-language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0515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73152" cy="114300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197863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Project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673352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Plan / milestones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4231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423160"/>
            <a:ext cx="73152" cy="114300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56946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Risk Assessor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044952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Risks / mitigation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947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794760"/>
            <a:ext cx="73152" cy="114300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94106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Status Reporter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416552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Counts / blockers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2860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2286000"/>
            <a:ext cx="73152" cy="141732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8" y="24323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Prompt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2907792"/>
            <a:ext cx="16733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Aggregate specialist outputs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28600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2286000"/>
            <a:ext cx="73152" cy="141732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243230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Chat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907792"/>
            <a:ext cx="16276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Unified project intelligence report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68880" y="2971800"/>
            <a:ext cx="32004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06240" y="1627632"/>
            <a:ext cx="365760" cy="1298448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29400" y="1627632"/>
            <a:ext cx="548640" cy="1344168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2926080"/>
            <a:ext cx="365760" cy="73152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29400" y="2971800"/>
            <a:ext cx="548640" cy="27432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06240" y="2926080"/>
            <a:ext cx="365760" cy="1444752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29400" y="2971800"/>
            <a:ext cx="548640" cy="1399032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35440" y="2971800"/>
            <a:ext cx="41148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26280" y="5486400"/>
            <a:ext cx="4937760" cy="594360"/>
          </a:xfrm>
          <a:prstGeom prst="roundRect">
            <a:avLst/>
          </a:prstGeom>
          <a:solidFill>
            <a:srgbClr val="E8F2F2"/>
          </a:solidFill>
          <a:ln>
            <a:solidFill>
              <a:srgbClr val="24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A46"/>
                </a:solidFill>
              </a:defRPr>
            </a:pPr>
            <a:r>
              <a:t>Langfuse Observability  •  traces  •  latency  •  tokens  •  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Implementation, Guardrails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96596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LangFlow • OpenAI gpt-4o-mini • Docker • Langfuse</a:t>
            </a:r>
            <a:br/>
            <a:br/>
            <a:r>
              <a:t>File-based ingestion supports text, CSV and project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96596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Orchestration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Parallel specialist agents with Prompt Template aggregation. This enables simultaneous project-plan, risk and status analysis before producing one cohesive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73152" cy="196596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1978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Hallucination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73352"/>
            <a:ext cx="30449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Strict Vague Input Rules:</a:t>
            </a:r>
            <a:br/>
            <a:r>
              <a:t>• Use only supplied data</a:t>
            </a:r>
            <a:br/>
            <a:r>
              <a:t>• Do not invent milestones/risks/status</a:t>
            </a:r>
            <a:br/>
            <a:r>
              <a:t>• Return INSUFFICIENT DATA when required context is missing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74720"/>
            <a:ext cx="4892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474720"/>
            <a:ext cx="73152" cy="196596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621024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096511"/>
            <a:ext cx="450799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Langfuse provides visibility into:</a:t>
            </a:r>
            <a:br/>
            <a:r>
              <a:t>• Agent execution paths</a:t>
            </a:r>
            <a:br/>
            <a:r>
              <a:t>• Model calls and prompts</a:t>
            </a:r>
            <a:br/>
            <a:r>
              <a:t>• Latency</a:t>
            </a:r>
            <a:br/>
            <a:r>
              <a:t>• Token consumption</a:t>
            </a:r>
            <a:br/>
            <a:r>
              <a:t>• Execution cost</a:t>
            </a:r>
            <a:br/>
            <a:br/>
            <a:r>
              <a:t>Trace analysis was used to identify and correct edge-case failures.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74720"/>
            <a:ext cx="4892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474720"/>
            <a:ext cx="73152" cy="196596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621024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Deployment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096511"/>
            <a:ext cx="450799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The application was containerized with Docker and workflow configurations can be version-controlled through Git. Rollout includes human review of AI-generated artifacts before client delivery.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Baseline Evaluation: T1–T12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Testing &amp;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E82"/>
                </a:solidFill>
              </a:defRPr>
            </a:pPr>
            <a:r>
              <a:t>Baseline Suite</a:t>
            </a:r>
          </a:p>
          <a:p>
            <a:pPr algn="ctr">
              <a:defRPr sz="2000" b="1">
                <a:solidFill>
                  <a:srgbClr val="3068B4"/>
                </a:solidFill>
              </a:defRPr>
            </a:pPr>
            <a:r>
              <a:t>T1–T12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9601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E82"/>
                </a:solidFill>
              </a:defRPr>
            </a:pPr>
            <a:r>
              <a:t>Initial Edge Cases</a:t>
            </a:r>
          </a:p>
          <a:p>
            <a:pPr algn="ctr">
              <a:defRPr sz="2000" b="1">
                <a:solidFill>
                  <a:srgbClr val="B44141"/>
                </a:solidFill>
              </a:defRPr>
            </a:pPr>
            <a:r>
              <a:t>T2 • T4 • T6 • T9 • T10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9601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E82"/>
                </a:solidFill>
              </a:defRPr>
            </a:pPr>
            <a:r>
              <a:t>Post-Fix Focus</a:t>
            </a:r>
          </a:p>
          <a:p>
            <a:pPr algn="ctr">
              <a:defRPr sz="2000" b="1">
                <a:solidFill>
                  <a:srgbClr val="2B7D50"/>
                </a:solidFill>
              </a:defRPr>
            </a:pPr>
            <a:r>
              <a:t>Grounded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52120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73152" cy="30632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78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What the Initial Tests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53512"/>
            <a:ext cx="482803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Detailed data tests validated plan, risk and status extraction. Edge-case tests exposed hallucinations when inputs were vague or missing.</a:t>
            </a:r>
            <a:br/>
            <a:br/>
            <a:r>
              <a:t>Examples:</a:t>
            </a:r>
            <a:br/>
            <a:r>
              <a:t>• T2/T9: vague project-plan requests</a:t>
            </a:r>
            <a:br/>
            <a:r>
              <a:t>• T4: vague risk request</a:t>
            </a:r>
            <a:br/>
            <a:r>
              <a:t>• T6: no task data</a:t>
            </a:r>
            <a:br/>
            <a:r>
              <a:t>• T10: inaccurate status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31720"/>
            <a:ext cx="53035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331720"/>
            <a:ext cx="73152" cy="306324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478024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Corrective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53512"/>
            <a:ext cx="491947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Trace findings led to stricter System Messages and Vague Input Rules for each specialist agent.</a:t>
            </a:r>
            <a:br/>
            <a:br/>
            <a:r>
              <a:t>Expected behavior after the fix:</a:t>
            </a:r>
            <a:br/>
            <a:r>
              <a:t>• Reject insufficient context</a:t>
            </a:r>
            <a:br/>
            <a:r>
              <a:t>• Use exact source data for counts</a:t>
            </a:r>
            <a:br/>
            <a:r>
              <a:t>• Avoid invented milestones, risks or progress</a:t>
            </a:r>
            <a:br/>
            <a:r>
              <a:t>• Produce grounded project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F6E82"/>
                </a:solidFill>
              </a:defRPr>
            </a:pPr>
            <a:r>
              <a:t>Evaluation evidence and final T1–T12 result documentation are included in the GitHub submission package.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Cost Analysis &amp; Production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</a:defRPr>
            </a:pPr>
            <a:r>
              <a:t>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182880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5214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Estimated Run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32735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~2,000 input + ~1,500 output tokens</a:t>
            </a:r>
            <a:br/>
            <a:r>
              <a:t>~3,500 tokens / pipeline run</a:t>
            </a:r>
            <a:br/>
            <a:br/>
            <a:r>
              <a:t>Estimated cost: ~$0.0005 per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00584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005840"/>
            <a:ext cx="73152" cy="182880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15214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Usage Assumption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627632"/>
            <a:ext cx="28620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10 runs per TPM per day</a:t>
            </a:r>
            <a:br/>
            <a:br/>
            <a:r>
              <a:t>Estimated LLM cost:</a:t>
            </a:r>
            <a:br/>
            <a:r>
              <a:t>~$0.005 per user/day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00584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005840"/>
            <a:ext cx="73152" cy="1828800"/>
          </a:xfrm>
          <a:prstGeom prst="rect">
            <a:avLst/>
          </a:prstGeom>
          <a:solidFill>
            <a:srgbClr val="2B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15214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Monthly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627632"/>
            <a:ext cx="32278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~$0.15 per user/month</a:t>
            </a:r>
            <a:br/>
            <a:br/>
            <a:r>
              <a:t>API/database and Langfuse assumed within available/free-tier capacity in the project estimate.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246120"/>
            <a:ext cx="73152" cy="205740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3924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67911"/>
            <a:ext cx="30449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Percentage of task counts and statuses that exactly match the raw task-board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461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46120"/>
            <a:ext cx="73152" cy="205740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3924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Trustworthiness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1"/>
            <a:ext cx="30449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Hallucination rate based on risks/milestones that cannot be traced back to source project files.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2461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246120"/>
            <a:ext cx="73152" cy="205740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3924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Usefulness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867911"/>
            <a:ext cx="30449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Hours saved per project compared with the 3–4 hour manual planning baseline.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2"/>
                </a:solidFill>
              </a:defRPr>
            </a:pPr>
            <a:r>
              <a:t>Mira – AI-Powered Project Intelligence Assistant | Mahesh Zade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7. Completion, Rollout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73152" cy="2286000"/>
          </a:xfrm>
          <a:prstGeom prst="rect">
            <a:avLst/>
          </a:prstGeom>
          <a:solidFill>
            <a:srgbClr val="2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299923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✓ Multi-agent Mira workflow</a:t>
            </a:r>
            <a:br/>
            <a:r>
              <a:t>✓ LangFlow implementation</a:t>
            </a:r>
            <a:br/>
            <a:r>
              <a:t>✓ Langfuse observability</a:t>
            </a:r>
            <a:br/>
            <a:r>
              <a:t>✓ Guardrail / prompt iteration</a:t>
            </a:r>
            <a:br/>
            <a:r>
              <a:t>✓ Q1–Q4 written deliverables</a:t>
            </a:r>
            <a:br/>
            <a:r>
              <a:t>✓ Architecture &amp; cost analysis</a:t>
            </a:r>
            <a:br/>
            <a:r>
              <a:t>✓ GitHub packaging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73152" cy="2286000"/>
          </a:xfrm>
          <a:prstGeom prst="rect">
            <a:avLst/>
          </a:prstGeom>
          <a:solidFill>
            <a:srgbClr val="3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46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21992"/>
            <a:ext cx="299923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• Docker-based deployment</a:t>
            </a:r>
            <a:br/>
            <a:r>
              <a:t>• Git version control</a:t>
            </a:r>
            <a:br/>
            <a:r>
              <a:t>• 1-hour onboarding workshop</a:t>
            </a:r>
            <a:br/>
            <a:r>
              <a:t>• Initial target: 10 PMs/TPMs</a:t>
            </a:r>
            <a:br/>
            <a:r>
              <a:t>• Human review before client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73152" cy="228600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746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A46"/>
                </a:solidFill>
              </a:defRPr>
            </a:pPr>
            <a: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21992"/>
            <a:ext cx="299923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C"/>
                </a:solidFill>
              </a:defRPr>
            </a:pPr>
            <a:r>
              <a:t>• Dedicated orchestration/state layer</a:t>
            </a:r>
            <a:br/>
            <a:r>
              <a:t>• External message broker for scale</a:t>
            </a:r>
            <a:br/>
            <a:r>
              <a:t>• Evaluation-driven JSONL dataset</a:t>
            </a:r>
            <a:br/>
            <a:r>
              <a:t>• Fine-tuning for recurring vague-input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B9D2E6"/>
                </a:solidFill>
              </a:defRPr>
            </a:pPr>
            <a:r>
              <a:t>Special Thanks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Mr. Gautam Muthukumar</a:t>
            </a:r>
          </a:p>
          <a:p>
            <a:pPr algn="ctr">
              <a:defRPr sz="2100">
                <a:solidFill>
                  <a:srgbClr val="CDDCEB"/>
                </a:solidFill>
              </a:defRPr>
            </a:pPr>
            <a:r>
              <a:t>and the Interview Kickstart Team</a:t>
            </a:r>
          </a:p>
          <a:p>
            <a:pPr algn="ctr">
              <a:defRPr sz="1400">
                <a:solidFill>
                  <a:srgbClr val="B9C8DC"/>
                </a:solidFill>
              </a:defRPr>
            </a:pPr>
            <a:r>
              <a:t>for their guidance and support in successfully completing the Mira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8932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ECDE1"/>
                </a:solidFill>
              </a:defRPr>
            </a:pPr>
            <a:r>
              <a:t>Thank You  |  Mahesh Zade  |  Technical Program Management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