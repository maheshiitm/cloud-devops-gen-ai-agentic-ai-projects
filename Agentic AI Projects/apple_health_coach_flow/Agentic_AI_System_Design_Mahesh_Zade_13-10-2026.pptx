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Agentic AI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42B4D"/>
                </a:solidFill>
                <a:latin typeface="Aptos"/>
              </a:defRPr>
            </a:pPr>
            <a:r>
              <a:t>End-to-end architecture walkthroughs</a:t>
            </a:r>
          </a:p>
          <a:p>
            <a:pPr>
              <a:spcAft>
                <a:spcPts val="700"/>
              </a:spcAft>
              <a:defRPr sz="2200" b="0">
                <a:solidFill>
                  <a:srgbClr val="142B4D"/>
                </a:solidFill>
                <a:latin typeface="Aptos"/>
              </a:defRPr>
            </a:pPr>
            <a:r>
              <a:t>Airbnb AI Trip Concierge &amp; Apple Health AI Coach</a:t>
            </a:r>
          </a:p>
          <a:p>
            <a:pPr>
              <a:spcAft>
                <a:spcPts val="700"/>
              </a:spcAft>
              <a:defRPr sz="2200" b="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2200" b="0">
                <a:solidFill>
                  <a:srgbClr val="142B4D"/>
                </a:solidFill>
                <a:latin typeface="Aptos"/>
              </a:defRPr>
            </a:pPr>
            <a:r>
              <a:t>Prepared by Mahesh Zade</a:t>
            </a:r>
          </a:p>
          <a:p>
            <a:pPr>
              <a:spcAft>
                <a:spcPts val="700"/>
              </a:spcAft>
              <a:defRPr sz="2200" b="0">
                <a:solidFill>
                  <a:srgbClr val="142B4D"/>
                </a:solidFill>
                <a:latin typeface="Aptos"/>
              </a:defRPr>
            </a:pPr>
            <a:r>
              <a:t>Completed: 13 October 2026</a:t>
            </a:r>
          </a:p>
          <a:p>
            <a:pPr>
              <a:spcAft>
                <a:spcPts val="700"/>
              </a:spcAft>
              <a:defRPr sz="2200" b="0">
                <a:solidFill>
                  <a:srgbClr val="142B4D"/>
                </a:solidFill>
                <a:latin typeface="Aptos"/>
              </a:defRPr>
            </a:pPr>
            <a:r>
              <a:t>Guidance: Amit Harjani, 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Two agentic systems, two different risk profiles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Airbnb optimizes trusted commerce: discovery, live quotes, bookings, changes, policy answers and host messaging.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Apple Health optimizes safe coaching: interpret derived health metrics, explain trends and route users toward appropriate care.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Both use Clarify → Frame → Design → Trade-offs → Measure.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Architecture is derived from blast radius, data sensitivity and reversibility—not from a tool catalogue.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Translate user journeys into explicit system requirements.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Design Knowledge, Tools &amp; Permissions, Architecture and Observability.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Separate model judgment from deterministic policy and safety controls.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Define measurable rollout gates, failure responses and rollback conditions.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Demonstrate working Langflow-style flows using the supplied project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Design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1. Clarify: Stakes, Inputs, Actions, Operations.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2. Frame: users, outcome, worst case and non-negotiables.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3. Design: four layers—Knowledge; Tools &amp; Permissions; Architecture; Observability.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4. Trade-offs: state what is intentionally sacrificed and why.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5. Measure: instrument decision quality and connect signals to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Two cases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Airbnb Concierge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• 2M+ travelers; 220+ markets (assignment scenario).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• Money, bookings, cancellations, private trip data and untrusted host text.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Apple Health Coach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• Personal health metrics and coaching.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• Privacy boundary, deterministic anomaly logic, safety-gated language and consented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Case 1 — Airbnb: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Design an AI Trip Concierge that helps travelers discover and manage stays end-to-end: destination research, listing discovery, live price/availability, booking, cancellations, refund-policy answers, date changes and host messages.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Core design principle: cheap mistakes may tolerate uncertainty; money movement, cancellation and PII disclosure may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clarify before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Stakes: Can the agent commit money? Which errors cannot be undone?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Inputs: Is host-authored text in scope? It is untrusted.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Actions: Own trips only, or browse and book new inventory?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Operations: Which markets and legal rules apply from day one?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Each question must flip a downstream design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scope and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Primary user: traveler managing a trip.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Outcome: fast, correct, safe trip discovery and management.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cases: recommend, quote, policy answer, book, cancel/change, message host.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Worst cases: wrong charge/cancellation; leaked traveler or host PII; injected host content causing unsafe action.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Assumptions are proposals and should be calibrated with real operational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success and non-negotiables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Confirm and read back every spend or irreversible commitment.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Cite policy answers or abstain when evidence is insufficient.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Enforce identity, entitlement and region rules before retrieval/action.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Treat listing descriptions, reviews and host messages as untrusted data.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Re-check identity and authorization server-side at execution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knowledge decision — RAG vs live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RAG for stable, citable reference knowledge: cancellation policies, house rules and destination guides.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live APIs for perishable or personal state: price, availability, trip history and reservation state.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Rule: a price is a promise about now; never rely on a stale index for it.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Policy documents should be versioned and retrievable at clause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answer contracts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Recommendation: explain why it fits and cite grounding; no commitment implied.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Price quote: listing ID, dates, total price, fees and cancellation tier from live source.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Policy answer: applicable clause, effective date and source link—or abstain.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Booking/change: summarize exact action, dates, amount and cancellation implications before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ingestion and freshness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Cancellation/refund policy: authoritative source, versioned; re-ingest on policy update.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Host house rules: listing-specific; refresh on host edit.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Destination guides: batch refresh; days of staleness may be acceptable.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Price and availability: live read-through, not indexed as truth.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• Traveler trip state: live per session, scoped to authenticated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retrieval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Query → identity/region entitlement filter → lexical BM25 + dense retrieval → merge → rerank → augment with citations → answer or abstain.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Pre-filtering ensures unauthorized documents never enter model context. Keep indexes and metadata aligned with policy version, region, source authority and freshness.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knowledge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Threats: indirect prompt injection in listings, reviews and host messages; poisoned content entering an index; cross-user retrieval leakage.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Controls: treat retrieved text as data, isolate instructions from content, source allowlists, provenance and review, pre-retrieval entitlements, output checks, and adversarial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tool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READ: search listings, quote availability, read own reservation, retrieve policy.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WRITE: draft host message, save itinerary/preferences, create a reversible hold.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TRIGGER: book/pay, cancel, send host message, commit refund or reservation change.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Blast radius—not implementation convenience—determines permission 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permission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Auto-execute: low-risk reads and recommendations.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Confirmation + read-back: booking, payment, cancellation, date change and sending messages.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Human-approved: exceptional high-value, ambiguous, disputed or policy-sensitive cases.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step-up authentication where needed; server-side authorization is mandatory.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constrained tools and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Model schema constrains fields, allowed actions and formats; server validates every argument independently.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scoped user tokens and explicit reservation/listing IDs.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Never trust model-supplied identity or price.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Idempotency keys prevent duplicate bookings; server rechecks current quote, permissions, inventory and policy before commit.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Rule-of-Two / prompt injection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The agent can access private data, process untrusted text and act/spend—three risky capabilities together.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Break the dangerous chain: untrusted content cannot directly authorize external action.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Separate trusted instructions from host content; require trusted-UI confirmation for triggers; use least-privilege tools and allowlisted destinations.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828800" cy="73152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Traveler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43000"/>
            <a:ext cx="1828800" cy="73152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Auth +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143000"/>
            <a:ext cx="2011680" cy="73152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Concierge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743200"/>
            <a:ext cx="20116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Policy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743200"/>
            <a:ext cx="20116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Live Travel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743200"/>
            <a:ext cx="20116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Plan + 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389120"/>
            <a:ext cx="20116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Trusted Confirm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389120"/>
            <a:ext cx="20116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Server Re-check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389120"/>
            <a:ext cx="20116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Booking / Messaging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4389120"/>
            <a:ext cx="164592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Audit + 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1508760"/>
            <a:ext cx="45720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508760"/>
            <a:ext cx="54864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926080" y="1874519"/>
            <a:ext cx="3017520" cy="868681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60720" y="1874519"/>
            <a:ext cx="365760" cy="868681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1508760"/>
            <a:ext cx="1371600" cy="123444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31920" y="3108960"/>
            <a:ext cx="365760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6560" y="3108960"/>
            <a:ext cx="8229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3520440"/>
            <a:ext cx="0" cy="86868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766560" y="4754880"/>
            <a:ext cx="8229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31920" y="4754880"/>
            <a:ext cx="8229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4754880"/>
            <a:ext cx="3657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User / Traveler App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Authentication + input guardrails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Single Concierge Agent (bounded loop)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↙ Knowledge: Policy RAG + destination content   ↘ Live tools: search, quote, trip state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Plan + validate proposed action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Trusted confirmation UI for irreversible actions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Server-side policy / identity / price checks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Booking and messaging APIs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Audit log + outcome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end-to-end trip-change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Example: “Shift my Lisbon stay to next weekend and tell the host I’ll arrive late.”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1. Authenticate traveler and fetch their reservation.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2. Resolve “next weekend” and verify dates with the user if ambiguous.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3. Query live availability and price delta.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4. Retrieve cancellation/change policy and explain constraints.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5. Stage proposed modification and draft message.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6. Read back dates, price and message; obtain confirmation.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7. Server revalidates quote and authorization, commits once, then sends message.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8. Return confirmation IDs and audit event.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single agent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Start with one Concierge Agent and explicit tools.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Benefits: simpler context flow, fewer handoffs, easier tracing and lower orchestration overhead.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Add a specialized agent only after evidence of context overload, competing objectives or a genuinely distinct expertise boundary.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 multi-agent design is not automatically safer.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memory and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Short-term: current conversation and pending transaction state; expires with session or workflow.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Long-term: explicit traveler preferences only where consent and product policy allow.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Shared knowledge: versioned policies and destination guides, never personal trip state.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Per-user access control, retention limits and deletion pathways apply to all stored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stopping and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Stop when required facts are missing, quote expires, policy retrieval misses, authorization fails, tools disagree, or the user declines confirmation.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Show a clear status: completed, awaiting confirmation, blocked, or handed to support.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Never silently retry a financial trigger or leave the traveler uncertain whether a booking happened.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Measure decisions, not just uptime.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Safety: unauthorized charge, wrong cancellation, PII leakage, injection success.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Quality: quote accuracy, policy citation correctness, booking completion, task success and user corrections.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Operations: tool latency, timeout rate, stale quote rate, retry/idempotency conflicts and handoff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rollout and rollback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Proposed stages: offline eval → internal dogfood → read-only pilot → staged confirmed actions → broader market rollout.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market/feature flags and canary cohorts.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Any confirmed unauthorized charge or critical PII incident triggers immediate containment and review.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Numeric thresholds (including the assignment’s illustrative 0.1% line) are proposals to calibrate—not universal 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Airbnb: trade-offs and what changes the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Traded away: fully autonomous booking for lower friction; more latency for live quotes and confirmations; some answer coverage for citation reliability.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Change the design if: action error rates remain low under evidence, policy law changes, traffic exceeds single-agent context/latency envelope, or evaluations show a repeatable specialist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Case 2 — Apple Health AI Coach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 privacy-preserving coach summarizes personal metrics, explains trends and helps users take appropriate next steps.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The LLM is not the detector of record and must not diagnose or prescribe.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Deterministic analysis identifies candidate anomalies; the coach explains them within strict safety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clarify and 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Clarify: intended age groups and use context; which metrics and devices; what constitutes urgent escalation; what data may leave device; which external actions are permitted.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Frame: useful coaching with privacy by default and no false reassurance.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Worst case: missed serious signal, unsafe reassurance, sensitive data exposure or unauthorized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ON DEVICE: HealthKit/raw metrics → deterministic baseline and anomaly engines → derived context → coach SLM → safety gate → native consent UI.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OPTIONAL CLOUD: minimal derived/anonymized context → clinical guideline RAG → bounded response → on-device safety gate.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Consent UI → partner scheduling/test APIs only after explicit approval.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Raw health data stays on device by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knowledge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authoritative, versioned clinical/public-health guidance for general explanations; retain source and effective date.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on-device personal history for an individual’s baseline and trends.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Do not treat population guidance as a diagnosis of an individual.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If guideline evidence is unavailable or conflicting, abstain and direct the user to a qualified professional.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deterministic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0312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ON DEVICE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HealthKit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280160"/>
            <a:ext cx="219456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Deterministic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baseline / anomaly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280160"/>
            <a:ext cx="192024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Coach SLM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80160"/>
            <a:ext cx="22860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Safety gate +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consent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383280"/>
            <a:ext cx="22860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Derived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383280"/>
            <a:ext cx="22860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OPTIONAL CLOUD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Guideline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383280"/>
            <a:ext cx="201168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Partner API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consented only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1691640"/>
            <a:ext cx="45720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1691640"/>
            <a:ext cx="54864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1691640"/>
            <a:ext cx="64008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754880" y="2103120"/>
            <a:ext cx="2011680" cy="128016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3794760"/>
            <a:ext cx="54864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78240" y="3794760"/>
            <a:ext cx="45720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Baseline and anomaly detection should be deterministic and validated for the chosen metric/device.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LLM role: translate a result into clear, calibrated language and explain uncertainty.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Critical event routing must not depend solely on generative interpretation.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Account for sensor noise, missing measurements, device differences and baseline drift.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safety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Never diagnose or prescribe.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Do not offer false reassurance when symptoms or signals may be urgent.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escalation language and appropriate emergency guidance when indicated.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Avoid inventing thresholds; thresholds require clinical validation and appropriate oversight.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The safety gate can block, rewrite or route an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permissions and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READ: summarize authorized metrics and trends.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WRITE: save user-approved goals or reminders.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TRIGGER: schedule an appointment or contact a partner.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External actions require clear consent through native UI; use minimum necessary data and explicit purpose limitation.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privacy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Raw HealthKit data remains on device by default.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Only minimum necessary derived context may be sent to a cloud service, if enabled and consented.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Separate identifiers from analytics; encrypt in transit and at rest; scope access; set retention and deletion rules.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Do not describe derived data as automatically anonymous without validating re-identification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architecture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Prefer on-device processing for privacy and low-latency coaching.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 cloud reasoning only when it materially improves the response and consent allows it.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Fallback gracefully when offline: local summaries and safe, bounded guidance.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Do not let cloud unavailability suppress deterministic critical alert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user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1. User asks: “Why was my resting heart rate higher this week?”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2. Read authorized data locally and check data completeness.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3. Deterministic engine compares against personal baseline and quality rules.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4. Coach explains observed trend, uncertainty and non-diagnostic possibilities.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5. Safety gate checks claims and escalation wording.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6. If action is proposed, native consent UI requests approval.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7. Return explanation and clear next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Safety: false negatives, false reassurance, unsafe recommendations, privacy boundary violations.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Quality: explanation helpfulness, groundedness, calibration and user comprehension.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Operations: on-device latency, cloud timeout, battery impact and data availability.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Monitor performance by device/metric cohort and investigate distribution shifts.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incident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 suspected critical miss triggers immediate clinical-safety review and feature containment.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Preserve minimal, privacy-respecting diagnostic evidence.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Review sensor quality, deterministic thresholds, routing and safety-gate behavior.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Do not assume a single universal numerical threshold; define thresholds with clinical governance and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Apple Health: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64592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User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920240"/>
            <a:ext cx="18288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Auth + Input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920240"/>
            <a:ext cx="192024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Agent / 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097280"/>
            <a:ext cx="192024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Knowledge +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743200"/>
            <a:ext cx="192024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Constrained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920240"/>
            <a:ext cx="201168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Safety / Confirm</a:t>
            </a:r>
          </a:p>
          <a:p>
            <a:pPr algn="ctr">
              <a:defRPr sz="1300" b="0">
                <a:solidFill>
                  <a:srgbClr val="142B4D"/>
                </a:solidFill>
                <a:latin typeface="Aptos"/>
              </a:defRPr>
            </a:pPr>
            <a:r>
              <a:t>+ Validators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4389120"/>
            <a:ext cx="2011680" cy="731520"/>
          </a:xfrm>
          <a:prstGeom prst="roundRect">
            <a:avLst/>
          </a:prstGeom>
          <a:solidFill>
            <a:srgbClr val="EFF4FA"/>
          </a:solidFill>
          <a:ln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300" b="1">
                <a:solidFill>
                  <a:srgbClr val="142B4D"/>
                </a:solidFill>
                <a:latin typeface="Aptos"/>
              </a:defRPr>
            </a:pPr>
            <a:r>
              <a:t>Audit + Telemetry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331720"/>
            <a:ext cx="3657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97680" y="2331720"/>
            <a:ext cx="45720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675120" y="1508760"/>
            <a:ext cx="548640" cy="68580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468880"/>
            <a:ext cx="548640" cy="68580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1508760"/>
            <a:ext cx="457200" cy="59436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144000" y="2560320"/>
            <a:ext cx="457200" cy="59436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07040" y="2743200"/>
            <a:ext cx="0" cy="164592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Privacy vs cloud capability: default local processing, optional derived context.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Sensitivity vs false alarms: calibrate thresholds with validated data and human clinical oversight.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Convenience vs consent: explicit approval for external actions.</a:t>
            </a:r>
          </a:p>
          <a:p>
            <a:pPr>
              <a:spcAft>
                <a:spcPts val="700"/>
              </a:spcAft>
              <a:defRPr sz="1100" b="0">
                <a:solidFill>
                  <a:srgbClr val="505B69"/>
                </a:solidFill>
                <a:latin typeface="Aptos"/>
              </a:defRPr>
            </a:pPr>
            <a:r>
              <a:t>Coverage vs safety: abstain when evidence is weak rather than manufacture certainty.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Cross-case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Airbnb: trust boundary centers on money, reservation state and untrusted third-party text.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Apple Health: trust boundary centers on health privacy, deterministic signal handling and non-diagnostic coaching.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Airbnb friction belongs at commit time; Apple Health safety checks belong at detection, response and action time.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Both require least privilege, provenance, explicit stop conditions and decision-level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Shared agentic reference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User interface → authentication and input validation → orchestrator/agent → policy and knowledge services → constrained tools → deterministic validators → confirmation/safety gate → external systems → audit/telemetry.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Cross-cutting controls: secrets management, versioned prompts, least privilege, rate limits, retries with idempotency, evaluation and rollback.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Langflow implementation: Airbnb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Supplied flow JSON contains Chat Input, Prompt Template, OpenAI model, Policy RAG Tool, Travel API Tool, Concierge Agent and Chat Output.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The prompt routes policy queries to policy RAG, trip/listing queries to the travel API and requires confirmation for high-stakes actions.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Current sample custom components return illustrative static values; replace with authenticated production APIs and real retrieval before claiming live booking capability.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Langflow implementation: Apple Health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Supplied screenshot/flow shows Chat Input feeding a Tool Calling Agent with Health Vitals Tool and Clinical Scheduler Tool, using a selected language model and Chat Output.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The Health Vitals Tool summarizes metrics; the scheduler tool represents appointment scheduling.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Add explicit on-device privacy enforcement, deterministic anomaly engine, safety gate, native consent and audit controls around this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Prototype versus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Prototype proves orchestration shape—not production readiness.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Production additions: authentication/authorization, secure secret storage, validated tool schemas, network/API error handling, durable audit events, idempotency, consent UX, evaluation suite, monitoring and incident runbooks.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Never embed real API keys in exported flow JSON or prompts.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Evaluation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Offline test sets: routine, ambiguous, adversarial, boundary and failure cases.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Airbnb: quote freshness, correct policy citation, authorization, confirmation adherence, duplicate booking prevention and injection resistance.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Apple Health: metric faithfulness, uncertainty calibration, safe escalation, non-diagnostic language, privacy leakage and tool consent.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Track regression results for every prompt, model, index and tool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Threat model and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Threat: prompt injection → untrusted-content isolation and no direct action authority.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Threat: cross-user data leak → pre-retrieval entitlement and server authorization.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Threat: stale price → live quote + expiry + commit-time revalidation.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Threat: duplicate trigger → idempotency key and transaction state.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Threat: unsafe health advice → deterministic routing, output safety gate and clinician-reviewed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Reliability and failure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Timeout: bounded retry only for safe reads; do not blindly repeat triggers.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Tool disagreement: stop and surface the conflict.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Expired quote: refresh and ask for reconfirmation if price/action changes.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Model uncertainty: ask a clarifying question or abstain.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Cloud outage in health coach: preserve on-device safe functions and never disable critical deterministic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Security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Least privilege for every tool and service identity.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Secrets managed outside flow files and source control.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PII/health data minimization, encryption, access logging and retention controls.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Versioned prompts, retrieval sources, schemas and safety policies.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Formal change approval and rollback ownership for high-risk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Program delivery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Phase 0: requirements, risk review and data inventory.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Phase 1: read-only prototype and synthetic fixtures.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Phase 2: evaluation harness and adversarial tests.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Phase 3: limited pilot with confirmation gates.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Phase 4: staged rollout with dashboards and on-call ownership.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Phase 5: post-launch review, drift checks and policy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RACI and operating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Product: outcome, UX and rollout gates.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Engineering: APIs, architecture, reliability and release controls.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Security/privacy: threat model, access and retention review.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Clinical governance (Health): validate thresholds, escalation wording and safety cases.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Operations/support: incident response, user handoff and feedback loops.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Clear owner for every metric, alert and rollback switch.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Metrics dashboard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Airbnb: successful task completion; quote freshness; policy citation accuracy; unauthorized action count; booking/change error rate; handoff rate; p95 latency.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Apple Health: deterministic detection performance; safety-gate pass/fail; unsafe response rate; privacy incidents; explanation calibration; local/cloud latency.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Report denominators and confidence intervals; segment by market, device and task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Risk register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R1 Wrong charge/change — confirmation, server revalidation, idempotency.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R2 PII exposure — entitlement pre-filter, data minimization, output checks.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R3 Prompt injection — untrusted content isolation, tool allowlists.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R4 Stale/incorrect policy — source versioning and citation contract.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R5 Missed health signal — deterministic validated detection and escalation review.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R6 Unsafe coaching — non-diagnostic policy, safety gate and clinical oversight.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Pre-mortem: Airbnb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If launch failed, likely causes: stale price at commit, policy retrieval used wrong region/version, injected host content manipulated action, duplicate booking after retry, or unclear pending status.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Prevent with commit-time validation, region-scoped retrieval, trusted confirmation, idempotency and explicit state 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Pre-mortem: Apple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If launch failed, likely causes: noisy sensor data interpreted as meaningful, cloud model gave false reassurance, health context leaked, urgent route depended on LLM output, or users mistook coaching for diagnosis.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Prevent with deterministic checks, safe abstention/escalation, on-device boundary, consent and clear product language.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What would change my mind?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Airbnb: measured context overload, recurring cross-domain failures or a distinct re-accommodation objective may justify a specialist agent.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Apple Health: validated evidence that local processing cannot meet a specific requirement may justify limited cloud processing with consent.</a:t>
            </a:r>
          </a:p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In both: real user data, legal review, red-team results and measured error distributions should recalibrate proposed thresholds.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Interview-ready 60-second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B4D"/>
                </a:solidFill>
                <a:latin typeface="Aptos"/>
              </a:defRPr>
            </a:pPr>
            <a:r>
              <a:t>“I start from blast radius. For Airbnb, I separate stable policy knowledge from live price and reservation state, begin with one agent, and put every irreversible action behind trusted confirmation and server-side validation. For Apple Health, raw metrics stay on device by default, deterministic logic handles anomaly detection, and the LLM explains rather than diagnoses. In both systems, I instrument decision quality, define clear stop conditions, and tie safety signals to containment and rollback.”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Project completion and acknowledgements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55680" cy="5257800"/>
          </a:xfrm>
          <a:prstGeom prst="roundRect">
            <a:avLst/>
          </a:prstGeom>
          <a:solidFill>
            <a:srgbClr val="EFF4FA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61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Project completed: 13 October 2026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Prepared by: Mahesh Zade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Guidance: Amit Harjani, Microsoft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Scope: Airbnb AI Trip Concierge + Apple Health AI Coach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Deliverables: architecture, permissions, knowledge strategy, observability, trade-offs, evaluation and rollout plan.</a:t>
            </a: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42B4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Mahesh Zade  |  Agentic AI System Design  |  13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05B69"/>
                </a:solidFill>
                <a:latin typeface="Aptos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