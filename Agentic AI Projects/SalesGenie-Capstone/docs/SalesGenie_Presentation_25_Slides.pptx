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SalesGenie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AI-Powered Sales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1/25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698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7324D"/>
                </a:solidFill>
              </a:defRPr>
            </a:pPr>
            <a:r>
              <a:t>SalesGenie</a:t>
            </a:r>
          </a:p>
          <a:p>
            <a:pPr>
              <a:defRPr sz="2800">
                <a:solidFill>
                  <a:srgbClr val="007EA7"/>
                </a:solidFill>
              </a:defRPr>
            </a:pPr>
            <a:r>
              <a:t>AI-Powered Sales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A4C93"/>
                </a:solidFill>
              </a:defRPr>
            </a:pPr>
            <a:r>
              <a:t>Mahesh Zade</a:t>
            </a:r>
          </a:p>
          <a:p>
            <a:pPr>
              <a:defRPr sz="1400">
                <a:solidFill>
                  <a:srgbClr val="52677A"/>
                </a:solidFill>
              </a:defRPr>
            </a:pPr>
            <a:r>
              <a:t>Special Thanks to Gautam Muthukumar for completing the Project and the Interview Kickstart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A grounded, observable multi-agent sales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2/25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429000" cy="1828800"/>
          </a:xfrm>
          <a:prstGeom prst="roundRect">
            <a:avLst/>
          </a:prstGeom>
          <a:solidFill>
            <a:srgbClr val="E6F5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00784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7EA7"/>
                </a:solidFill>
              </a:defRPr>
            </a:pPr>
            <a:r>
              <a:t>01  AUTOMATE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212848"/>
            <a:ext cx="30998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Reduce manual inquiry reading and data entry.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429000" cy="1828800"/>
          </a:xfrm>
          <a:prstGeom prst="roundRect">
            <a:avLst/>
          </a:prstGeom>
          <a:solidFill>
            <a:srgbClr val="F1EB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00784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6A4C93"/>
                </a:solidFill>
              </a:defRPr>
            </a:pPr>
            <a:r>
              <a:t>02  PERSONALIZE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12848"/>
            <a:ext cx="30998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Recommend products using customer needs and budget.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54480"/>
            <a:ext cx="3429000" cy="1828800"/>
          </a:xfrm>
          <a:prstGeom prst="roundRect">
            <a:avLst/>
          </a:prstGeom>
          <a:solidFill>
            <a:srgbClr val="EBF9F1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700784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E8B57"/>
                </a:solidFill>
              </a:defRPr>
            </a:pPr>
            <a:r>
              <a:t>03  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212848"/>
            <a:ext cx="30998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Trace agent calls and evaluate quality.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404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7324D"/>
                </a:solidFill>
              </a:defRPr>
            </a:pPr>
            <a:r>
              <a:t>Core path: ingest → qualify → recommend → respond</a:t>
            </a:r>
          </a:p>
          <a:p>
            <a:pPr>
              <a:spcAft>
                <a:spcPts val="1200"/>
              </a:spcAft>
              <a:defRPr sz="1700">
                <a:solidFill>
                  <a:srgbClr val="17324D"/>
                </a:solidFill>
              </a:defRPr>
            </a:pPr>
            <a:r>
              <a:t>Separate weekly aggregation is required by the capstone</a:t>
            </a:r>
          </a:p>
          <a:p>
            <a:pPr>
              <a:spcAft>
                <a:spcPts val="1200"/>
              </a:spcAft>
              <a:defRPr sz="1700">
                <a:solidFill>
                  <a:srgbClr val="17324D"/>
                </a:solidFill>
              </a:defRPr>
            </a:pPr>
            <a:r>
              <a:t>Current export demonstrates the first four agent stages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Oak &amp; Ember Interiors is pursuing AI-enabled sales productivity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3/25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324D"/>
                </a:solidFill>
              </a:defRPr>
            </a:pPr>
            <a:r>
              <a:t>Oak &amp; Ember Interiors: home and office furniture retail</a:t>
            </a:r>
          </a:p>
          <a:p>
            <a:pPr>
              <a:spcAft>
                <a:spcPts val="1200"/>
              </a:spcAft>
              <a:defRPr sz="2000">
                <a:solidFill>
                  <a:srgbClr val="17324D"/>
                </a:solidFill>
              </a:defRPr>
            </a:pPr>
            <a:r>
              <a:t>Nationwide showrooms and logistics network</a:t>
            </a:r>
          </a:p>
          <a:p>
            <a:pPr>
              <a:spcAft>
                <a:spcPts val="1200"/>
              </a:spcAft>
              <a:defRPr sz="2000">
                <a:solidFill>
                  <a:srgbClr val="17324D"/>
                </a:solidFill>
              </a:defRPr>
            </a:pPr>
            <a:r>
              <a:t>AI goals: 24/7 engagement, personalized recommendations, simpler sales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572000"/>
            <a:ext cx="4846320" cy="1143000"/>
          </a:xfrm>
          <a:prstGeom prst="roundRect">
            <a:avLst/>
          </a:prstGeom>
          <a:solidFill>
            <a:srgbClr val="E6F5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718304"/>
            <a:ext cx="45171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7EA7"/>
                </a:solidFill>
              </a:defRPr>
            </a:pPr>
            <a:r>
              <a:t>BUSINESS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5230368"/>
            <a:ext cx="4517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Faster response + better sales productivity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572000"/>
            <a:ext cx="4846320" cy="1143000"/>
          </a:xfrm>
          <a:prstGeom prst="roundRect">
            <a:avLst/>
          </a:prstGeom>
          <a:solidFill>
            <a:srgbClr val="F1EB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4718304"/>
            <a:ext cx="45171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6A4C93"/>
                </a:solidFill>
              </a:defRPr>
            </a:pPr>
            <a:r>
              <a:t>AI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5230368"/>
            <a:ext cx="4517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Repeatable, observable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Manual intake, inconsistent scoring and delayed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4/25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7324D"/>
                </a:solidFill>
              </a:defRPr>
            </a:pPr>
            <a:r>
              <a:t>Sales reps spend 2–3 hours daily reading inbound inquiries</a:t>
            </a:r>
          </a:p>
          <a:p>
            <a:pPr>
              <a:spcAft>
                <a:spcPts val="1200"/>
              </a:spcAft>
              <a:defRPr sz="1700">
                <a:solidFill>
                  <a:srgbClr val="17324D"/>
                </a:solidFill>
              </a:defRPr>
            </a:pPr>
            <a:r>
              <a:t>Manual Excel entry creates mistakes, duplicates and omissions</a:t>
            </a:r>
          </a:p>
          <a:p>
            <a:pPr>
              <a:spcAft>
                <a:spcPts val="1200"/>
              </a:spcAft>
              <a:defRPr sz="1700">
                <a:solidFill>
                  <a:srgbClr val="17324D"/>
                </a:solidFill>
              </a:defRPr>
            </a:pPr>
            <a:r>
              <a:t>Product matching is time-consuming and error-prone</a:t>
            </a:r>
          </a:p>
          <a:p>
            <a:pPr>
              <a:spcAft>
                <a:spcPts val="1200"/>
              </a:spcAft>
              <a:defRPr sz="1700">
                <a:solidFill>
                  <a:srgbClr val="17324D"/>
                </a:solidFill>
              </a:defRPr>
            </a:pPr>
            <a:r>
              <a:t>No standardized lead scoring</a:t>
            </a:r>
          </a:p>
          <a:p>
            <a:pPr>
              <a:spcAft>
                <a:spcPts val="1200"/>
              </a:spcAft>
              <a:defRPr sz="1700">
                <a:solidFill>
                  <a:srgbClr val="17324D"/>
                </a:solidFill>
              </a:defRPr>
            </a:pPr>
            <a:r>
              <a:t>CRM logging is not real-time</a:t>
            </a:r>
          </a:p>
          <a:p>
            <a:pPr>
              <a:spcAft>
                <a:spcPts val="1200"/>
              </a:spcAft>
              <a:defRPr sz="1700">
                <a:solidFill>
                  <a:srgbClr val="17324D"/>
                </a:solidFill>
              </a:defRPr>
            </a:pPr>
            <a:r>
              <a:t>Weekly sales insights take about half a day every Friday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Target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Automate repetitive work without sacrificing grounding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5/25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74720" cy="1828800"/>
          </a:xfrm>
          <a:prstGeom prst="roundRect">
            <a:avLst/>
          </a:prstGeom>
          <a:solidFill>
            <a:srgbClr val="E6F5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00784"/>
            <a:ext cx="31455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7EA7"/>
                </a:solidFill>
              </a:defRPr>
            </a:pPr>
            <a:r>
              <a:t>LEAD QUALIFICATION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12848"/>
            <a:ext cx="31455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Extract fields and classify Hot / Warm / Cold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474720" cy="1828800"/>
          </a:xfrm>
          <a:prstGeom prst="roundRect">
            <a:avLst/>
          </a:prstGeom>
          <a:solidFill>
            <a:srgbClr val="F1EB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00784"/>
            <a:ext cx="31455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6A4C93"/>
                </a:solidFill>
              </a:defRPr>
            </a:pPr>
            <a:r>
              <a:t>RECOMMENDATION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12848"/>
            <a:ext cx="31455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Return catalog-grounded products with rationale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474720" cy="1828800"/>
          </a:xfrm>
          <a:prstGeom prst="roundRect">
            <a:avLst/>
          </a:prstGeom>
          <a:solidFill>
            <a:srgbClr val="EBF9F1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700784"/>
            <a:ext cx="31455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E8B57"/>
                </a:solidFill>
              </a:defRPr>
            </a:pPr>
            <a:r>
              <a:t>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212848"/>
            <a:ext cx="31455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Produce structured weekly sales summaries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8620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Guardrail: never invent product features, prices or availability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Extended path: customer-ready follow-up drafting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Users &amp; Stakeholders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Who benefits and who makes the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6/25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Decision makers: CTO / software leadership, sales leadership, sales operations / CRM owner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Users: sales representatives and managers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PM/TPM responsibilities: scope, agent boundaries, evaluation, rollout, risk and observability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572000"/>
            <a:ext cx="4846320" cy="1143000"/>
          </a:xfrm>
          <a:prstGeom prst="roundRect">
            <a:avLst/>
          </a:prstGeom>
          <a:solidFill>
            <a:srgbClr val="E6F5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718304"/>
            <a:ext cx="45171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7EA7"/>
                </a:solidFill>
              </a:defRPr>
            </a:pPr>
            <a:r>
              <a:t>ORG-WIDE BENEFIT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5230368"/>
            <a:ext cx="4517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Consistency • speed • visibility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572000"/>
            <a:ext cx="4846320" cy="1143000"/>
          </a:xfrm>
          <a:prstGeom prst="roundRect">
            <a:avLst/>
          </a:prstGeom>
          <a:solidFill>
            <a:srgbClr val="F1EB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4718304"/>
            <a:ext cx="45171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6A4C93"/>
                </a:solidFill>
              </a:defRPr>
            </a:pPr>
            <a:r>
              <a:t>PM/TPM BENEFIT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5230368"/>
            <a:ext cx="4517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Measurable AI product governance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Q1 — Three Agentic Interventions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Where agents can improve the sales funnel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7/25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74720" cy="2743200"/>
          </a:xfrm>
          <a:prstGeom prst="roundRect">
            <a:avLst/>
          </a:prstGeom>
          <a:solidFill>
            <a:srgbClr val="E6F5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00784"/>
            <a:ext cx="31455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7EA7"/>
                </a:solidFill>
              </a:defRPr>
            </a:pPr>
            <a:r>
              <a:t>01  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12848"/>
            <a:ext cx="31455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Automate extraction from inbound inquiry emails.</a:t>
            </a:r>
            <a:br/>
            <a:br/>
            <a:r>
              <a:t>Metric: field completeness</a:t>
            </a:r>
            <a:br/>
            <a:r>
              <a:t>Risk: bad extraction propagates.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474720" cy="2743200"/>
          </a:xfrm>
          <a:prstGeom prst="roundRect">
            <a:avLst/>
          </a:prstGeom>
          <a:solidFill>
            <a:srgbClr val="F1EB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00784"/>
            <a:ext cx="31455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6A4C93"/>
                </a:solidFill>
              </a:defRPr>
            </a:pPr>
            <a:r>
              <a:t>02  QUALIFY +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12848"/>
            <a:ext cx="31455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Standardize lead tier and catalog matching.</a:t>
            </a:r>
            <a:br/>
            <a:br/>
            <a:r>
              <a:t>Metric: tier accuracy</a:t>
            </a:r>
            <a:br/>
            <a:r>
              <a:t>Risk: hallucination.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474720" cy="2743200"/>
          </a:xfrm>
          <a:prstGeom prst="roundRect">
            <a:avLst/>
          </a:prstGeom>
          <a:solidFill>
            <a:srgbClr val="EBF9F1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700784"/>
            <a:ext cx="31455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E8B57"/>
                </a:solidFill>
              </a:defRPr>
            </a:pPr>
            <a:r>
              <a:t>03  RESPOND +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212848"/>
            <a:ext cx="31455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Draft replies and automate weekly insights.</a:t>
            </a:r>
            <a:br/>
            <a:br/>
            <a:r>
              <a:t>Metric: turnaround time</a:t>
            </a:r>
            <a:br/>
            <a:r>
              <a:t>Risk: unsupported claims.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From inbound inquiry to customer-ready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8/25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Inbound email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Email Ingestion Agent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Lead Qualifier Agent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Product Recommender Agent + catalog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↓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Response Drafter → customer-ready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Sequential multi-agent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9/25</a:t>
            </a:r>
          </a:p>
        </p:txBody>
      </p:sp>
      <p:pic>
        <p:nvPicPr>
          <p:cNvPr id="7" name="Picture 6" descr="SalesGeni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Why Sequential Pipeline?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The capstone recommends a fixed-order pattern for SalesGenie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10/25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Every normal inquiry follows the same stages in order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Sequential processing is simpler and easier to test than an unnecessarily complex hierarchy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A Router can be added after ingestion for inquiry vs complaint vs spam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Weekly Aggregator is a separate scheduled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709160"/>
            <a:ext cx="8503920" cy="914400"/>
          </a:xfrm>
          <a:prstGeom prst="roundRect">
            <a:avLst/>
          </a:prstGeom>
          <a:solidFill>
            <a:srgbClr val="FFF4E2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3392" y="4855464"/>
            <a:ext cx="81747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E67E22"/>
                </a:solidFill>
              </a:defRPr>
            </a:pPr>
            <a:r>
              <a:t>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5367528"/>
            <a:ext cx="817473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Inbound → Ingest → Qualify → Recommend → Respond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Agent 1 — Email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Structured extraction with UNKNOWN for unstated fields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11/25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3200400"/>
          </a:xfrm>
          <a:prstGeom prst="roundRect">
            <a:avLst/>
          </a:prstGeom>
          <a:solidFill>
            <a:srgbClr val="E6F5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00784"/>
            <a:ext cx="48828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7EA7"/>
                </a:solidFill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12848"/>
            <a:ext cx="4882896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Raw inquiry email</a:t>
            </a:r>
            <a:br/>
            <a:br/>
            <a:r>
              <a:t>Output fields:</a:t>
            </a:r>
            <a:br/>
            <a:r>
              <a:t>name • email • product_interest • budget • urgency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212080" cy="3200400"/>
          </a:xfrm>
          <a:prstGeom prst="roundRect">
            <a:avLst/>
          </a:prstGeom>
          <a:solidFill>
            <a:srgbClr val="EBF9F1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00784"/>
            <a:ext cx="48828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E8B57"/>
                </a:solidFill>
              </a:defRPr>
            </a:pPr>
            <a:r>
              <a:t>GROUNDING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212848"/>
            <a:ext cx="4882896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If a field is not explicitly stated, return UNKNOWN rather than guessing or inferring.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Agent 2 — Lead Qualifier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Standardized Hot / Warm / Cold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12/25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Input: extracted JSON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Output: previous fields + lead_tier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Allowed tiers: Hot / Warm / Cold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High confidence threshold before Hot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Spam / non-lead should not be treated as a lead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Agent 3 — Product Recommender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Catalog-grounded matching and rationale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13/25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74720" cy="2926080"/>
          </a:xfrm>
          <a:prstGeom prst="roundRect">
            <a:avLst/>
          </a:prstGeom>
          <a:solidFill>
            <a:srgbClr val="F1EB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00784"/>
            <a:ext cx="31455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6A4C93"/>
                </a:solidFill>
              </a:defRPr>
            </a:pPr>
            <a:r>
              <a:t>CATALOG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12848"/>
            <a:ext cx="314553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product_catalog.csv is injected into the prompt.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474720" cy="2926080"/>
          </a:xfrm>
          <a:prstGeom prst="roundRect">
            <a:avLst/>
          </a:prstGeom>
          <a:solidFill>
            <a:srgbClr val="E6F5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00784"/>
            <a:ext cx="31455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7EA7"/>
                </a:solidFill>
              </a:defRPr>
            </a:pPr>
            <a:r>
              <a:t>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12848"/>
            <a:ext cx="314553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Use product interest, budget and urgency.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474720" cy="2926080"/>
          </a:xfrm>
          <a:prstGeom prst="roundRect">
            <a:avLst/>
          </a:prstGeom>
          <a:solidFill>
            <a:srgbClr val="EBF9F1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700784"/>
            <a:ext cx="31455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E8B57"/>
                </a:solidFill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212848"/>
            <a:ext cx="314553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Top matching products + rationale.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Agent 4 — Response Drafter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Professional, personalized customer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14/25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Receives recommender output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Formats a professional, warm email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Includes product recommendations, pricing and call to action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Current exported prompt hard-codes “Sarah” — this should be made dynamic before final submission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Data Grounding &amp;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The catalog must remain the source of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15/25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474720" cy="3291840"/>
          </a:xfrm>
          <a:prstGeom prst="roundRect">
            <a:avLst/>
          </a:prstGeom>
          <a:solidFill>
            <a:srgbClr val="EBF9F1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55063"/>
            <a:ext cx="31455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E8B57"/>
                </a:solidFill>
              </a:defRPr>
            </a:pPr>
            <a:r>
              <a:t>SOURCE OF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67128"/>
            <a:ext cx="314553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Product name</a:t>
            </a:r>
            <a:br/>
            <a:r>
              <a:t>Price</a:t>
            </a:r>
            <a:br/>
            <a:r>
              <a:t>Availability</a:t>
            </a:r>
            <a:br/>
            <a:r>
              <a:t>Description</a:t>
            </a:r>
            <a:br/>
            <a:r>
              <a:t>Material</a:t>
            </a:r>
            <a:br/>
            <a: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474720" cy="3291840"/>
          </a:xfrm>
          <a:prstGeom prst="roundRect">
            <a:avLst/>
          </a:prstGeom>
          <a:solidFill>
            <a:srgbClr val="FFECE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655063"/>
            <a:ext cx="31455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GUARDRAILS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167128"/>
            <a:ext cx="314553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No invented products</a:t>
            </a:r>
            <a:br/>
            <a:r>
              <a:t>No invented pricing</a:t>
            </a:r>
            <a:br/>
            <a:r>
              <a:t>No unsupported features</a:t>
            </a:r>
            <a:br/>
            <a:r>
              <a:t>No false stock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508760"/>
            <a:ext cx="3474720" cy="3291840"/>
          </a:xfrm>
          <a:prstGeom prst="roundRect">
            <a:avLst/>
          </a:prstGeom>
          <a:solidFill>
            <a:srgbClr val="FFF4E2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1655063"/>
            <a:ext cx="31455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E67E22"/>
                </a:solidFill>
              </a:defRPr>
            </a:pPr>
            <a:r>
              <a:t>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167128"/>
            <a:ext cx="314553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Product questions ≠ leads</a:t>
            </a:r>
            <a:br/>
            <a:r>
              <a:t>Spam ≠ leads</a:t>
            </a:r>
            <a:br/>
            <a:r>
              <a:t>Weekly summary ≠ recommendation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Workflow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Supplied LangFlow canvas and exported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16/25</a:t>
            </a:r>
          </a:p>
        </p:txBody>
      </p:sp>
      <p:pic>
        <p:nvPicPr>
          <p:cNvPr id="7" name="Picture 6" descr="SalesGenie_Workflow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72800" cy="58235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Observability with Langfuse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Trace the multi-agent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17/25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Supplied project documentation describes Langfuse observability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Trace the parent-child execution of the sequential LLM calls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Useful signals: input/output, token usage, latency, cost and error patterns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Use traces to identify hallucinations and prompt failures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709160"/>
            <a:ext cx="8503920" cy="914400"/>
          </a:xfrm>
          <a:prstGeom prst="roundRect">
            <a:avLst/>
          </a:prstGeom>
          <a:solidFill>
            <a:srgbClr val="F1EB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3392" y="4855464"/>
            <a:ext cx="81747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6A4C93"/>
                </a:solidFill>
              </a:defRPr>
            </a:pPr>
            <a:r>
              <a:t>OBSERVABILITY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5367528"/>
            <a:ext cx="817473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Move from “it ran” to “we can explain what happened and why.”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Evaluation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11 baseline inputs + measurable quality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18/25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332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Baseline: T1–T11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Metrics: extraction completeness, lead-tier accuracy, catalog-grounded recommendation rate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Safety/quality: hallucination rate and out-of-stock correctness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Operations: response turnaround time and cost per lead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Evidence: actual outputs + Langfuse traces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Baseline Review — T1 to T4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Observed results from the supplied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19/25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51560" cy="749808"/>
          </a:xfrm>
          <a:prstGeom prst="roundRect">
            <a:avLst/>
          </a:prstGeom>
          <a:solidFill>
            <a:srgbClr val="FFECE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63624"/>
            <a:ext cx="72237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T1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75688"/>
            <a:ext cx="722375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FAIL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1417320"/>
            <a:ext cx="2743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4832" y="1563624"/>
            <a:ext cx="2414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7EA7"/>
                </a:solidFill>
              </a:defRPr>
            </a:pPr>
            <a:r>
              <a:t>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2" y="2075688"/>
            <a:ext cx="241401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Standing desk &lt; $800, dark walnut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1417320"/>
            <a:ext cx="30632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5192" y="1563624"/>
            <a:ext cx="27340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E8B57"/>
                </a:solidFill>
              </a:defRPr>
            </a:pPr>
            <a:r>
              <a:t>Expected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5192" y="2075688"/>
            <a:ext cx="273405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Hot/Warm + catalog product &lt; $800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417320"/>
            <a:ext cx="3429000" cy="749808"/>
          </a:xfrm>
          <a:prstGeom prst="roundRect">
            <a:avLst/>
          </a:prstGeom>
          <a:solidFill>
            <a:srgbClr val="FFF4F4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1563624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Observed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2075688"/>
            <a:ext cx="309981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Supplied output recommends 'ErgoLift Standing Desk' and 'FlexiDesk Pro', neither is in supplied catalog.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560320"/>
            <a:ext cx="1051560" cy="749808"/>
          </a:xfrm>
          <a:prstGeom prst="roundRect">
            <a:avLst/>
          </a:prstGeom>
          <a:solidFill>
            <a:srgbClr val="FFECE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706624"/>
            <a:ext cx="72237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218687"/>
            <a:ext cx="722375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FAIL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2560320"/>
            <a:ext cx="2743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84832" y="2706624"/>
            <a:ext cx="2414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7EA7"/>
                </a:solidFill>
              </a:defRPr>
            </a:pPr>
            <a:r>
              <a:t>Scenario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2" y="3218687"/>
            <a:ext cx="241401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Vague furniture inquiry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0600" y="2560320"/>
            <a:ext cx="30632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5192" y="2706624"/>
            <a:ext cx="27340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E8B57"/>
                </a:solidFill>
              </a:defRPr>
            </a:pPr>
            <a:r>
              <a:t>Expected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5192" y="3218687"/>
            <a:ext cx="273405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Cold + ask for budget/type/requirements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2560320"/>
            <a:ext cx="3429000" cy="749808"/>
          </a:xfrm>
          <a:prstGeom prst="roundRect">
            <a:avLst/>
          </a:prstGeom>
          <a:solidFill>
            <a:srgbClr val="FFF4F4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2" y="2706624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Observed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3218687"/>
            <a:ext cx="309981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Supplied output recommends two specific products instead of asking clarifying questions.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703320"/>
            <a:ext cx="1051560" cy="749808"/>
          </a:xfrm>
          <a:prstGeom prst="roundRect">
            <a:avLst/>
          </a:prstGeom>
          <a:solidFill>
            <a:srgbClr val="FFECE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3849624"/>
            <a:ext cx="72237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T3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4361688"/>
            <a:ext cx="722375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FAIL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40" y="3703320"/>
            <a:ext cx="2743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84832" y="3849624"/>
            <a:ext cx="2414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7EA7"/>
                </a:solidFill>
              </a:defRPr>
            </a:pPr>
            <a:r>
              <a:t>Scenario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84832" y="4361688"/>
            <a:ext cx="241401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10 ergonomic chairs, $5,000 total, urgent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00600" y="3703320"/>
            <a:ext cx="30632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65192" y="3849624"/>
            <a:ext cx="27340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E8B57"/>
                </a:solidFill>
              </a:defRPr>
            </a:pPr>
            <a:r>
              <a:t>Expected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65192" y="4361688"/>
            <a:ext cx="273405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Hot + chairs &lt;= $500 each + urgency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01000" y="3703320"/>
            <a:ext cx="3429000" cy="749808"/>
          </a:xfrm>
          <a:prstGeom prst="roundRect">
            <a:avLst/>
          </a:prstGeom>
          <a:solidFill>
            <a:srgbClr val="FFF4F4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65592" y="3849624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Observed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65592" y="4361688"/>
            <a:ext cx="309981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Supplied output uses 'ErgoChair Pro' and 'ComfortMax Ergonomic Chair', not the catalog names.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4846320"/>
            <a:ext cx="1051560" cy="749808"/>
          </a:xfrm>
          <a:prstGeom prst="roundRect">
            <a:avLst/>
          </a:prstGeom>
          <a:solidFill>
            <a:srgbClr val="FFECE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4992624"/>
            <a:ext cx="72237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T4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" y="5504688"/>
            <a:ext cx="722375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FAIL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20240" y="4846320"/>
            <a:ext cx="2743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84832" y="4992624"/>
            <a:ext cx="2414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7EA7"/>
                </a:solidFill>
              </a:defRPr>
            </a:pPr>
            <a:r>
              <a:t>Scenario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84832" y="5504688"/>
            <a:ext cx="241401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Oak desk color question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00600" y="4846320"/>
            <a:ext cx="30632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65192" y="4992624"/>
            <a:ext cx="27340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E8B57"/>
                </a:solidFill>
              </a:defRPr>
            </a:pPr>
            <a:r>
              <a:t>Expected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65192" y="5504688"/>
            <a:ext cx="273405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Product question; no lead tier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01000" y="4846320"/>
            <a:ext cx="3429000" cy="749808"/>
          </a:xfrm>
          <a:prstGeom prst="roundRect">
            <a:avLst/>
          </a:prstGeom>
          <a:solidFill>
            <a:srgbClr val="FFF4F4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65592" y="4992624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Observed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65592" y="5504688"/>
            <a:ext cx="309981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Supplied output turns it into a product recommendation email and classifies implicitly as a lead.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Baseline Review — T5 to T8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Grounding, spam and context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20/25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51560" cy="749808"/>
          </a:xfrm>
          <a:prstGeom prst="roundRect">
            <a:avLst/>
          </a:prstGeom>
          <a:solidFill>
            <a:srgbClr val="FFECE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63624"/>
            <a:ext cx="72237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T5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75688"/>
            <a:ext cx="722375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FAIL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1417320"/>
            <a:ext cx="2743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4832" y="1563624"/>
            <a:ext cx="2414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7EA7"/>
                </a:solidFill>
              </a:defRPr>
            </a:pPr>
            <a:r>
              <a:t>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2" y="2075688"/>
            <a:ext cx="241401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Compare standing desks with IKEA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1417320"/>
            <a:ext cx="30632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5192" y="1563624"/>
            <a:ext cx="27340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E8B57"/>
                </a:solidFill>
              </a:defRPr>
            </a:pPr>
            <a:r>
              <a:t>Expected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5192" y="2075688"/>
            <a:ext cx="273405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Warm/Hot + actual catalog differentiators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417320"/>
            <a:ext cx="3429000" cy="749808"/>
          </a:xfrm>
          <a:prstGeom prst="roundRect">
            <a:avLst/>
          </a:prstGeom>
          <a:solidFill>
            <a:srgbClr val="FFF4F4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1563624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Observed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2075688"/>
            <a:ext cx="309981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Supplied output uses non-catalog products and unsupported review/availability claims.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560320"/>
            <a:ext cx="1051560" cy="749808"/>
          </a:xfrm>
          <a:prstGeom prst="roundRect">
            <a:avLst/>
          </a:prstGeom>
          <a:solidFill>
            <a:srgbClr val="FFECE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706624"/>
            <a:ext cx="72237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T6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218687"/>
            <a:ext cx="722375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FAIL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2560320"/>
            <a:ext cx="2743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84832" y="2706624"/>
            <a:ext cx="2414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7EA7"/>
                </a:solidFill>
              </a:defRPr>
            </a:pPr>
            <a:r>
              <a:t>Scenario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2" y="3218687"/>
            <a:ext cx="241401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Something nice under $50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0600" y="2560320"/>
            <a:ext cx="30632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5192" y="2706624"/>
            <a:ext cx="27340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E8B57"/>
                </a:solidFill>
              </a:defRPr>
            </a:pPr>
            <a:r>
              <a:t>Expected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5192" y="3218687"/>
            <a:ext cx="273405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Appropriate classification + catalog item under $50 or no availability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2560320"/>
            <a:ext cx="3429000" cy="749808"/>
          </a:xfrm>
          <a:prstGeom prst="roundRect">
            <a:avLst/>
          </a:prstGeom>
          <a:solidFill>
            <a:srgbClr val="FFF4F4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2" y="2706624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Observed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3218687"/>
            <a:ext cx="309981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Supplied output recommends 'Elegant Candle Set' and 'Stylish Tote Bag', neither is in catalog.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703320"/>
            <a:ext cx="1051560" cy="749808"/>
          </a:xfrm>
          <a:prstGeom prst="roundRect">
            <a:avLst/>
          </a:prstGeom>
          <a:solidFill>
            <a:srgbClr val="FFECE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3849624"/>
            <a:ext cx="72237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T7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4361688"/>
            <a:ext cx="722375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FAIL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40" y="3703320"/>
            <a:ext cx="2743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84832" y="3849624"/>
            <a:ext cx="2414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7EA7"/>
                </a:solidFill>
              </a:defRPr>
            </a:pPr>
            <a:r>
              <a:t>Scenario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84832" y="4361688"/>
            <a:ext cx="241401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Spam message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00600" y="3703320"/>
            <a:ext cx="30632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65192" y="3849624"/>
            <a:ext cx="27340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E8B57"/>
                </a:solidFill>
              </a:defRPr>
            </a:pPr>
            <a:r>
              <a:t>Expected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65192" y="4361688"/>
            <a:ext cx="273405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Spam/not valid inquiry; no recommendation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01000" y="3703320"/>
            <a:ext cx="3429000" cy="749808"/>
          </a:xfrm>
          <a:prstGeom prst="roundRect">
            <a:avLst/>
          </a:prstGeom>
          <a:solidFill>
            <a:srgbClr val="FFF4F4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65592" y="3849624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Observed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65592" y="4361688"/>
            <a:ext cx="309981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Supplied output generates a product recommendation email.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4846320"/>
            <a:ext cx="1051560" cy="749808"/>
          </a:xfrm>
          <a:prstGeom prst="roundRect">
            <a:avLst/>
          </a:prstGeom>
          <a:solidFill>
            <a:srgbClr val="FFECE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4992624"/>
            <a:ext cx="72237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T8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" y="5504688"/>
            <a:ext cx="722375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FAIL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20240" y="4846320"/>
            <a:ext cx="2743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84832" y="4992624"/>
            <a:ext cx="2414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7EA7"/>
                </a:solidFill>
              </a:defRPr>
            </a:pPr>
            <a:r>
              <a:t>Scenario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84832" y="5504688"/>
            <a:ext cx="241401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12-person conference table, $3,000, law firm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00600" y="4846320"/>
            <a:ext cx="30632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65192" y="4992624"/>
            <a:ext cx="27340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E8B57"/>
                </a:solidFill>
              </a:defRPr>
            </a:pPr>
            <a:r>
              <a:t>Expected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65192" y="5504688"/>
            <a:ext cx="273405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Hot + catalog conference table + firm context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01000" y="4846320"/>
            <a:ext cx="3429000" cy="749808"/>
          </a:xfrm>
          <a:prstGeom prst="roundRect">
            <a:avLst/>
          </a:prstGeom>
          <a:solidFill>
            <a:srgbClr val="FFF4F4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65592" y="4992624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Observed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65592" y="5504688"/>
            <a:ext cx="309981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Supplied output recommends non-catalog table names and unsupported specifications.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Baseline Review — T9 to T11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Vague, availability and weekly-summary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21/25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51560" cy="749808"/>
          </a:xfrm>
          <a:prstGeom prst="roundRect">
            <a:avLst/>
          </a:prstGeom>
          <a:solidFill>
            <a:srgbClr val="FFECE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63624"/>
            <a:ext cx="72237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T9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75688"/>
            <a:ext cx="722375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FAIL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1417320"/>
            <a:ext cx="2743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4832" y="1563624"/>
            <a:ext cx="2414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7EA7"/>
                </a:solidFill>
              </a:defRPr>
            </a:pPr>
            <a:r>
              <a:t>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2" y="2075688"/>
            <a:ext cx="241401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furniture please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1417320"/>
            <a:ext cx="30632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5192" y="1563624"/>
            <a:ext cx="27340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E8B57"/>
                </a:solidFill>
              </a:defRPr>
            </a:pPr>
            <a:r>
              <a:t>Expected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5192" y="2075688"/>
            <a:ext cx="273405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Cold + request details; no invented requirements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417320"/>
            <a:ext cx="3429000" cy="749808"/>
          </a:xfrm>
          <a:prstGeom prst="roundRect">
            <a:avLst/>
          </a:prstGeom>
          <a:solidFill>
            <a:srgbClr val="FFF4F4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1563624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Observed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2075688"/>
            <a:ext cx="309981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Supplied output recommends a sofa and dining table without enough information.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560320"/>
            <a:ext cx="1051560" cy="749808"/>
          </a:xfrm>
          <a:prstGeom prst="roundRect">
            <a:avLst/>
          </a:prstGeom>
          <a:solidFill>
            <a:srgbClr val="FFECE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706624"/>
            <a:ext cx="72237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T10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218687"/>
            <a:ext cx="722375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FAIL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2560320"/>
            <a:ext cx="2743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84832" y="2706624"/>
            <a:ext cx="2414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7EA7"/>
                </a:solidFill>
              </a:defRPr>
            </a:pPr>
            <a:r>
              <a:t>Scenario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2" y="3218687"/>
            <a:ext cx="241401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Walnut Executive Desk availability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0600" y="2560320"/>
            <a:ext cx="30632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5192" y="2706624"/>
            <a:ext cx="27340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E8B57"/>
                </a:solidFill>
              </a:defRPr>
            </a:pPr>
            <a:r>
              <a:t>Expected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5192" y="3218687"/>
            <a:ext cx="273405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Report catalog stock accurately; must not say available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2560320"/>
            <a:ext cx="3429000" cy="749808"/>
          </a:xfrm>
          <a:prstGeom prst="roundRect">
            <a:avLst/>
          </a:prstGeom>
          <a:solidFill>
            <a:srgbClr val="FFF4F4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2" y="2706624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Observed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3218687"/>
            <a:ext cx="309981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Catalog says Walnut Executive Desk is Out of Stock; supplied output says two walnut desks are readily available.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703320"/>
            <a:ext cx="1051560" cy="749808"/>
          </a:xfrm>
          <a:prstGeom prst="roundRect">
            <a:avLst/>
          </a:prstGeom>
          <a:solidFill>
            <a:srgbClr val="FFECE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3849624"/>
            <a:ext cx="72237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T11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4361688"/>
            <a:ext cx="722375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FAIL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40" y="3703320"/>
            <a:ext cx="2743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84832" y="3849624"/>
            <a:ext cx="2414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7EA7"/>
                </a:solidFill>
              </a:defRPr>
            </a:pPr>
            <a:r>
              <a:t>Scenario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84832" y="4361688"/>
            <a:ext cx="241401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Generate weekly summary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00600" y="3703320"/>
            <a:ext cx="30632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65192" y="3849624"/>
            <a:ext cx="27340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E8B57"/>
                </a:solidFill>
              </a:defRPr>
            </a:pPr>
            <a:r>
              <a:t>Expected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65192" y="4361688"/>
            <a:ext cx="273405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Total leads + Hot/Warm/Cold + categories + average budget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01000" y="3703320"/>
            <a:ext cx="3429000" cy="749808"/>
          </a:xfrm>
          <a:prstGeom prst="roundRect">
            <a:avLst/>
          </a:prstGeom>
          <a:solidFill>
            <a:srgbClr val="FFF4F4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65592" y="3849624"/>
            <a:ext cx="30998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Observed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65592" y="4361688"/>
            <a:ext cx="309981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Supplied output is a generic recommendation email, not a weekly summary.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Key Findings &amp; Corrective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What must be fixed before claiming a passing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22/25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83280" cy="1828800"/>
          </a:xfrm>
          <a:prstGeom prst="roundRect">
            <a:avLst/>
          </a:prstGeom>
          <a:solidFill>
            <a:srgbClr val="FFECE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00784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C0392B"/>
                </a:solidFill>
              </a:defRPr>
            </a:pPr>
            <a:r>
              <a:t>0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12848"/>
            <a:ext cx="305409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Observed passing tests in the supplied workbook when checked against the supplied catalog.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1828800"/>
          </a:xfrm>
          <a:prstGeom prst="roundRect">
            <a:avLst/>
          </a:prstGeom>
          <a:solidFill>
            <a:srgbClr val="FFF4E2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00784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E67E22"/>
                </a:solidFill>
              </a:defRPr>
            </a:pPr>
            <a:r>
              <a:t>PRIMARY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12848"/>
            <a:ext cx="305409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Invented/non-catalog products and unsupported claims.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383280" cy="1828800"/>
          </a:xfrm>
          <a:prstGeom prst="roundRect">
            <a:avLst/>
          </a:prstGeom>
          <a:solidFill>
            <a:srgbClr val="EBF9F1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700784"/>
            <a:ext cx="30540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E8B57"/>
                </a:solidFill>
              </a:defRPr>
            </a:pPr>
            <a:r>
              <a:t>NEXT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212848"/>
            <a:ext cx="305409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Correct grounding + routing, then rerun T1–T11.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T10 must report Walnut Executive Desk as Out of Stock.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T11 needs a real weekly aggregation path.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Response Drafter should use the extracted customer name dynamically.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Cost &amp; KPI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Measure quality, speed, hallucination and unit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23/25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74720" cy="2194560"/>
          </a:xfrm>
          <a:prstGeom prst="roundRect">
            <a:avLst/>
          </a:prstGeom>
          <a:solidFill>
            <a:srgbClr val="EBF9F1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00784"/>
            <a:ext cx="31455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E8B57"/>
                </a:solidFill>
              </a:defRPr>
            </a:pPr>
            <a:r>
              <a:t>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12848"/>
            <a:ext cx="3145536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Tier accuracy</a:t>
            </a:r>
            <a:br/>
            <a:r>
              <a:t>Grounded recommendation rate</a:t>
            </a:r>
            <a:br/>
            <a:r>
              <a:t>Hallucination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474720" cy="2194560"/>
          </a:xfrm>
          <a:prstGeom prst="roundRect">
            <a:avLst/>
          </a:prstGeom>
          <a:solidFill>
            <a:srgbClr val="E6F5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00784"/>
            <a:ext cx="31455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7EA7"/>
                </a:solidFill>
              </a:defRPr>
            </a:pPr>
            <a:r>
              <a:t>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12848"/>
            <a:ext cx="3145536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Response turnaround</a:t>
            </a:r>
            <a:br/>
            <a:r>
              <a:t>Manual hours saved</a:t>
            </a:r>
            <a:br/>
            <a:r>
              <a:t>Weekly reporting time saved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474720" cy="2194560"/>
          </a:xfrm>
          <a:prstGeom prst="roundRect">
            <a:avLst/>
          </a:prstGeom>
          <a:solidFill>
            <a:srgbClr val="F1EB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700784"/>
            <a:ext cx="31455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6A4C93"/>
                </a:solidFill>
              </a:defRPr>
            </a:pPr>
            <a:r>
              <a:t>ECONOMICS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212848"/>
            <a:ext cx="3145536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Cost per lead = total AI/platform cost ÷ processed leads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Use thresholds to decide whether the system is ready for broader rollout.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Track quality by agent, not only by final response.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Rollout, Privacy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Controlled pilot for 20 reps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24/25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Pilot with a small group before rollout to 20 reps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Human review for customer-facing recommendations during pilot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Protect inquiry/CRM data and never commit API secrets to GitHub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Add rollback criteria and monitored quality thresholds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</a:defRPr>
            </a:pPr>
            <a:r>
              <a:t>Rerun T1–T11 and capture final Langfuse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800600"/>
            <a:ext cx="8503920" cy="822960"/>
          </a:xfrm>
          <a:prstGeom prst="roundRect">
            <a:avLst/>
          </a:prstGeom>
          <a:solidFill>
            <a:srgbClr val="F1EB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3392" y="4946904"/>
            <a:ext cx="81747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6A4C93"/>
                </a:solidFill>
              </a:defRPr>
            </a:pPr>
            <a:r>
              <a:t>NEXT MILESTONE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5458968"/>
            <a:ext cx="8174736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7324D"/>
                </a:solidFill>
              </a:defRPr>
            </a:pPr>
            <a:r>
              <a:t>Verified baseline + trace evidence + corrected routing/grounding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Conclusion &amp; 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2677A"/>
                </a:solidFill>
              </a:defRPr>
            </a:pPr>
            <a:r>
              <a:t>Mahesh Zade • Special Thanks to Gautam Muthukumar &amp; Interview Kickstart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77A"/>
                </a:solidFill>
              </a:defRPr>
            </a:pPr>
            <a:r>
              <a:t>SalesGenie • Mahesh Zade • 25/25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10332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011680"/>
            <a:ext cx="9601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7324D"/>
                </a:solidFill>
              </a:defRPr>
            </a:pPr>
            <a:r>
              <a:t>SalesGenie</a:t>
            </a:r>
          </a:p>
          <a:p>
            <a:pPr>
              <a:defRPr sz="2000">
                <a:solidFill>
                  <a:srgbClr val="007EA7"/>
                </a:solidFill>
              </a:defRPr>
            </a:pPr>
            <a:r>
              <a:t>A practical, grounded and observable sales-assistance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383280"/>
            <a:ext cx="9418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A4C93"/>
                </a:solidFill>
              </a:defRPr>
            </a:pPr>
            <a:r>
              <a:t>Mahesh Zade</a:t>
            </a:r>
          </a:p>
          <a:p>
            <a:pPr>
              <a:defRPr sz="1400">
                <a:solidFill>
                  <a:srgbClr val="52677A"/>
                </a:solidFill>
              </a:defRPr>
            </a:pPr>
            <a:r>
              <a:t>Special Thanks to Gautam Muthukumar for completing the Project and the Interview Kickstart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