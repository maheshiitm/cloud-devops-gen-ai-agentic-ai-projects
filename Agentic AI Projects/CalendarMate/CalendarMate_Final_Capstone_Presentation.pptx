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76"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97" autoAdjust="0"/>
    <p:restoredTop sz="94660"/>
  </p:normalViewPr>
  <p:slideViewPr>
    <p:cSldViewPr snapToGrid="0" snapToObjects="1">
      <p:cViewPr>
        <p:scale>
          <a:sx n="73" d="100"/>
          <a:sy n="73" d="100"/>
        </p:scale>
        <p:origin x="616" y="-14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449734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Introduce the project, the business problem, and your role as the project owner. State that CalendarMate is an Agentic AI productivity assistant built in Langflow and evaluated with Langfuse.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Briefly walk through the presentation structure. Emphasize architecture and evaluation because these are central capstone requirements.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assignment problem statement identifies a heavy operational load. Explain that CalendarMate targets the repetitive coordination work so people can focus on higher-value delivery.</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the three main business metrics. If asked about ROI, clearly call the $300,000/month number a planning scenario, not measured production ROI.</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Describe CalendarMate as a workflow of specialized behaviors. Mention that briefing is handled by the Scheduler Agent in the actual exported graph.</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the orchestration decision. The assignment recommends Router/Dispatcher because requests vary. In this implementation, three route filters provide the dispatch behavior.</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Walk left to right. User enters a request, Chat Input fans out to route filters, the matching route reaches one specialist agent, tools provide controlled data, Chat Output returns the response, and Langfuse observes execution.</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each layer. Call out the implementation boundary honestly: live API components are in the export but the validated test path uses mock tools.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that the request is first routed, then handled by the appropriate specialist. Tool calls are used only where connected. Langfuse records the execution for evaluation and debugging.</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that the assignment permits combining or renaming agents. In the actual JSON there are three specialist agents; briefing is part of Scheduler Agent.</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why prompt engineering matters for an assistant that can act on schedules and summarize private information. Grounding rules are safety controls, not just style instructions.</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an important transparency slide. Explain exactly what was validated and what remains to be wired for production. Do not claim live API transactions based only on the presence of nodes in the JSON.</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Summarize the supplied evaluation evidence: all 12 baseline tests are reported as passed. Mention that the evidence is based on the supplied controlled test artifacts.</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Use the reported trace metrics. Explain that the observed cost is empirical for the supplied trace and should not be treated as a permanent provider price.</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Walk through the cost calculation. State clearly that the calculation is based on the observed Langfuse cost per run and is an estimate.</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Use these as concrete project lessons. The integration-boundary lesson is especially important: documentation must match the actual graph and evidence.</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the roadmap as the next step from capstone prototype to production-ready pilot. Week 1 closes the live-integration and safety gap; Week 2 focuses on grounding and optimization.</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Close by thanking Gautam Muthukumar for guidance and the Interview Kickstart Team for the learning opportunity, resources and support. Then invite questions.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9/10/2026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9/10/2026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9/10/2026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640080" y="1005840"/>
            <a:ext cx="109728" cy="448056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05840" y="1097280"/>
            <a:ext cx="10058400" cy="1371600"/>
          </a:xfrm>
          <a:prstGeom prst="rect">
            <a:avLst/>
          </a:prstGeom>
          <a:noFill/>
        </p:spPr>
        <p:txBody>
          <a:bodyPr wrap="none">
            <a:spAutoFit/>
          </a:bodyPr>
          <a:lstStyle/>
          <a:p>
            <a:pPr>
              <a:defRPr sz="4400" b="1">
                <a:solidFill>
                  <a:srgbClr val="FFFFFF"/>
                </a:solidFill>
              </a:defRPr>
            </a:pPr>
            <a:r>
              <a:t>CalendarMate</a:t>
            </a:r>
          </a:p>
        </p:txBody>
      </p:sp>
      <p:sp>
        <p:nvSpPr>
          <p:cNvPr id="5" name="TextBox 4"/>
          <p:cNvSpPr txBox="1"/>
          <p:nvPr/>
        </p:nvSpPr>
        <p:spPr>
          <a:xfrm>
            <a:off x="1024128" y="2423160"/>
            <a:ext cx="9601200" cy="731520"/>
          </a:xfrm>
          <a:prstGeom prst="rect">
            <a:avLst/>
          </a:prstGeom>
          <a:noFill/>
        </p:spPr>
        <p:txBody>
          <a:bodyPr wrap="none">
            <a:spAutoFit/>
          </a:bodyPr>
          <a:lstStyle/>
          <a:p>
            <a:pPr>
              <a:defRPr sz="2400">
                <a:solidFill>
                  <a:srgbClr val="BFDBFE"/>
                </a:solidFill>
              </a:defRPr>
            </a:pPr>
            <a:r>
              <a:t>AI-Powered Productivity Assistant</a:t>
            </a:r>
          </a:p>
        </p:txBody>
      </p:sp>
      <p:sp>
        <p:nvSpPr>
          <p:cNvPr id="6" name="TextBox 5"/>
          <p:cNvSpPr txBox="1"/>
          <p:nvPr/>
        </p:nvSpPr>
        <p:spPr>
          <a:xfrm>
            <a:off x="1024128" y="3794760"/>
            <a:ext cx="9601200" cy="1005840"/>
          </a:xfrm>
          <a:prstGeom prst="rect">
            <a:avLst/>
          </a:prstGeom>
          <a:noFill/>
        </p:spPr>
        <p:txBody>
          <a:bodyPr wrap="none">
            <a:spAutoFit/>
          </a:bodyPr>
          <a:lstStyle/>
          <a:p>
            <a:pPr>
              <a:defRPr sz="2000">
                <a:solidFill>
                  <a:srgbClr val="FFFFFF"/>
                </a:solidFill>
              </a:defRPr>
            </a:pPr>
            <a:r>
              <a:t>Agentic AI Capstone Project</a:t>
            </a:r>
            <a:br/>
            <a:r>
              <a:t>Mahesh P Zade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10972800" cy="594360"/>
          </a:xfrm>
          <a:prstGeom prst="rect">
            <a:avLst/>
          </a:prstGeom>
          <a:noFill/>
        </p:spPr>
        <p:txBody>
          <a:bodyPr wrap="none">
            <a:spAutoFit/>
          </a:bodyPr>
          <a:lstStyle/>
          <a:p>
            <a:pPr>
              <a:defRPr sz="2800" b="1">
                <a:solidFill>
                  <a:srgbClr val="0F172A"/>
                </a:solidFill>
              </a:defRPr>
            </a:pPr>
            <a:r>
              <a:t>Agenda</a:t>
            </a:r>
          </a:p>
        </p:txBody>
      </p:sp>
      <p:sp>
        <p:nvSpPr>
          <p:cNvPr id="4" name="TextBox 3"/>
          <p:cNvSpPr txBox="1"/>
          <p:nvPr/>
        </p:nvSpPr>
        <p:spPr>
          <a:xfrm>
            <a:off x="822960" y="1325880"/>
            <a:ext cx="10698480" cy="4663440"/>
          </a:xfrm>
          <a:prstGeom prst="rect">
            <a:avLst/>
          </a:prstGeom>
          <a:noFill/>
        </p:spPr>
        <p:txBody>
          <a:bodyPr wrap="square">
            <a:spAutoFit/>
          </a:bodyPr>
          <a:lstStyle/>
          <a:p>
            <a:pPr>
              <a:spcAft>
                <a:spcPts val="1000"/>
              </a:spcAft>
              <a:defRPr sz="2000">
                <a:solidFill>
                  <a:srgbClr val="0F172A"/>
                </a:solidFill>
              </a:defRPr>
            </a:pPr>
            <a:r>
              <a:t>Problem &amp; business case</a:t>
            </a:r>
          </a:p>
          <a:p>
            <a:pPr>
              <a:spcAft>
                <a:spcPts val="1000"/>
              </a:spcAft>
              <a:defRPr sz="2000">
                <a:solidFill>
                  <a:srgbClr val="0F172A"/>
                </a:solidFill>
              </a:defRPr>
            </a:pPr>
            <a:r>
              <a:t>Solution and key capabilities</a:t>
            </a:r>
          </a:p>
          <a:p>
            <a:pPr>
              <a:spcAft>
                <a:spcPts val="1000"/>
              </a:spcAft>
              <a:defRPr sz="2000">
                <a:solidFill>
                  <a:srgbClr val="0F172A"/>
                </a:solidFill>
              </a:defRPr>
            </a:pPr>
            <a:r>
              <a:t>Agentic architecture and routing</a:t>
            </a:r>
          </a:p>
          <a:p>
            <a:pPr>
              <a:spcAft>
                <a:spcPts val="1000"/>
              </a:spcAft>
              <a:defRPr sz="2000">
                <a:solidFill>
                  <a:srgbClr val="0F172A"/>
                </a:solidFill>
              </a:defRPr>
            </a:pPr>
            <a:r>
              <a:t>Implementation, tools and prompts</a:t>
            </a:r>
          </a:p>
          <a:p>
            <a:pPr>
              <a:spcAft>
                <a:spcPts val="1000"/>
              </a:spcAft>
              <a:defRPr sz="2000">
                <a:solidFill>
                  <a:srgbClr val="0F172A"/>
                </a:solidFill>
              </a:defRPr>
            </a:pPr>
            <a:r>
              <a:t>Evaluation, observability and cost</a:t>
            </a:r>
          </a:p>
          <a:p>
            <a:pPr>
              <a:spcAft>
                <a:spcPts val="1000"/>
              </a:spcAft>
              <a:defRPr sz="2000">
                <a:solidFill>
                  <a:srgbClr val="0F172A"/>
                </a:solidFill>
              </a:defRPr>
            </a:pPr>
            <a:r>
              <a:t>Challenges, learnings and next steps</a:t>
            </a:r>
          </a:p>
        </p:txBody>
      </p:sp>
      <p:sp>
        <p:nvSpPr>
          <p:cNvPr id="5" name="TextBox 4"/>
          <p:cNvSpPr txBox="1"/>
          <p:nvPr/>
        </p:nvSpPr>
        <p:spPr>
          <a:xfrm>
            <a:off x="594360" y="6446520"/>
            <a:ext cx="10972800" cy="228600"/>
          </a:xfrm>
          <a:prstGeom prst="rect">
            <a:avLst/>
          </a:prstGeom>
          <a:noFill/>
        </p:spPr>
        <p:txBody>
          <a:bodyPr wrap="none">
            <a:spAutoFit/>
          </a:bodyPr>
          <a:lstStyle/>
          <a:p>
            <a:pPr>
              <a:defRPr sz="900">
                <a:solidFill>
                  <a:srgbClr val="475569"/>
                </a:solidFill>
              </a:defRPr>
            </a:pPr>
            <a:r>
              <a:t>CalendarMate  |  Mahesh P Zade  |  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10972800" cy="594360"/>
          </a:xfrm>
          <a:prstGeom prst="rect">
            <a:avLst/>
          </a:prstGeom>
          <a:noFill/>
        </p:spPr>
        <p:txBody>
          <a:bodyPr wrap="none">
            <a:spAutoFit/>
          </a:bodyPr>
          <a:lstStyle/>
          <a:p>
            <a:pPr>
              <a:defRPr sz="2800" b="1">
                <a:solidFill>
                  <a:srgbClr val="0F172A"/>
                </a:solidFill>
              </a:defRPr>
            </a:pPr>
            <a:r>
              <a:t>1. Problem Statement</a:t>
            </a:r>
          </a:p>
        </p:txBody>
      </p:sp>
      <p:sp>
        <p:nvSpPr>
          <p:cNvPr id="4" name="TextBox 3"/>
          <p:cNvSpPr txBox="1"/>
          <p:nvPr/>
        </p:nvSpPr>
        <p:spPr>
          <a:xfrm>
            <a:off x="621792" y="932688"/>
            <a:ext cx="10789920" cy="411480"/>
          </a:xfrm>
          <a:prstGeom prst="rect">
            <a:avLst/>
          </a:prstGeom>
          <a:noFill/>
        </p:spPr>
        <p:txBody>
          <a:bodyPr wrap="none">
            <a:spAutoFit/>
          </a:bodyPr>
          <a:lstStyle/>
          <a:p>
            <a:pPr>
              <a:defRPr sz="1300">
                <a:solidFill>
                  <a:srgbClr val="475569"/>
                </a:solidFill>
              </a:defRPr>
            </a:pPr>
            <a:r>
              <a:t>Operational overload for PMs, TPMs and senior ICs</a:t>
            </a:r>
          </a:p>
        </p:txBody>
      </p:sp>
      <p:sp>
        <p:nvSpPr>
          <p:cNvPr id="5" name="Rounded Rectangle 4"/>
          <p:cNvSpPr/>
          <p:nvPr/>
        </p:nvSpPr>
        <p:spPr>
          <a:xfrm>
            <a:off x="640080" y="1417320"/>
            <a:ext cx="2468880" cy="1417320"/>
          </a:xfrm>
          <a:prstGeom prst="roundRect">
            <a:avLst/>
          </a:prstGeom>
          <a:solidFill>
            <a:srgbClr val="F1F5F9"/>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04671" y="1545336"/>
            <a:ext cx="2139696" cy="384048"/>
          </a:xfrm>
          <a:prstGeom prst="rect">
            <a:avLst/>
          </a:prstGeom>
          <a:noFill/>
        </p:spPr>
        <p:txBody>
          <a:bodyPr wrap="none">
            <a:spAutoFit/>
          </a:bodyPr>
          <a:lstStyle/>
          <a:p>
            <a:pPr>
              <a:defRPr sz="1500" b="1">
                <a:solidFill>
                  <a:srgbClr val="2563EB"/>
                </a:solidFill>
              </a:defRPr>
            </a:pPr>
            <a:r>
              <a:t>8–14 meetings/day</a:t>
            </a:r>
          </a:p>
        </p:txBody>
      </p:sp>
      <p:sp>
        <p:nvSpPr>
          <p:cNvPr id="7" name="TextBox 6"/>
          <p:cNvSpPr txBox="1"/>
          <p:nvPr/>
        </p:nvSpPr>
        <p:spPr>
          <a:xfrm>
            <a:off x="804671" y="1984248"/>
            <a:ext cx="2139696" cy="731520"/>
          </a:xfrm>
          <a:prstGeom prst="rect">
            <a:avLst/>
          </a:prstGeom>
          <a:noFill/>
        </p:spPr>
        <p:txBody>
          <a:bodyPr wrap="square">
            <a:spAutoFit/>
          </a:bodyPr>
          <a:lstStyle/>
          <a:p>
            <a:pPr>
              <a:defRPr sz="1200">
                <a:solidFill>
                  <a:srgbClr val="0F172A"/>
                </a:solidFill>
              </a:defRPr>
            </a:pPr>
            <a:r>
              <a:t>High meeting volume across teams.</a:t>
            </a:r>
          </a:p>
        </p:txBody>
      </p:sp>
      <p:sp>
        <p:nvSpPr>
          <p:cNvPr id="8" name="Rounded Rectangle 7"/>
          <p:cNvSpPr/>
          <p:nvPr/>
        </p:nvSpPr>
        <p:spPr>
          <a:xfrm>
            <a:off x="3337560" y="1417320"/>
            <a:ext cx="2468880" cy="1417320"/>
          </a:xfrm>
          <a:prstGeom prst="roundRect">
            <a:avLst/>
          </a:prstGeom>
          <a:solidFill>
            <a:srgbClr val="F1F5F9"/>
          </a:solidFill>
          <a:ln>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502152" y="1545336"/>
            <a:ext cx="2139696" cy="384048"/>
          </a:xfrm>
          <a:prstGeom prst="rect">
            <a:avLst/>
          </a:prstGeom>
          <a:noFill/>
        </p:spPr>
        <p:txBody>
          <a:bodyPr wrap="none">
            <a:spAutoFit/>
          </a:bodyPr>
          <a:lstStyle/>
          <a:p>
            <a:pPr>
              <a:defRPr sz="1500" b="1">
                <a:solidFill>
                  <a:srgbClr val="059669"/>
                </a:solidFill>
              </a:defRPr>
            </a:pPr>
            <a:r>
              <a:t>3–5 calendars</a:t>
            </a:r>
          </a:p>
        </p:txBody>
      </p:sp>
      <p:sp>
        <p:nvSpPr>
          <p:cNvPr id="10" name="TextBox 9"/>
          <p:cNvSpPr txBox="1"/>
          <p:nvPr/>
        </p:nvSpPr>
        <p:spPr>
          <a:xfrm>
            <a:off x="3502152" y="1984248"/>
            <a:ext cx="2139696" cy="731520"/>
          </a:xfrm>
          <a:prstGeom prst="rect">
            <a:avLst/>
          </a:prstGeom>
          <a:noFill/>
        </p:spPr>
        <p:txBody>
          <a:bodyPr wrap="square">
            <a:spAutoFit/>
          </a:bodyPr>
          <a:lstStyle/>
          <a:p>
            <a:pPr>
              <a:defRPr sz="1200">
                <a:solidFill>
                  <a:srgbClr val="0F172A"/>
                </a:solidFill>
              </a:defRPr>
            </a:pPr>
            <a:r>
              <a:t>Manual cross-referencing before scheduling.</a:t>
            </a:r>
          </a:p>
        </p:txBody>
      </p:sp>
      <p:sp>
        <p:nvSpPr>
          <p:cNvPr id="11" name="Rounded Rectangle 10"/>
          <p:cNvSpPr/>
          <p:nvPr/>
        </p:nvSpPr>
        <p:spPr>
          <a:xfrm>
            <a:off x="6035040" y="1417320"/>
            <a:ext cx="2468880" cy="1417320"/>
          </a:xfrm>
          <a:prstGeom prst="roundRect">
            <a:avLst/>
          </a:prstGeom>
          <a:solidFill>
            <a:srgbClr val="F1F5F9"/>
          </a:solidFill>
          <a:ln>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199631" y="1545336"/>
            <a:ext cx="2139696" cy="384048"/>
          </a:xfrm>
          <a:prstGeom prst="rect">
            <a:avLst/>
          </a:prstGeom>
          <a:noFill/>
        </p:spPr>
        <p:txBody>
          <a:bodyPr wrap="none">
            <a:spAutoFit/>
          </a:bodyPr>
          <a:lstStyle/>
          <a:p>
            <a:pPr>
              <a:defRPr sz="1500" b="1">
                <a:solidFill>
                  <a:srgbClr val="7C3AED"/>
                </a:solidFill>
              </a:defRPr>
            </a:pPr>
            <a:r>
              <a:t>60+ emails/day</a:t>
            </a:r>
          </a:p>
        </p:txBody>
      </p:sp>
      <p:sp>
        <p:nvSpPr>
          <p:cNvPr id="13" name="TextBox 12"/>
          <p:cNvSpPr txBox="1"/>
          <p:nvPr/>
        </p:nvSpPr>
        <p:spPr>
          <a:xfrm>
            <a:off x="6199631" y="1984248"/>
            <a:ext cx="2139696" cy="731520"/>
          </a:xfrm>
          <a:prstGeom prst="rect">
            <a:avLst/>
          </a:prstGeom>
          <a:noFill/>
        </p:spPr>
        <p:txBody>
          <a:bodyPr wrap="square">
            <a:spAutoFit/>
          </a:bodyPr>
          <a:lstStyle/>
          <a:p>
            <a:pPr>
              <a:defRPr sz="1200">
                <a:solidFill>
                  <a:srgbClr val="0F172A"/>
                </a:solidFill>
              </a:defRPr>
            </a:pPr>
            <a:r>
              <a:t>Many are meeting-related.</a:t>
            </a:r>
          </a:p>
        </p:txBody>
      </p:sp>
      <p:sp>
        <p:nvSpPr>
          <p:cNvPr id="14" name="Rounded Rectangle 13"/>
          <p:cNvSpPr/>
          <p:nvPr/>
        </p:nvSpPr>
        <p:spPr>
          <a:xfrm>
            <a:off x="8732520" y="1417320"/>
            <a:ext cx="2468880" cy="1417320"/>
          </a:xfrm>
          <a:prstGeom prst="roundRect">
            <a:avLst/>
          </a:prstGeom>
          <a:solidFill>
            <a:srgbClr val="F1F5F9"/>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897112" y="1545336"/>
            <a:ext cx="2139696" cy="384048"/>
          </a:xfrm>
          <a:prstGeom prst="rect">
            <a:avLst/>
          </a:prstGeom>
          <a:noFill/>
        </p:spPr>
        <p:txBody>
          <a:bodyPr wrap="none">
            <a:spAutoFit/>
          </a:bodyPr>
          <a:lstStyle/>
          <a:p>
            <a:pPr>
              <a:defRPr sz="1500" b="1">
                <a:solidFill>
                  <a:srgbClr val="F59E0B"/>
                </a:solidFill>
              </a:defRPr>
            </a:pPr>
            <a:r>
              <a:t>~2 hours/day</a:t>
            </a:r>
          </a:p>
        </p:txBody>
      </p:sp>
      <p:sp>
        <p:nvSpPr>
          <p:cNvPr id="16" name="TextBox 15"/>
          <p:cNvSpPr txBox="1"/>
          <p:nvPr/>
        </p:nvSpPr>
        <p:spPr>
          <a:xfrm>
            <a:off x="8897112" y="1984248"/>
            <a:ext cx="2139696" cy="731520"/>
          </a:xfrm>
          <a:prstGeom prst="rect">
            <a:avLst/>
          </a:prstGeom>
          <a:noFill/>
        </p:spPr>
        <p:txBody>
          <a:bodyPr wrap="square">
            <a:spAutoFit/>
          </a:bodyPr>
          <a:lstStyle/>
          <a:p>
            <a:pPr>
              <a:defRPr sz="1200">
                <a:solidFill>
                  <a:srgbClr val="0F172A"/>
                </a:solidFill>
              </a:defRPr>
            </a:pPr>
            <a:r>
              <a:t>Meeting logistics, scheduling and email triage.</a:t>
            </a:r>
          </a:p>
        </p:txBody>
      </p:sp>
      <p:sp>
        <p:nvSpPr>
          <p:cNvPr id="17" name="TextBox 16"/>
          <p:cNvSpPr txBox="1"/>
          <p:nvPr/>
        </p:nvSpPr>
        <p:spPr>
          <a:xfrm>
            <a:off x="868680" y="3246120"/>
            <a:ext cx="10424160" cy="2103120"/>
          </a:xfrm>
          <a:prstGeom prst="rect">
            <a:avLst/>
          </a:prstGeom>
          <a:noFill/>
        </p:spPr>
        <p:txBody>
          <a:bodyPr wrap="square">
            <a:spAutoFit/>
          </a:bodyPr>
          <a:lstStyle/>
          <a:p>
            <a:pPr>
              <a:spcAft>
                <a:spcPts val="1000"/>
              </a:spcAft>
              <a:defRPr sz="1700">
                <a:solidFill>
                  <a:srgbClr val="0F172A"/>
                </a:solidFill>
              </a:defRPr>
            </a:pPr>
            <a:r>
              <a:t>Manual availability checks create double-booking risk.</a:t>
            </a:r>
          </a:p>
          <a:p>
            <a:pPr>
              <a:spcAft>
                <a:spcPts val="1000"/>
              </a:spcAft>
              <a:defRPr sz="1700">
                <a:solidFill>
                  <a:srgbClr val="0F172A"/>
                </a:solidFill>
              </a:defRPr>
            </a:pPr>
            <a:r>
              <a:t>Meeting action items and follow-ups can be missed.</a:t>
            </a:r>
          </a:p>
          <a:p>
            <a:pPr>
              <a:spcAft>
                <a:spcPts val="1000"/>
              </a:spcAft>
              <a:defRPr sz="1700">
                <a:solidFill>
                  <a:srgbClr val="0F172A"/>
                </a:solidFill>
              </a:defRPr>
            </a:pPr>
            <a:r>
              <a:t>People switch between calendar, email, Slack and documents.</a:t>
            </a:r>
          </a:p>
        </p:txBody>
      </p:sp>
      <p:sp>
        <p:nvSpPr>
          <p:cNvPr id="18" name="TextBox 17"/>
          <p:cNvSpPr txBox="1"/>
          <p:nvPr/>
        </p:nvSpPr>
        <p:spPr>
          <a:xfrm>
            <a:off x="594360" y="6446520"/>
            <a:ext cx="10972800" cy="228600"/>
          </a:xfrm>
          <a:prstGeom prst="rect">
            <a:avLst/>
          </a:prstGeom>
          <a:noFill/>
        </p:spPr>
        <p:txBody>
          <a:bodyPr wrap="none">
            <a:spAutoFit/>
          </a:bodyPr>
          <a:lstStyle/>
          <a:p>
            <a:pPr>
              <a:defRPr sz="900">
                <a:solidFill>
                  <a:srgbClr val="475569"/>
                </a:solidFill>
              </a:defRPr>
            </a:pPr>
            <a:r>
              <a:t>CalendarMate  |  Mahesh P Zade  |  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10972800" cy="594360"/>
          </a:xfrm>
          <a:prstGeom prst="rect">
            <a:avLst/>
          </a:prstGeom>
          <a:noFill/>
        </p:spPr>
        <p:txBody>
          <a:bodyPr wrap="none">
            <a:spAutoFit/>
          </a:bodyPr>
          <a:lstStyle/>
          <a:p>
            <a:pPr>
              <a:defRPr sz="2800" b="1">
                <a:solidFill>
                  <a:srgbClr val="0F172A"/>
                </a:solidFill>
              </a:defRPr>
            </a:pPr>
            <a:r>
              <a:t>2. Business Case</a:t>
            </a:r>
          </a:p>
        </p:txBody>
      </p:sp>
      <p:sp>
        <p:nvSpPr>
          <p:cNvPr id="4" name="TextBox 3"/>
          <p:cNvSpPr txBox="1"/>
          <p:nvPr/>
        </p:nvSpPr>
        <p:spPr>
          <a:xfrm>
            <a:off x="621792" y="932688"/>
            <a:ext cx="10789920" cy="411480"/>
          </a:xfrm>
          <a:prstGeom prst="rect">
            <a:avLst/>
          </a:prstGeom>
          <a:noFill/>
        </p:spPr>
        <p:txBody>
          <a:bodyPr wrap="none">
            <a:spAutoFit/>
          </a:bodyPr>
          <a:lstStyle/>
          <a:p>
            <a:pPr>
              <a:defRPr sz="1300">
                <a:solidFill>
                  <a:srgbClr val="475569"/>
                </a:solidFill>
              </a:defRPr>
            </a:pPr>
            <a:r>
              <a:t>Value hypothesis and measurable outcomes</a:t>
            </a:r>
          </a:p>
        </p:txBody>
      </p:sp>
      <p:sp>
        <p:nvSpPr>
          <p:cNvPr id="5" name="Rounded Rectangle 4"/>
          <p:cNvSpPr/>
          <p:nvPr/>
        </p:nvSpPr>
        <p:spPr>
          <a:xfrm>
            <a:off x="731520" y="1371600"/>
            <a:ext cx="3383280" cy="1828800"/>
          </a:xfrm>
          <a:prstGeom prst="roundRect">
            <a:avLst/>
          </a:prstGeom>
          <a:solidFill>
            <a:srgbClr val="F1F5F9"/>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96112" y="1499616"/>
            <a:ext cx="3054096" cy="384048"/>
          </a:xfrm>
          <a:prstGeom prst="rect">
            <a:avLst/>
          </a:prstGeom>
          <a:noFill/>
        </p:spPr>
        <p:txBody>
          <a:bodyPr wrap="none">
            <a:spAutoFit/>
          </a:bodyPr>
          <a:lstStyle/>
          <a:p>
            <a:pPr>
              <a:defRPr sz="1500" b="1">
                <a:solidFill>
                  <a:srgbClr val="2563EB"/>
                </a:solidFill>
              </a:defRPr>
            </a:pPr>
            <a:r>
              <a:t>Time reclamation</a:t>
            </a:r>
          </a:p>
        </p:txBody>
      </p:sp>
      <p:sp>
        <p:nvSpPr>
          <p:cNvPr id="7" name="TextBox 6"/>
          <p:cNvSpPr txBox="1"/>
          <p:nvPr/>
        </p:nvSpPr>
        <p:spPr>
          <a:xfrm>
            <a:off x="896112" y="1938528"/>
            <a:ext cx="3054096" cy="1143000"/>
          </a:xfrm>
          <a:prstGeom prst="rect">
            <a:avLst/>
          </a:prstGeom>
          <a:noFill/>
        </p:spPr>
        <p:txBody>
          <a:bodyPr wrap="square">
            <a:spAutoFit/>
          </a:bodyPr>
          <a:lstStyle/>
          <a:p>
            <a:pPr>
              <a:defRPr sz="1200">
                <a:solidFill>
                  <a:srgbClr val="0F172A"/>
                </a:solidFill>
              </a:defRPr>
            </a:pPr>
            <a:r>
              <a:t>Measure minutes saved per PM/TPM per day.</a:t>
            </a:r>
          </a:p>
        </p:txBody>
      </p:sp>
      <p:sp>
        <p:nvSpPr>
          <p:cNvPr id="8" name="Rounded Rectangle 7"/>
          <p:cNvSpPr/>
          <p:nvPr/>
        </p:nvSpPr>
        <p:spPr>
          <a:xfrm>
            <a:off x="4389120" y="1371600"/>
            <a:ext cx="3383280" cy="1828800"/>
          </a:xfrm>
          <a:prstGeom prst="roundRect">
            <a:avLst/>
          </a:prstGeom>
          <a:solidFill>
            <a:srgbClr val="F1F5F9"/>
          </a:solidFill>
          <a:ln>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553712" y="1499616"/>
            <a:ext cx="3054096" cy="384048"/>
          </a:xfrm>
          <a:prstGeom prst="rect">
            <a:avLst/>
          </a:prstGeom>
          <a:noFill/>
        </p:spPr>
        <p:txBody>
          <a:bodyPr wrap="none">
            <a:spAutoFit/>
          </a:bodyPr>
          <a:lstStyle/>
          <a:p>
            <a:pPr>
              <a:defRPr sz="1500" b="1">
                <a:solidFill>
                  <a:srgbClr val="059669"/>
                </a:solidFill>
              </a:defRPr>
            </a:pPr>
            <a:r>
              <a:t>Scheduling safety</a:t>
            </a:r>
          </a:p>
        </p:txBody>
      </p:sp>
      <p:sp>
        <p:nvSpPr>
          <p:cNvPr id="10" name="TextBox 9"/>
          <p:cNvSpPr txBox="1"/>
          <p:nvPr/>
        </p:nvSpPr>
        <p:spPr>
          <a:xfrm>
            <a:off x="4553712" y="1938528"/>
            <a:ext cx="3054096" cy="1143000"/>
          </a:xfrm>
          <a:prstGeom prst="rect">
            <a:avLst/>
          </a:prstGeom>
          <a:noFill/>
        </p:spPr>
        <p:txBody>
          <a:bodyPr wrap="square">
            <a:spAutoFit/>
          </a:bodyPr>
          <a:lstStyle/>
          <a:p>
            <a:pPr>
              <a:defRPr sz="1200">
                <a:solidFill>
                  <a:srgbClr val="0F172A"/>
                </a:solidFill>
              </a:defRPr>
            </a:pPr>
            <a:r>
              <a:t>Measure conflict/double-booking reduction.</a:t>
            </a:r>
          </a:p>
        </p:txBody>
      </p:sp>
      <p:sp>
        <p:nvSpPr>
          <p:cNvPr id="11" name="Rounded Rectangle 10"/>
          <p:cNvSpPr/>
          <p:nvPr/>
        </p:nvSpPr>
        <p:spPr>
          <a:xfrm>
            <a:off x="8046720" y="1371600"/>
            <a:ext cx="3383280" cy="1828800"/>
          </a:xfrm>
          <a:prstGeom prst="roundRect">
            <a:avLst/>
          </a:prstGeom>
          <a:solidFill>
            <a:srgbClr val="F1F5F9"/>
          </a:solidFill>
          <a:ln>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211312" y="1499616"/>
            <a:ext cx="3054096" cy="384048"/>
          </a:xfrm>
          <a:prstGeom prst="rect">
            <a:avLst/>
          </a:prstGeom>
          <a:noFill/>
        </p:spPr>
        <p:txBody>
          <a:bodyPr wrap="none">
            <a:spAutoFit/>
          </a:bodyPr>
          <a:lstStyle/>
          <a:p>
            <a:pPr>
              <a:defRPr sz="1500" b="1">
                <a:solidFill>
                  <a:srgbClr val="7C3AED"/>
                </a:solidFill>
              </a:defRPr>
            </a:pPr>
            <a:r>
              <a:t>Faster triage</a:t>
            </a:r>
          </a:p>
        </p:txBody>
      </p:sp>
      <p:sp>
        <p:nvSpPr>
          <p:cNvPr id="13" name="TextBox 12"/>
          <p:cNvSpPr txBox="1"/>
          <p:nvPr/>
        </p:nvSpPr>
        <p:spPr>
          <a:xfrm>
            <a:off x="8211312" y="1938528"/>
            <a:ext cx="3054096" cy="1143000"/>
          </a:xfrm>
          <a:prstGeom prst="rect">
            <a:avLst/>
          </a:prstGeom>
          <a:noFill/>
        </p:spPr>
        <p:txBody>
          <a:bodyPr wrap="square">
            <a:spAutoFit/>
          </a:bodyPr>
          <a:lstStyle/>
          <a:p>
            <a:pPr>
              <a:defRPr sz="1200">
                <a:solidFill>
                  <a:srgbClr val="0F172A"/>
                </a:solidFill>
              </a:defRPr>
            </a:pPr>
            <a:r>
              <a:t>Measure task completion latency and email handling time.</a:t>
            </a:r>
          </a:p>
        </p:txBody>
      </p:sp>
      <p:sp>
        <p:nvSpPr>
          <p:cNvPr id="14" name="TextBox 13"/>
          <p:cNvSpPr txBox="1"/>
          <p:nvPr/>
        </p:nvSpPr>
        <p:spPr>
          <a:xfrm>
            <a:off x="822960" y="3657600"/>
            <a:ext cx="10515600" cy="1463040"/>
          </a:xfrm>
          <a:prstGeom prst="rect">
            <a:avLst/>
          </a:prstGeom>
          <a:noFill/>
        </p:spPr>
        <p:txBody>
          <a:bodyPr wrap="square">
            <a:spAutoFit/>
          </a:bodyPr>
          <a:lstStyle/>
          <a:p>
            <a:pPr>
              <a:spcAft>
                <a:spcPts val="1000"/>
              </a:spcAft>
              <a:defRPr sz="1700">
                <a:solidFill>
                  <a:srgbClr val="0F172A"/>
                </a:solidFill>
              </a:defRPr>
            </a:pPr>
            <a:r>
              <a:t>Planning ROI scenario: 50 users × 2 hours/day × $150/hour × 20 business days = $300,000/month of modeled gross value.</a:t>
            </a:r>
          </a:p>
          <a:p>
            <a:pPr>
              <a:spcAft>
                <a:spcPts val="1000"/>
              </a:spcAft>
              <a:defRPr sz="1700">
                <a:solidFill>
                  <a:srgbClr val="0F172A"/>
                </a:solidFill>
              </a:defRPr>
            </a:pPr>
            <a:r>
              <a:t>This is a planning scenario, not a measured production saving.</a:t>
            </a:r>
          </a:p>
        </p:txBody>
      </p:sp>
      <p:sp>
        <p:nvSpPr>
          <p:cNvPr id="15" name="TextBox 14"/>
          <p:cNvSpPr txBox="1"/>
          <p:nvPr/>
        </p:nvSpPr>
        <p:spPr>
          <a:xfrm>
            <a:off x="594360" y="6446520"/>
            <a:ext cx="10972800" cy="228600"/>
          </a:xfrm>
          <a:prstGeom prst="rect">
            <a:avLst/>
          </a:prstGeom>
          <a:noFill/>
        </p:spPr>
        <p:txBody>
          <a:bodyPr wrap="none">
            <a:spAutoFit/>
          </a:bodyPr>
          <a:lstStyle/>
          <a:p>
            <a:pPr>
              <a:defRPr sz="900">
                <a:solidFill>
                  <a:srgbClr val="475569"/>
                </a:solidFill>
              </a:defRPr>
            </a:pPr>
            <a:r>
              <a:t>CalendarMate  |  Mahesh P Zade  |  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10972800" cy="594360"/>
          </a:xfrm>
          <a:prstGeom prst="rect">
            <a:avLst/>
          </a:prstGeom>
          <a:noFill/>
        </p:spPr>
        <p:txBody>
          <a:bodyPr wrap="none">
            <a:spAutoFit/>
          </a:bodyPr>
          <a:lstStyle/>
          <a:p>
            <a:pPr>
              <a:defRPr sz="2800" b="1">
                <a:solidFill>
                  <a:srgbClr val="0F172A"/>
                </a:solidFill>
              </a:defRPr>
            </a:pPr>
            <a:r>
              <a:t>3. CalendarMate Solution</a:t>
            </a:r>
          </a:p>
        </p:txBody>
      </p:sp>
      <p:sp>
        <p:nvSpPr>
          <p:cNvPr id="4" name="TextBox 3"/>
          <p:cNvSpPr txBox="1"/>
          <p:nvPr/>
        </p:nvSpPr>
        <p:spPr>
          <a:xfrm>
            <a:off x="621792" y="932688"/>
            <a:ext cx="10789920" cy="411480"/>
          </a:xfrm>
          <a:prstGeom prst="rect">
            <a:avLst/>
          </a:prstGeom>
          <a:noFill/>
        </p:spPr>
        <p:txBody>
          <a:bodyPr wrap="none">
            <a:spAutoFit/>
          </a:bodyPr>
          <a:lstStyle/>
          <a:p>
            <a:pPr>
              <a:defRPr sz="1300">
                <a:solidFill>
                  <a:srgbClr val="475569"/>
                </a:solidFill>
              </a:defRPr>
            </a:pPr>
            <a:r>
              <a:t>One natural-language entry point with specialist agent behavior</a:t>
            </a:r>
          </a:p>
        </p:txBody>
      </p:sp>
      <p:sp>
        <p:nvSpPr>
          <p:cNvPr id="5" name="Rounded Rectangle 4"/>
          <p:cNvSpPr/>
          <p:nvPr/>
        </p:nvSpPr>
        <p:spPr>
          <a:xfrm>
            <a:off x="640080" y="1417320"/>
            <a:ext cx="2560320" cy="2057400"/>
          </a:xfrm>
          <a:prstGeom prst="roundRect">
            <a:avLst/>
          </a:prstGeom>
          <a:solidFill>
            <a:srgbClr val="F1F5F9"/>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04671" y="1545336"/>
            <a:ext cx="2231136" cy="384048"/>
          </a:xfrm>
          <a:prstGeom prst="rect">
            <a:avLst/>
          </a:prstGeom>
          <a:noFill/>
        </p:spPr>
        <p:txBody>
          <a:bodyPr wrap="none">
            <a:spAutoFit/>
          </a:bodyPr>
          <a:lstStyle/>
          <a:p>
            <a:pPr>
              <a:defRPr sz="1500" b="1">
                <a:solidFill>
                  <a:srgbClr val="2563EB"/>
                </a:solidFill>
              </a:defRPr>
            </a:pPr>
            <a:r>
              <a:t>Briefing</a:t>
            </a:r>
          </a:p>
        </p:txBody>
      </p:sp>
      <p:sp>
        <p:nvSpPr>
          <p:cNvPr id="7" name="TextBox 6"/>
          <p:cNvSpPr txBox="1"/>
          <p:nvPr/>
        </p:nvSpPr>
        <p:spPr>
          <a:xfrm>
            <a:off x="804671" y="1984248"/>
            <a:ext cx="2231136" cy="1371600"/>
          </a:xfrm>
          <a:prstGeom prst="rect">
            <a:avLst/>
          </a:prstGeom>
          <a:noFill/>
        </p:spPr>
        <p:txBody>
          <a:bodyPr wrap="square">
            <a:spAutoFit/>
          </a:bodyPr>
          <a:lstStyle/>
          <a:p>
            <a:pPr>
              <a:defRPr sz="1200">
                <a:solidFill>
                  <a:srgbClr val="0F172A"/>
                </a:solidFill>
              </a:defRPr>
            </a:pPr>
            <a:r>
              <a:t>Schedule overview, conflict awareness and focus summary.</a:t>
            </a:r>
          </a:p>
        </p:txBody>
      </p:sp>
      <p:sp>
        <p:nvSpPr>
          <p:cNvPr id="8" name="Rounded Rectangle 7"/>
          <p:cNvSpPr/>
          <p:nvPr/>
        </p:nvSpPr>
        <p:spPr>
          <a:xfrm>
            <a:off x="3429000" y="1417320"/>
            <a:ext cx="2560320" cy="2057400"/>
          </a:xfrm>
          <a:prstGeom prst="roundRect">
            <a:avLst/>
          </a:prstGeom>
          <a:solidFill>
            <a:srgbClr val="F1F5F9"/>
          </a:solidFill>
          <a:ln>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593592" y="1545336"/>
            <a:ext cx="2231136" cy="384048"/>
          </a:xfrm>
          <a:prstGeom prst="rect">
            <a:avLst/>
          </a:prstGeom>
          <a:noFill/>
        </p:spPr>
        <p:txBody>
          <a:bodyPr wrap="none">
            <a:spAutoFit/>
          </a:bodyPr>
          <a:lstStyle/>
          <a:p>
            <a:pPr>
              <a:defRPr sz="1500" b="1">
                <a:solidFill>
                  <a:srgbClr val="059669"/>
                </a:solidFill>
              </a:defRPr>
            </a:pPr>
            <a:r>
              <a:t>Smart Scheduling</a:t>
            </a:r>
          </a:p>
        </p:txBody>
      </p:sp>
      <p:sp>
        <p:nvSpPr>
          <p:cNvPr id="10" name="TextBox 9"/>
          <p:cNvSpPr txBox="1"/>
          <p:nvPr/>
        </p:nvSpPr>
        <p:spPr>
          <a:xfrm>
            <a:off x="3593592" y="1984248"/>
            <a:ext cx="2231136" cy="1371600"/>
          </a:xfrm>
          <a:prstGeom prst="rect">
            <a:avLst/>
          </a:prstGeom>
          <a:noFill/>
        </p:spPr>
        <p:txBody>
          <a:bodyPr wrap="square">
            <a:spAutoFit/>
          </a:bodyPr>
          <a:lstStyle/>
          <a:p>
            <a:pPr>
              <a:defRPr sz="1200">
                <a:solidFill>
                  <a:srgbClr val="0F172A"/>
                </a:solidFill>
              </a:defRPr>
            </a:pPr>
            <a:r>
              <a:t>Availability, conflict handling and controlled event creation.</a:t>
            </a:r>
          </a:p>
        </p:txBody>
      </p:sp>
      <p:sp>
        <p:nvSpPr>
          <p:cNvPr id="11" name="Rounded Rectangle 10"/>
          <p:cNvSpPr/>
          <p:nvPr/>
        </p:nvSpPr>
        <p:spPr>
          <a:xfrm>
            <a:off x="6217920" y="1417320"/>
            <a:ext cx="2560320" cy="2057400"/>
          </a:xfrm>
          <a:prstGeom prst="roundRect">
            <a:avLst/>
          </a:prstGeom>
          <a:solidFill>
            <a:srgbClr val="F1F5F9"/>
          </a:solidFill>
          <a:ln>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382512" y="1545336"/>
            <a:ext cx="2231136" cy="384048"/>
          </a:xfrm>
          <a:prstGeom prst="rect">
            <a:avLst/>
          </a:prstGeom>
          <a:noFill/>
        </p:spPr>
        <p:txBody>
          <a:bodyPr wrap="none">
            <a:spAutoFit/>
          </a:bodyPr>
          <a:lstStyle/>
          <a:p>
            <a:pPr>
              <a:defRPr sz="1500" b="1">
                <a:solidFill>
                  <a:srgbClr val="7C3AED"/>
                </a:solidFill>
              </a:defRPr>
            </a:pPr>
            <a:r>
              <a:t>Email Triage</a:t>
            </a:r>
          </a:p>
        </p:txBody>
      </p:sp>
      <p:sp>
        <p:nvSpPr>
          <p:cNvPr id="13" name="TextBox 12"/>
          <p:cNvSpPr txBox="1"/>
          <p:nvPr/>
        </p:nvSpPr>
        <p:spPr>
          <a:xfrm>
            <a:off x="6382512" y="1984248"/>
            <a:ext cx="2231136" cy="1371600"/>
          </a:xfrm>
          <a:prstGeom prst="rect">
            <a:avLst/>
          </a:prstGeom>
          <a:noFill/>
        </p:spPr>
        <p:txBody>
          <a:bodyPr wrap="square">
            <a:spAutoFit/>
          </a:bodyPr>
          <a:lstStyle/>
          <a:p>
            <a:pPr>
              <a:defRPr sz="1200">
                <a:solidFill>
                  <a:srgbClr val="0F172A"/>
                </a:solidFill>
              </a:defRPr>
            </a:pPr>
            <a:r>
              <a:t>Unread/important email summarization and prioritization.</a:t>
            </a:r>
          </a:p>
        </p:txBody>
      </p:sp>
      <p:sp>
        <p:nvSpPr>
          <p:cNvPr id="14" name="Rounded Rectangle 13"/>
          <p:cNvSpPr/>
          <p:nvPr/>
        </p:nvSpPr>
        <p:spPr>
          <a:xfrm>
            <a:off x="9006840" y="1417320"/>
            <a:ext cx="2560320" cy="2057400"/>
          </a:xfrm>
          <a:prstGeom prst="roundRect">
            <a:avLst/>
          </a:prstGeom>
          <a:solidFill>
            <a:srgbClr val="F1F5F9"/>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171432" y="1545336"/>
            <a:ext cx="2231136" cy="384048"/>
          </a:xfrm>
          <a:prstGeom prst="rect">
            <a:avLst/>
          </a:prstGeom>
          <a:noFill/>
        </p:spPr>
        <p:txBody>
          <a:bodyPr wrap="none">
            <a:spAutoFit/>
          </a:bodyPr>
          <a:lstStyle/>
          <a:p>
            <a:pPr>
              <a:defRPr sz="1500" b="1">
                <a:solidFill>
                  <a:srgbClr val="F59E0B"/>
                </a:solidFill>
              </a:defRPr>
            </a:pPr>
            <a:r>
              <a:t>Follow-Up</a:t>
            </a:r>
          </a:p>
        </p:txBody>
      </p:sp>
      <p:sp>
        <p:nvSpPr>
          <p:cNvPr id="16" name="TextBox 15"/>
          <p:cNvSpPr txBox="1"/>
          <p:nvPr/>
        </p:nvSpPr>
        <p:spPr>
          <a:xfrm>
            <a:off x="9171432" y="1984248"/>
            <a:ext cx="2231136" cy="1371600"/>
          </a:xfrm>
          <a:prstGeom prst="rect">
            <a:avLst/>
          </a:prstGeom>
          <a:noFill/>
        </p:spPr>
        <p:txBody>
          <a:bodyPr wrap="square">
            <a:spAutoFit/>
          </a:bodyPr>
          <a:lstStyle/>
          <a:p>
            <a:pPr>
              <a:defRPr sz="1200">
                <a:solidFill>
                  <a:srgbClr val="0F172A"/>
                </a:solidFill>
              </a:defRPr>
            </a:pPr>
            <a:r>
              <a:t>Meeting summary and action-item drafting from supplied information.</a:t>
            </a:r>
          </a:p>
        </p:txBody>
      </p:sp>
      <p:sp>
        <p:nvSpPr>
          <p:cNvPr id="17" name="TextBox 16"/>
          <p:cNvSpPr txBox="1"/>
          <p:nvPr/>
        </p:nvSpPr>
        <p:spPr>
          <a:xfrm>
            <a:off x="868680" y="4069080"/>
            <a:ext cx="10424160" cy="914400"/>
          </a:xfrm>
          <a:prstGeom prst="rect">
            <a:avLst/>
          </a:prstGeom>
          <a:noFill/>
        </p:spPr>
        <p:txBody>
          <a:bodyPr wrap="square">
            <a:spAutoFit/>
          </a:bodyPr>
          <a:lstStyle/>
          <a:p>
            <a:pPr>
              <a:spcAft>
                <a:spcPts val="1000"/>
              </a:spcAft>
              <a:defRPr sz="2000">
                <a:solidFill>
                  <a:srgbClr val="0F172A"/>
                </a:solidFill>
              </a:defRPr>
            </a:pPr>
            <a:r>
              <a:t>Design principle: specialized responsibility + grounded tool use + observability.</a:t>
            </a:r>
          </a:p>
        </p:txBody>
      </p:sp>
      <p:sp>
        <p:nvSpPr>
          <p:cNvPr id="18" name="TextBox 17"/>
          <p:cNvSpPr txBox="1"/>
          <p:nvPr/>
        </p:nvSpPr>
        <p:spPr>
          <a:xfrm>
            <a:off x="594360" y="6446520"/>
            <a:ext cx="10972800" cy="228600"/>
          </a:xfrm>
          <a:prstGeom prst="rect">
            <a:avLst/>
          </a:prstGeom>
          <a:noFill/>
        </p:spPr>
        <p:txBody>
          <a:bodyPr wrap="none">
            <a:spAutoFit/>
          </a:bodyPr>
          <a:lstStyle/>
          <a:p>
            <a:pPr>
              <a:defRPr sz="900">
                <a:solidFill>
                  <a:srgbClr val="475569"/>
                </a:solidFill>
              </a:defRPr>
            </a:pPr>
            <a:r>
              <a:t>CalendarMate  |  Mahesh P Zade  |  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715589" y="658368"/>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85800" y="320040"/>
            <a:ext cx="10972800" cy="548640"/>
          </a:xfrm>
          <a:prstGeom prst="rect">
            <a:avLst/>
          </a:prstGeom>
          <a:noFill/>
        </p:spPr>
        <p:txBody>
          <a:bodyPr wrap="none">
            <a:spAutoFit/>
          </a:bodyPr>
          <a:lstStyle/>
          <a:p>
            <a:pPr>
              <a:defRPr sz="2800" b="1">
                <a:solidFill>
                  <a:srgbClr val="0F172A"/>
                </a:solidFill>
                <a:latin typeface="Aptos Display"/>
              </a:defRPr>
            </a:pPr>
            <a:r>
              <a:t>4. Technology Stack</a:t>
            </a:r>
          </a:p>
        </p:txBody>
      </p:sp>
      <p:sp>
        <p:nvSpPr>
          <p:cNvPr id="4" name="Rounded Rectangle 3"/>
          <p:cNvSpPr/>
          <p:nvPr/>
        </p:nvSpPr>
        <p:spPr>
          <a:xfrm>
            <a:off x="713232" y="1234440"/>
            <a:ext cx="2834640" cy="585216"/>
          </a:xfrm>
          <a:prstGeom prst="roundRect">
            <a:avLst/>
          </a:prstGeom>
          <a:solidFill>
            <a:srgbClr val="FFFF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l">
              <a:defRPr sz="1400" b="1">
                <a:solidFill>
                  <a:srgbClr val="2563EB"/>
                </a:solidFill>
                <a:latin typeface="Aptos"/>
              </a:defRPr>
            </a:pPr>
            <a:r>
              <a:t>Workflow</a:t>
            </a:r>
          </a:p>
        </p:txBody>
      </p:sp>
      <p:sp>
        <p:nvSpPr>
          <p:cNvPr id="5" name="Rounded Rectangle 4"/>
          <p:cNvSpPr/>
          <p:nvPr/>
        </p:nvSpPr>
        <p:spPr>
          <a:xfrm>
            <a:off x="3703320" y="1234440"/>
            <a:ext cx="7726679" cy="585216"/>
          </a:xfrm>
          <a:prstGeom prst="roundRect">
            <a:avLst/>
          </a:prstGeom>
          <a:solidFill>
            <a:srgbClr val="F8FAFC"/>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l">
              <a:defRPr sz="1400" b="1">
                <a:solidFill>
                  <a:srgbClr val="0F172A"/>
                </a:solidFill>
                <a:latin typeface="Aptos"/>
              </a:defRPr>
            </a:pPr>
            <a:r>
              <a:t>Langflow</a:t>
            </a:r>
          </a:p>
          <a:p>
            <a:pPr>
              <a:spcBef>
                <a:spcPts val="100"/>
              </a:spcBef>
              <a:defRPr sz="950">
                <a:solidFill>
                  <a:srgbClr val="475569"/>
                </a:solidFill>
                <a:latin typeface="Aptos"/>
              </a:defRPr>
            </a:pPr>
            <a:r>
              <a:t>Low-code agent/workflow orchestration platform</a:t>
            </a:r>
          </a:p>
        </p:txBody>
      </p:sp>
      <p:sp>
        <p:nvSpPr>
          <p:cNvPr id="6" name="Rounded Rectangle 5"/>
          <p:cNvSpPr/>
          <p:nvPr/>
        </p:nvSpPr>
        <p:spPr>
          <a:xfrm>
            <a:off x="713232" y="1947672"/>
            <a:ext cx="2834640" cy="585216"/>
          </a:xfrm>
          <a:prstGeom prst="roundRect">
            <a:avLst/>
          </a:prstGeom>
          <a:solidFill>
            <a:srgbClr val="FFFFFF"/>
          </a:solidFill>
          <a:ln w="1270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l">
              <a:defRPr sz="1400" b="1">
                <a:solidFill>
                  <a:srgbClr val="059669"/>
                </a:solidFill>
                <a:latin typeface="Aptos"/>
              </a:defRPr>
            </a:pPr>
            <a:r>
              <a:t>LLM</a:t>
            </a:r>
          </a:p>
        </p:txBody>
      </p:sp>
      <p:sp>
        <p:nvSpPr>
          <p:cNvPr id="7" name="Rounded Rectangle 6"/>
          <p:cNvSpPr/>
          <p:nvPr/>
        </p:nvSpPr>
        <p:spPr>
          <a:xfrm>
            <a:off x="3703320" y="1947672"/>
            <a:ext cx="7726679" cy="585216"/>
          </a:xfrm>
          <a:prstGeom prst="roundRect">
            <a:avLst/>
          </a:prstGeom>
          <a:solidFill>
            <a:srgbClr val="F8FAFC"/>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l">
              <a:defRPr sz="1400" b="1">
                <a:solidFill>
                  <a:srgbClr val="0F172A"/>
                </a:solidFill>
                <a:latin typeface="Aptos"/>
              </a:defRPr>
            </a:pPr>
            <a:r>
              <a:t>OpenAI gpt-4o-mini</a:t>
            </a:r>
          </a:p>
          <a:p>
            <a:pPr>
              <a:spcBef>
                <a:spcPts val="100"/>
              </a:spcBef>
              <a:defRPr sz="950">
                <a:solidFill>
                  <a:srgbClr val="475569"/>
                </a:solidFill>
                <a:latin typeface="Aptos"/>
              </a:defRPr>
            </a:pPr>
            <a:r>
              <a:t>Reasoning, intent understanding and response generation</a:t>
            </a:r>
          </a:p>
        </p:txBody>
      </p:sp>
      <p:sp>
        <p:nvSpPr>
          <p:cNvPr id="8" name="Rounded Rectangle 7"/>
          <p:cNvSpPr/>
          <p:nvPr/>
        </p:nvSpPr>
        <p:spPr>
          <a:xfrm>
            <a:off x="713232" y="2660904"/>
            <a:ext cx="2834640" cy="585216"/>
          </a:xfrm>
          <a:prstGeom prst="roundRect">
            <a:avLst/>
          </a:prstGeom>
          <a:solidFill>
            <a:srgbClr val="FFFF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l">
              <a:defRPr sz="1400" b="1">
                <a:solidFill>
                  <a:srgbClr val="2563EB"/>
                </a:solidFill>
                <a:latin typeface="Aptos"/>
              </a:defRPr>
            </a:pPr>
            <a:r>
              <a:t>Observability</a:t>
            </a:r>
          </a:p>
        </p:txBody>
      </p:sp>
      <p:sp>
        <p:nvSpPr>
          <p:cNvPr id="9" name="Rounded Rectangle 8"/>
          <p:cNvSpPr/>
          <p:nvPr/>
        </p:nvSpPr>
        <p:spPr>
          <a:xfrm>
            <a:off x="3703320" y="2660904"/>
            <a:ext cx="7726679" cy="585216"/>
          </a:xfrm>
          <a:prstGeom prst="roundRect">
            <a:avLst/>
          </a:prstGeom>
          <a:solidFill>
            <a:srgbClr val="F8FAFC"/>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l">
              <a:defRPr sz="1400" b="1">
                <a:solidFill>
                  <a:srgbClr val="0F172A"/>
                </a:solidFill>
                <a:latin typeface="Aptos"/>
              </a:defRPr>
            </a:pPr>
            <a:r>
              <a:t>Langfuse</a:t>
            </a:r>
          </a:p>
          <a:p>
            <a:pPr>
              <a:spcBef>
                <a:spcPts val="100"/>
              </a:spcBef>
              <a:defRPr sz="950">
                <a:solidFill>
                  <a:srgbClr val="475569"/>
                </a:solidFill>
                <a:latin typeface="Aptos"/>
              </a:defRPr>
            </a:pPr>
            <a:r>
              <a:t>Execution traces, latency, tokens and cost monitoring</a:t>
            </a:r>
          </a:p>
        </p:txBody>
      </p:sp>
      <p:sp>
        <p:nvSpPr>
          <p:cNvPr id="10" name="Rounded Rectangle 9"/>
          <p:cNvSpPr/>
          <p:nvPr/>
        </p:nvSpPr>
        <p:spPr>
          <a:xfrm>
            <a:off x="713232" y="3374136"/>
            <a:ext cx="2834640" cy="585216"/>
          </a:xfrm>
          <a:prstGeom prst="roundRect">
            <a:avLst/>
          </a:prstGeom>
          <a:solidFill>
            <a:srgbClr val="FFFFFF"/>
          </a:solidFill>
          <a:ln w="1270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l">
              <a:defRPr sz="1400" b="1">
                <a:solidFill>
                  <a:srgbClr val="059669"/>
                </a:solidFill>
                <a:latin typeface="Aptos"/>
              </a:defRPr>
            </a:pPr>
            <a:r>
              <a:t>Workflow export</a:t>
            </a:r>
          </a:p>
        </p:txBody>
      </p:sp>
      <p:sp>
        <p:nvSpPr>
          <p:cNvPr id="11" name="Rounded Rectangle 10"/>
          <p:cNvSpPr/>
          <p:nvPr/>
        </p:nvSpPr>
        <p:spPr>
          <a:xfrm>
            <a:off x="3703320" y="3374136"/>
            <a:ext cx="7726679" cy="585216"/>
          </a:xfrm>
          <a:prstGeom prst="roundRect">
            <a:avLst/>
          </a:prstGeom>
          <a:solidFill>
            <a:srgbClr val="F8FAFC"/>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l">
              <a:defRPr sz="1400" b="1">
                <a:solidFill>
                  <a:srgbClr val="0F172A"/>
                </a:solidFill>
                <a:latin typeface="Aptos"/>
              </a:defRPr>
            </a:pPr>
            <a:r>
              <a:t>JSON</a:t>
            </a:r>
          </a:p>
          <a:p>
            <a:pPr>
              <a:spcBef>
                <a:spcPts val="100"/>
              </a:spcBef>
              <a:defRPr sz="950">
                <a:solidFill>
                  <a:srgbClr val="475569"/>
                </a:solidFill>
                <a:latin typeface="Aptos"/>
              </a:defRPr>
            </a:pPr>
            <a:r>
              <a:t>Portable Langflow workflow export for GitHub submission</a:t>
            </a:r>
          </a:p>
        </p:txBody>
      </p:sp>
      <p:sp>
        <p:nvSpPr>
          <p:cNvPr id="12" name="Rounded Rectangle 11"/>
          <p:cNvSpPr/>
          <p:nvPr/>
        </p:nvSpPr>
        <p:spPr>
          <a:xfrm>
            <a:off x="713232" y="4087368"/>
            <a:ext cx="2834640" cy="585216"/>
          </a:xfrm>
          <a:prstGeom prst="roundRect">
            <a:avLst/>
          </a:prstGeom>
          <a:solidFill>
            <a:srgbClr val="FFFF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l">
              <a:defRPr sz="1400" b="1">
                <a:solidFill>
                  <a:srgbClr val="2563EB"/>
                </a:solidFill>
                <a:latin typeface="Aptos"/>
              </a:defRPr>
            </a:pPr>
            <a:r>
              <a:t>Validated tools</a:t>
            </a:r>
          </a:p>
        </p:txBody>
      </p:sp>
      <p:sp>
        <p:nvSpPr>
          <p:cNvPr id="13" name="Rounded Rectangle 12"/>
          <p:cNvSpPr/>
          <p:nvPr/>
        </p:nvSpPr>
        <p:spPr>
          <a:xfrm>
            <a:off x="3703320" y="4087368"/>
            <a:ext cx="7726679" cy="585216"/>
          </a:xfrm>
          <a:prstGeom prst="roundRect">
            <a:avLst/>
          </a:prstGeom>
          <a:solidFill>
            <a:srgbClr val="F8FAFC"/>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l">
              <a:defRPr sz="1400" b="1">
                <a:solidFill>
                  <a:srgbClr val="0F172A"/>
                </a:solidFill>
                <a:latin typeface="Aptos"/>
              </a:defRPr>
            </a:pPr>
            <a:r>
              <a:t>Mock Calendar + Mock Gmail</a:t>
            </a:r>
          </a:p>
          <a:p>
            <a:pPr>
              <a:spcBef>
                <a:spcPts val="100"/>
              </a:spcBef>
              <a:defRPr sz="950">
                <a:solidFill>
                  <a:srgbClr val="475569"/>
                </a:solidFill>
                <a:latin typeface="Aptos"/>
              </a:defRPr>
            </a:pPr>
            <a:r>
              <a:t>Controlled tools used in the validated baseline test path</a:t>
            </a:r>
          </a:p>
        </p:txBody>
      </p:sp>
      <p:sp>
        <p:nvSpPr>
          <p:cNvPr id="14" name="Rounded Rectangle 13"/>
          <p:cNvSpPr/>
          <p:nvPr/>
        </p:nvSpPr>
        <p:spPr>
          <a:xfrm>
            <a:off x="713232" y="4800600"/>
            <a:ext cx="2834640" cy="585216"/>
          </a:xfrm>
          <a:prstGeom prst="roundRect">
            <a:avLst/>
          </a:prstGeom>
          <a:solidFill>
            <a:srgbClr val="FFFFFF"/>
          </a:solidFill>
          <a:ln w="1270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l">
              <a:defRPr sz="1400" b="1">
                <a:solidFill>
                  <a:srgbClr val="059669"/>
                </a:solidFill>
                <a:latin typeface="Aptos"/>
              </a:defRPr>
            </a:pPr>
            <a:r>
              <a:t>API components present</a:t>
            </a:r>
          </a:p>
        </p:txBody>
      </p:sp>
      <p:sp>
        <p:nvSpPr>
          <p:cNvPr id="15" name="Rounded Rectangle 14"/>
          <p:cNvSpPr/>
          <p:nvPr/>
        </p:nvSpPr>
        <p:spPr>
          <a:xfrm>
            <a:off x="3703320" y="4800600"/>
            <a:ext cx="7726679" cy="585216"/>
          </a:xfrm>
          <a:prstGeom prst="roundRect">
            <a:avLst/>
          </a:prstGeom>
          <a:solidFill>
            <a:srgbClr val="F8FAFC"/>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l">
              <a:defRPr sz="1400" b="1">
                <a:solidFill>
                  <a:srgbClr val="0F172A"/>
                </a:solidFill>
                <a:latin typeface="Aptos"/>
              </a:defRPr>
            </a:pPr>
            <a:r>
              <a:t>Google Calendar Read/Write + Gmail Read</a:t>
            </a:r>
          </a:p>
          <a:p>
            <a:pPr>
              <a:spcBef>
                <a:spcPts val="100"/>
              </a:spcBef>
              <a:defRPr sz="950">
                <a:solidFill>
                  <a:srgbClr val="475569"/>
                </a:solidFill>
                <a:latin typeface="Aptos"/>
              </a:defRPr>
            </a:pPr>
            <a:r>
              <a:t>Live integration components are present in JSON; not connected in the validated graph</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10972800" cy="594360"/>
          </a:xfrm>
          <a:prstGeom prst="rect">
            <a:avLst/>
          </a:prstGeom>
          <a:noFill/>
        </p:spPr>
        <p:txBody>
          <a:bodyPr wrap="none">
            <a:spAutoFit/>
          </a:bodyPr>
          <a:lstStyle/>
          <a:p>
            <a:pPr>
              <a:defRPr sz="2800" b="1">
                <a:solidFill>
                  <a:srgbClr val="0F172A"/>
                </a:solidFill>
              </a:defRPr>
            </a:pPr>
            <a:r>
              <a:t>5. Orchestration Pattern</a:t>
            </a:r>
          </a:p>
        </p:txBody>
      </p:sp>
      <p:sp>
        <p:nvSpPr>
          <p:cNvPr id="4" name="TextBox 3"/>
          <p:cNvSpPr txBox="1"/>
          <p:nvPr/>
        </p:nvSpPr>
        <p:spPr>
          <a:xfrm>
            <a:off x="621792" y="932688"/>
            <a:ext cx="10789920" cy="411480"/>
          </a:xfrm>
          <a:prstGeom prst="rect">
            <a:avLst/>
          </a:prstGeom>
          <a:noFill/>
        </p:spPr>
        <p:txBody>
          <a:bodyPr wrap="none">
            <a:spAutoFit/>
          </a:bodyPr>
          <a:lstStyle/>
          <a:p>
            <a:pPr>
              <a:defRPr sz="1300">
                <a:solidFill>
                  <a:srgbClr val="475569"/>
                </a:solidFill>
              </a:defRPr>
            </a:pPr>
            <a:r>
              <a:t>Router / Dispatcher</a:t>
            </a:r>
          </a:p>
        </p:txBody>
      </p:sp>
      <p:sp>
        <p:nvSpPr>
          <p:cNvPr id="5" name="Rounded Rectangle 4"/>
          <p:cNvSpPr/>
          <p:nvPr/>
        </p:nvSpPr>
        <p:spPr>
          <a:xfrm>
            <a:off x="731520" y="1417320"/>
            <a:ext cx="3108960" cy="1828800"/>
          </a:xfrm>
          <a:prstGeom prst="roundRect">
            <a:avLst/>
          </a:prstGeom>
          <a:solidFill>
            <a:srgbClr val="F1F5F9"/>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96112" y="1545336"/>
            <a:ext cx="2779776" cy="384048"/>
          </a:xfrm>
          <a:prstGeom prst="rect">
            <a:avLst/>
          </a:prstGeom>
          <a:noFill/>
        </p:spPr>
        <p:txBody>
          <a:bodyPr wrap="none">
            <a:spAutoFit/>
          </a:bodyPr>
          <a:lstStyle/>
          <a:p>
            <a:pPr>
              <a:defRPr sz="1500" b="1">
                <a:solidFill>
                  <a:srgbClr val="2563EB"/>
                </a:solidFill>
              </a:defRPr>
            </a:pPr>
            <a:r>
              <a:t>Why Router?</a:t>
            </a:r>
          </a:p>
        </p:txBody>
      </p:sp>
      <p:sp>
        <p:nvSpPr>
          <p:cNvPr id="7" name="TextBox 6"/>
          <p:cNvSpPr txBox="1"/>
          <p:nvPr/>
        </p:nvSpPr>
        <p:spPr>
          <a:xfrm>
            <a:off x="896112" y="1984248"/>
            <a:ext cx="2779776" cy="1143000"/>
          </a:xfrm>
          <a:prstGeom prst="rect">
            <a:avLst/>
          </a:prstGeom>
          <a:noFill/>
        </p:spPr>
        <p:txBody>
          <a:bodyPr wrap="square">
            <a:spAutoFit/>
          </a:bodyPr>
          <a:lstStyle/>
          <a:p>
            <a:pPr>
              <a:defRPr sz="1200">
                <a:solidFill>
                  <a:srgbClr val="0F172A"/>
                </a:solidFill>
              </a:defRPr>
            </a:pPr>
            <a:r>
              <a:t>Requests are heterogeneous. Each request should continue only through the relevant specialist.</a:t>
            </a:r>
          </a:p>
        </p:txBody>
      </p:sp>
      <p:sp>
        <p:nvSpPr>
          <p:cNvPr id="8" name="Rounded Rectangle 7"/>
          <p:cNvSpPr/>
          <p:nvPr/>
        </p:nvSpPr>
        <p:spPr>
          <a:xfrm>
            <a:off x="4160520" y="1417320"/>
            <a:ext cx="3108960" cy="1828800"/>
          </a:xfrm>
          <a:prstGeom prst="roundRect">
            <a:avLst/>
          </a:prstGeom>
          <a:solidFill>
            <a:srgbClr val="F1F5F9"/>
          </a:solidFill>
          <a:ln>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325112" y="1545336"/>
            <a:ext cx="2779776" cy="384048"/>
          </a:xfrm>
          <a:prstGeom prst="rect">
            <a:avLst/>
          </a:prstGeom>
          <a:noFill/>
        </p:spPr>
        <p:txBody>
          <a:bodyPr wrap="none">
            <a:spAutoFit/>
          </a:bodyPr>
          <a:lstStyle/>
          <a:p>
            <a:pPr>
              <a:defRPr sz="1500" b="1">
                <a:solidFill>
                  <a:srgbClr val="059669"/>
                </a:solidFill>
              </a:defRPr>
            </a:pPr>
            <a:r>
              <a:t>Why not Sequential?</a:t>
            </a:r>
          </a:p>
        </p:txBody>
      </p:sp>
      <p:sp>
        <p:nvSpPr>
          <p:cNvPr id="10" name="TextBox 9"/>
          <p:cNvSpPr txBox="1"/>
          <p:nvPr/>
        </p:nvSpPr>
        <p:spPr>
          <a:xfrm>
            <a:off x="4325112" y="1984248"/>
            <a:ext cx="2779776" cy="1143000"/>
          </a:xfrm>
          <a:prstGeom prst="rect">
            <a:avLst/>
          </a:prstGeom>
          <a:noFill/>
        </p:spPr>
        <p:txBody>
          <a:bodyPr wrap="square">
            <a:spAutoFit/>
          </a:bodyPr>
          <a:lstStyle/>
          <a:p>
            <a:pPr>
              <a:defRPr sz="1200">
                <a:solidFill>
                  <a:srgbClr val="0F172A"/>
                </a:solidFill>
              </a:defRPr>
            </a:pPr>
            <a:r>
              <a:t>A fixed sequence would execute unrelated agents and add unnecessary latency/cost.</a:t>
            </a:r>
          </a:p>
        </p:txBody>
      </p:sp>
      <p:sp>
        <p:nvSpPr>
          <p:cNvPr id="11" name="Rounded Rectangle 10"/>
          <p:cNvSpPr/>
          <p:nvPr/>
        </p:nvSpPr>
        <p:spPr>
          <a:xfrm>
            <a:off x="7589520" y="1417320"/>
            <a:ext cx="3108960" cy="1828800"/>
          </a:xfrm>
          <a:prstGeom prst="roundRect">
            <a:avLst/>
          </a:prstGeom>
          <a:solidFill>
            <a:srgbClr val="F1F5F9"/>
          </a:solidFill>
          <a:ln>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754112" y="1545336"/>
            <a:ext cx="2779776" cy="384048"/>
          </a:xfrm>
          <a:prstGeom prst="rect">
            <a:avLst/>
          </a:prstGeom>
          <a:noFill/>
        </p:spPr>
        <p:txBody>
          <a:bodyPr wrap="none">
            <a:spAutoFit/>
          </a:bodyPr>
          <a:lstStyle/>
          <a:p>
            <a:pPr>
              <a:defRPr sz="1500" b="1">
                <a:solidFill>
                  <a:srgbClr val="7C3AED"/>
                </a:solidFill>
              </a:defRPr>
            </a:pPr>
            <a:r>
              <a:t>Why not Hierarchical?</a:t>
            </a:r>
          </a:p>
        </p:txBody>
      </p:sp>
      <p:sp>
        <p:nvSpPr>
          <p:cNvPr id="13" name="TextBox 12"/>
          <p:cNvSpPr txBox="1"/>
          <p:nvPr/>
        </p:nvSpPr>
        <p:spPr>
          <a:xfrm>
            <a:off x="7754112" y="1984248"/>
            <a:ext cx="2779776" cy="1143000"/>
          </a:xfrm>
          <a:prstGeom prst="rect">
            <a:avLst/>
          </a:prstGeom>
          <a:noFill/>
        </p:spPr>
        <p:txBody>
          <a:bodyPr wrap="square">
            <a:spAutoFit/>
          </a:bodyPr>
          <a:lstStyle/>
          <a:p>
            <a:pPr>
              <a:defRPr sz="1200">
                <a:solidFill>
                  <a:srgbClr val="0F172A"/>
                </a:solidFill>
              </a:defRPr>
            </a:pPr>
            <a:r>
              <a:t>The current request types do not require complex task decomposition.</a:t>
            </a:r>
          </a:p>
        </p:txBody>
      </p:sp>
      <p:sp>
        <p:nvSpPr>
          <p:cNvPr id="14" name="TextBox 13"/>
          <p:cNvSpPr txBox="1"/>
          <p:nvPr/>
        </p:nvSpPr>
        <p:spPr>
          <a:xfrm>
            <a:off x="822960" y="3886200"/>
            <a:ext cx="10515600" cy="914400"/>
          </a:xfrm>
          <a:prstGeom prst="rect">
            <a:avLst/>
          </a:prstGeom>
          <a:noFill/>
        </p:spPr>
        <p:txBody>
          <a:bodyPr wrap="square">
            <a:spAutoFit/>
          </a:bodyPr>
          <a:lstStyle/>
          <a:p>
            <a:pPr>
              <a:spcAft>
                <a:spcPts val="1000"/>
              </a:spcAft>
              <a:defRPr sz="1800">
                <a:solidFill>
                  <a:srgbClr val="0F172A"/>
                </a:solidFill>
              </a:defRPr>
            </a:pPr>
            <a:r>
              <a:t>Implementation detail: three parallel custom route filters feed Scheduler, Email and Follow-Up agents.</a:t>
            </a:r>
          </a:p>
        </p:txBody>
      </p:sp>
      <p:sp>
        <p:nvSpPr>
          <p:cNvPr id="15" name="TextBox 14"/>
          <p:cNvSpPr txBox="1"/>
          <p:nvPr/>
        </p:nvSpPr>
        <p:spPr>
          <a:xfrm>
            <a:off x="594360" y="6446520"/>
            <a:ext cx="10972800" cy="228600"/>
          </a:xfrm>
          <a:prstGeom prst="rect">
            <a:avLst/>
          </a:prstGeom>
          <a:noFill/>
        </p:spPr>
        <p:txBody>
          <a:bodyPr wrap="none">
            <a:spAutoFit/>
          </a:bodyPr>
          <a:lstStyle/>
          <a:p>
            <a:pPr>
              <a:defRPr sz="900">
                <a:solidFill>
                  <a:srgbClr val="475569"/>
                </a:solidFill>
              </a:defRPr>
            </a:pPr>
            <a:r>
              <a:t>CalendarMate  |  Mahesh P Zade  |  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10972800" cy="594360"/>
          </a:xfrm>
          <a:prstGeom prst="rect">
            <a:avLst/>
          </a:prstGeom>
          <a:noFill/>
        </p:spPr>
        <p:txBody>
          <a:bodyPr wrap="none">
            <a:spAutoFit/>
          </a:bodyPr>
          <a:lstStyle/>
          <a:p>
            <a:pPr>
              <a:defRPr sz="2800" b="1">
                <a:solidFill>
                  <a:srgbClr val="0F172A"/>
                </a:solidFill>
              </a:defRPr>
            </a:pPr>
            <a:r>
              <a:t>6. CalendarMate Architecture</a:t>
            </a:r>
          </a:p>
        </p:txBody>
      </p:sp>
      <p:sp>
        <p:nvSpPr>
          <p:cNvPr id="4" name="TextBox 3"/>
          <p:cNvSpPr txBox="1"/>
          <p:nvPr/>
        </p:nvSpPr>
        <p:spPr>
          <a:xfrm>
            <a:off x="621792" y="932688"/>
            <a:ext cx="10789920" cy="411480"/>
          </a:xfrm>
          <a:prstGeom prst="rect">
            <a:avLst/>
          </a:prstGeom>
          <a:noFill/>
        </p:spPr>
        <p:txBody>
          <a:bodyPr wrap="none">
            <a:spAutoFit/>
          </a:bodyPr>
          <a:lstStyle/>
          <a:p>
            <a:pPr>
              <a:defRPr sz="1300">
                <a:solidFill>
                  <a:srgbClr val="475569"/>
                </a:solidFill>
              </a:defRPr>
            </a:pPr>
            <a:r>
              <a:t>Validated exported graph</a:t>
            </a:r>
          </a:p>
        </p:txBody>
      </p:sp>
      <p:pic>
        <p:nvPicPr>
          <p:cNvPr id="5" name="Picture 4" descr="architecture-diagram.png"/>
          <p:cNvPicPr>
            <a:picLocks noChangeAspect="1"/>
          </p:cNvPicPr>
          <p:nvPr/>
        </p:nvPicPr>
        <p:blipFill>
          <a:blip r:embed="rId3"/>
          <a:stretch>
            <a:fillRect/>
          </a:stretch>
        </p:blipFill>
        <p:spPr>
          <a:xfrm>
            <a:off x="502920" y="1097280"/>
            <a:ext cx="11201400" cy="7649518"/>
          </a:xfrm>
          <a:prstGeom prst="rect">
            <a:avLst/>
          </a:prstGeom>
        </p:spPr>
      </p:pic>
      <p:sp>
        <p:nvSpPr>
          <p:cNvPr id="6" name="TextBox 5"/>
          <p:cNvSpPr txBox="1"/>
          <p:nvPr/>
        </p:nvSpPr>
        <p:spPr>
          <a:xfrm>
            <a:off x="594360" y="6446520"/>
            <a:ext cx="10972800" cy="228600"/>
          </a:xfrm>
          <a:prstGeom prst="rect">
            <a:avLst/>
          </a:prstGeom>
          <a:noFill/>
        </p:spPr>
        <p:txBody>
          <a:bodyPr wrap="none">
            <a:spAutoFit/>
          </a:bodyPr>
          <a:lstStyle/>
          <a:p>
            <a:pPr>
              <a:defRPr sz="900">
                <a:solidFill>
                  <a:srgbClr val="475569"/>
                </a:solidFill>
              </a:defRPr>
            </a:pPr>
            <a:r>
              <a:t>CalendarMate  |  Mahesh P Zade  |  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10972800" cy="594360"/>
          </a:xfrm>
          <a:prstGeom prst="rect">
            <a:avLst/>
          </a:prstGeom>
          <a:noFill/>
        </p:spPr>
        <p:txBody>
          <a:bodyPr wrap="none">
            <a:spAutoFit/>
          </a:bodyPr>
          <a:lstStyle/>
          <a:p>
            <a:pPr>
              <a:defRPr sz="2800" b="1">
                <a:solidFill>
                  <a:srgbClr val="0F172A"/>
                </a:solidFill>
              </a:defRPr>
            </a:pPr>
            <a:r>
              <a:t>7. Architecture — Component Responsibilities</a:t>
            </a:r>
          </a:p>
        </p:txBody>
      </p:sp>
      <p:sp>
        <p:nvSpPr>
          <p:cNvPr id="4" name="Rounded Rectangle 3"/>
          <p:cNvSpPr/>
          <p:nvPr/>
        </p:nvSpPr>
        <p:spPr>
          <a:xfrm>
            <a:off x="594360" y="1234440"/>
            <a:ext cx="2743200" cy="1417320"/>
          </a:xfrm>
          <a:prstGeom prst="roundRect">
            <a:avLst/>
          </a:prstGeom>
          <a:solidFill>
            <a:srgbClr val="F1F5F9"/>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58952" y="1362456"/>
            <a:ext cx="2414016" cy="384048"/>
          </a:xfrm>
          <a:prstGeom prst="rect">
            <a:avLst/>
          </a:prstGeom>
          <a:noFill/>
        </p:spPr>
        <p:txBody>
          <a:bodyPr wrap="none">
            <a:spAutoFit/>
          </a:bodyPr>
          <a:lstStyle/>
          <a:p>
            <a:pPr>
              <a:defRPr sz="1500" b="1">
                <a:solidFill>
                  <a:srgbClr val="2563EB"/>
                </a:solidFill>
              </a:defRPr>
            </a:pPr>
            <a:r>
              <a:t>Chat Input</a:t>
            </a:r>
          </a:p>
        </p:txBody>
      </p:sp>
      <p:sp>
        <p:nvSpPr>
          <p:cNvPr id="6" name="TextBox 5"/>
          <p:cNvSpPr txBox="1"/>
          <p:nvPr/>
        </p:nvSpPr>
        <p:spPr>
          <a:xfrm>
            <a:off x="758952" y="1801368"/>
            <a:ext cx="2414016" cy="731520"/>
          </a:xfrm>
          <a:prstGeom prst="rect">
            <a:avLst/>
          </a:prstGeom>
          <a:noFill/>
        </p:spPr>
        <p:txBody>
          <a:bodyPr wrap="square">
            <a:spAutoFit/>
          </a:bodyPr>
          <a:lstStyle/>
          <a:p>
            <a:pPr>
              <a:defRPr sz="1200">
                <a:solidFill>
                  <a:srgbClr val="0F172A"/>
                </a:solidFill>
              </a:defRPr>
            </a:pPr>
            <a:r>
              <a:t>Single natural-language entry point.</a:t>
            </a:r>
          </a:p>
        </p:txBody>
      </p:sp>
      <p:sp>
        <p:nvSpPr>
          <p:cNvPr id="7" name="Rounded Rectangle 6"/>
          <p:cNvSpPr/>
          <p:nvPr/>
        </p:nvSpPr>
        <p:spPr>
          <a:xfrm>
            <a:off x="3520440" y="1234440"/>
            <a:ext cx="2743200" cy="1417320"/>
          </a:xfrm>
          <a:prstGeom prst="roundRect">
            <a:avLst/>
          </a:prstGeom>
          <a:solidFill>
            <a:srgbClr val="F1F5F9"/>
          </a:solidFill>
          <a:ln>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685032" y="1362456"/>
            <a:ext cx="2414016" cy="384048"/>
          </a:xfrm>
          <a:prstGeom prst="rect">
            <a:avLst/>
          </a:prstGeom>
          <a:noFill/>
        </p:spPr>
        <p:txBody>
          <a:bodyPr wrap="none">
            <a:spAutoFit/>
          </a:bodyPr>
          <a:lstStyle/>
          <a:p>
            <a:pPr>
              <a:defRPr sz="1500" b="1">
                <a:solidFill>
                  <a:srgbClr val="059669"/>
                </a:solidFill>
              </a:defRPr>
            </a:pPr>
            <a:r>
              <a:t>Route Filters</a:t>
            </a:r>
          </a:p>
        </p:txBody>
      </p:sp>
      <p:sp>
        <p:nvSpPr>
          <p:cNvPr id="9" name="TextBox 8"/>
          <p:cNvSpPr txBox="1"/>
          <p:nvPr/>
        </p:nvSpPr>
        <p:spPr>
          <a:xfrm>
            <a:off x="3685032" y="1801368"/>
            <a:ext cx="2414016" cy="731520"/>
          </a:xfrm>
          <a:prstGeom prst="rect">
            <a:avLst/>
          </a:prstGeom>
          <a:noFill/>
        </p:spPr>
        <p:txBody>
          <a:bodyPr wrap="square">
            <a:spAutoFit/>
          </a:bodyPr>
          <a:lstStyle/>
          <a:p>
            <a:pPr>
              <a:defRPr sz="1200">
                <a:solidFill>
                  <a:srgbClr val="0F172A"/>
                </a:solidFill>
              </a:defRPr>
            </a:pPr>
            <a:r>
              <a:t>Scheduler / Email / Follow-Up intent dispatch.</a:t>
            </a:r>
          </a:p>
        </p:txBody>
      </p:sp>
      <p:sp>
        <p:nvSpPr>
          <p:cNvPr id="10" name="Rounded Rectangle 9"/>
          <p:cNvSpPr/>
          <p:nvPr/>
        </p:nvSpPr>
        <p:spPr>
          <a:xfrm>
            <a:off x="6446520" y="1234440"/>
            <a:ext cx="2468880" cy="1417320"/>
          </a:xfrm>
          <a:prstGeom prst="roundRect">
            <a:avLst/>
          </a:prstGeom>
          <a:solidFill>
            <a:srgbClr val="F1F5F9"/>
          </a:solidFill>
          <a:ln>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611112" y="1362456"/>
            <a:ext cx="2139696" cy="384048"/>
          </a:xfrm>
          <a:prstGeom prst="rect">
            <a:avLst/>
          </a:prstGeom>
          <a:noFill/>
        </p:spPr>
        <p:txBody>
          <a:bodyPr wrap="none">
            <a:spAutoFit/>
          </a:bodyPr>
          <a:lstStyle/>
          <a:p>
            <a:pPr>
              <a:defRPr sz="1500" b="1">
                <a:solidFill>
                  <a:srgbClr val="7C3AED"/>
                </a:solidFill>
              </a:defRPr>
            </a:pPr>
            <a:r>
              <a:t>Specialist Agents</a:t>
            </a:r>
          </a:p>
        </p:txBody>
      </p:sp>
      <p:sp>
        <p:nvSpPr>
          <p:cNvPr id="12" name="TextBox 11"/>
          <p:cNvSpPr txBox="1"/>
          <p:nvPr/>
        </p:nvSpPr>
        <p:spPr>
          <a:xfrm>
            <a:off x="6611112" y="1801368"/>
            <a:ext cx="2139696" cy="731520"/>
          </a:xfrm>
          <a:prstGeom prst="rect">
            <a:avLst/>
          </a:prstGeom>
          <a:noFill/>
        </p:spPr>
        <p:txBody>
          <a:bodyPr wrap="square">
            <a:spAutoFit/>
          </a:bodyPr>
          <a:lstStyle/>
          <a:p>
            <a:pPr>
              <a:defRPr sz="1200">
                <a:solidFill>
                  <a:srgbClr val="0F172A"/>
                </a:solidFill>
              </a:defRPr>
            </a:pPr>
            <a:r>
              <a:t>Scheduler, Email, Follow-Up.</a:t>
            </a:r>
          </a:p>
        </p:txBody>
      </p:sp>
      <p:sp>
        <p:nvSpPr>
          <p:cNvPr id="13" name="Rounded Rectangle 12"/>
          <p:cNvSpPr/>
          <p:nvPr/>
        </p:nvSpPr>
        <p:spPr>
          <a:xfrm>
            <a:off x="9098280" y="1234440"/>
            <a:ext cx="2468880" cy="1417320"/>
          </a:xfrm>
          <a:prstGeom prst="roundRect">
            <a:avLst/>
          </a:prstGeom>
          <a:solidFill>
            <a:srgbClr val="F1F5F9"/>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262872" y="1362456"/>
            <a:ext cx="2139696" cy="384048"/>
          </a:xfrm>
          <a:prstGeom prst="rect">
            <a:avLst/>
          </a:prstGeom>
          <a:noFill/>
        </p:spPr>
        <p:txBody>
          <a:bodyPr wrap="none">
            <a:spAutoFit/>
          </a:bodyPr>
          <a:lstStyle/>
          <a:p>
            <a:pPr>
              <a:defRPr sz="1500" b="1">
                <a:solidFill>
                  <a:srgbClr val="F59E0B"/>
                </a:solidFill>
              </a:defRPr>
            </a:pPr>
            <a:r>
              <a:t>Tools</a:t>
            </a:r>
          </a:p>
        </p:txBody>
      </p:sp>
      <p:sp>
        <p:nvSpPr>
          <p:cNvPr id="15" name="TextBox 14"/>
          <p:cNvSpPr txBox="1"/>
          <p:nvPr/>
        </p:nvSpPr>
        <p:spPr>
          <a:xfrm>
            <a:off x="9262872" y="1801368"/>
            <a:ext cx="2139696" cy="731520"/>
          </a:xfrm>
          <a:prstGeom prst="rect">
            <a:avLst/>
          </a:prstGeom>
          <a:noFill/>
        </p:spPr>
        <p:txBody>
          <a:bodyPr wrap="square">
            <a:spAutoFit/>
          </a:bodyPr>
          <a:lstStyle/>
          <a:p>
            <a:pPr>
              <a:defRPr sz="1200">
                <a:solidFill>
                  <a:srgbClr val="0F172A"/>
                </a:solidFill>
              </a:defRPr>
            </a:pPr>
            <a:r>
              <a:t>Mock Calendar / Mock Gmail in validated path.</a:t>
            </a:r>
          </a:p>
        </p:txBody>
      </p:sp>
      <p:sp>
        <p:nvSpPr>
          <p:cNvPr id="16" name="Rounded Rectangle 15"/>
          <p:cNvSpPr/>
          <p:nvPr/>
        </p:nvSpPr>
        <p:spPr>
          <a:xfrm>
            <a:off x="1280160" y="3063240"/>
            <a:ext cx="3108960" cy="1417320"/>
          </a:xfrm>
          <a:prstGeom prst="roundRect">
            <a:avLst/>
          </a:prstGeom>
          <a:solidFill>
            <a:srgbClr val="F1F5F9"/>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444751" y="3191256"/>
            <a:ext cx="2779776" cy="384048"/>
          </a:xfrm>
          <a:prstGeom prst="rect">
            <a:avLst/>
          </a:prstGeom>
          <a:noFill/>
        </p:spPr>
        <p:txBody>
          <a:bodyPr wrap="none">
            <a:spAutoFit/>
          </a:bodyPr>
          <a:lstStyle/>
          <a:p>
            <a:pPr>
              <a:defRPr sz="1500" b="1">
                <a:solidFill>
                  <a:srgbClr val="2563EB"/>
                </a:solidFill>
              </a:defRPr>
            </a:pPr>
            <a:r>
              <a:t>Prompt Layer</a:t>
            </a:r>
          </a:p>
        </p:txBody>
      </p:sp>
      <p:sp>
        <p:nvSpPr>
          <p:cNvPr id="18" name="TextBox 17"/>
          <p:cNvSpPr txBox="1"/>
          <p:nvPr/>
        </p:nvSpPr>
        <p:spPr>
          <a:xfrm>
            <a:off x="1444751" y="3630168"/>
            <a:ext cx="2779776" cy="731520"/>
          </a:xfrm>
          <a:prstGeom prst="rect">
            <a:avLst/>
          </a:prstGeom>
          <a:noFill/>
        </p:spPr>
        <p:txBody>
          <a:bodyPr wrap="square">
            <a:spAutoFit/>
          </a:bodyPr>
          <a:lstStyle/>
          <a:p>
            <a:pPr>
              <a:defRPr sz="1200">
                <a:solidFill>
                  <a:srgbClr val="0F172A"/>
                </a:solidFill>
              </a:defRPr>
            </a:pPr>
            <a:r>
              <a:t>Grounding, scope and clarification rules.</a:t>
            </a:r>
          </a:p>
        </p:txBody>
      </p:sp>
      <p:sp>
        <p:nvSpPr>
          <p:cNvPr id="19" name="Rounded Rectangle 18"/>
          <p:cNvSpPr/>
          <p:nvPr/>
        </p:nvSpPr>
        <p:spPr>
          <a:xfrm>
            <a:off x="4572000" y="3063240"/>
            <a:ext cx="3108960" cy="1417320"/>
          </a:xfrm>
          <a:prstGeom prst="roundRect">
            <a:avLst/>
          </a:prstGeom>
          <a:solidFill>
            <a:srgbClr val="F1F5F9"/>
          </a:solidFill>
          <a:ln>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736592" y="3191256"/>
            <a:ext cx="2779776" cy="384048"/>
          </a:xfrm>
          <a:prstGeom prst="rect">
            <a:avLst/>
          </a:prstGeom>
          <a:noFill/>
        </p:spPr>
        <p:txBody>
          <a:bodyPr wrap="none">
            <a:spAutoFit/>
          </a:bodyPr>
          <a:lstStyle/>
          <a:p>
            <a:pPr>
              <a:defRPr sz="1500" b="1">
                <a:solidFill>
                  <a:srgbClr val="059669"/>
                </a:solidFill>
              </a:defRPr>
            </a:pPr>
            <a:r>
              <a:t>Outputs</a:t>
            </a:r>
          </a:p>
        </p:txBody>
      </p:sp>
      <p:sp>
        <p:nvSpPr>
          <p:cNvPr id="21" name="TextBox 20"/>
          <p:cNvSpPr txBox="1"/>
          <p:nvPr/>
        </p:nvSpPr>
        <p:spPr>
          <a:xfrm>
            <a:off x="4736592" y="3630168"/>
            <a:ext cx="2779776" cy="731520"/>
          </a:xfrm>
          <a:prstGeom prst="rect">
            <a:avLst/>
          </a:prstGeom>
          <a:noFill/>
        </p:spPr>
        <p:txBody>
          <a:bodyPr wrap="square">
            <a:spAutoFit/>
          </a:bodyPr>
          <a:lstStyle/>
          <a:p>
            <a:pPr>
              <a:defRPr sz="1200">
                <a:solidFill>
                  <a:srgbClr val="0F172A"/>
                </a:solidFill>
              </a:defRPr>
            </a:pPr>
            <a:r>
              <a:t>Three Chat Output nodes return the selected result.</a:t>
            </a:r>
          </a:p>
        </p:txBody>
      </p:sp>
      <p:sp>
        <p:nvSpPr>
          <p:cNvPr id="22" name="Rounded Rectangle 21"/>
          <p:cNvSpPr/>
          <p:nvPr/>
        </p:nvSpPr>
        <p:spPr>
          <a:xfrm>
            <a:off x="7863840" y="3063240"/>
            <a:ext cx="3108960" cy="1417320"/>
          </a:xfrm>
          <a:prstGeom prst="roundRect">
            <a:avLst/>
          </a:prstGeom>
          <a:solidFill>
            <a:srgbClr val="F1F5F9"/>
          </a:solidFill>
          <a:ln>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028431" y="3191256"/>
            <a:ext cx="2779776" cy="384048"/>
          </a:xfrm>
          <a:prstGeom prst="rect">
            <a:avLst/>
          </a:prstGeom>
          <a:noFill/>
        </p:spPr>
        <p:txBody>
          <a:bodyPr wrap="none">
            <a:spAutoFit/>
          </a:bodyPr>
          <a:lstStyle/>
          <a:p>
            <a:pPr>
              <a:defRPr sz="1500" b="1">
                <a:solidFill>
                  <a:srgbClr val="7C3AED"/>
                </a:solidFill>
              </a:defRPr>
            </a:pPr>
            <a:r>
              <a:t>Observability</a:t>
            </a:r>
          </a:p>
        </p:txBody>
      </p:sp>
      <p:sp>
        <p:nvSpPr>
          <p:cNvPr id="24" name="TextBox 23"/>
          <p:cNvSpPr txBox="1"/>
          <p:nvPr/>
        </p:nvSpPr>
        <p:spPr>
          <a:xfrm>
            <a:off x="8028431" y="3630168"/>
            <a:ext cx="2779776" cy="731520"/>
          </a:xfrm>
          <a:prstGeom prst="rect">
            <a:avLst/>
          </a:prstGeom>
          <a:noFill/>
        </p:spPr>
        <p:txBody>
          <a:bodyPr wrap="square">
            <a:spAutoFit/>
          </a:bodyPr>
          <a:lstStyle/>
          <a:p>
            <a:pPr>
              <a:defRPr sz="1200">
                <a:solidFill>
                  <a:srgbClr val="0F172A"/>
                </a:solidFill>
              </a:defRPr>
            </a:pPr>
            <a:r>
              <a:t>Langfuse traces, tokens, latency and cost.</a:t>
            </a:r>
          </a:p>
        </p:txBody>
      </p:sp>
      <p:sp>
        <p:nvSpPr>
          <p:cNvPr id="25" name="TextBox 24"/>
          <p:cNvSpPr txBox="1"/>
          <p:nvPr/>
        </p:nvSpPr>
        <p:spPr>
          <a:xfrm>
            <a:off x="822960" y="4983480"/>
            <a:ext cx="10515600" cy="685800"/>
          </a:xfrm>
          <a:prstGeom prst="rect">
            <a:avLst/>
          </a:prstGeom>
          <a:noFill/>
        </p:spPr>
        <p:txBody>
          <a:bodyPr wrap="square">
            <a:spAutoFit/>
          </a:bodyPr>
          <a:lstStyle/>
          <a:p>
            <a:pPr>
              <a:spcAft>
                <a:spcPts val="1000"/>
              </a:spcAft>
              <a:defRPr sz="1500">
                <a:solidFill>
                  <a:srgbClr val="0F172A"/>
                </a:solidFill>
              </a:defRPr>
            </a:pPr>
            <a:r>
              <a:t>Important boundary: live Google Calendar/Gmail nodes are present in the JSON but are not connected in the validated graph.</a:t>
            </a:r>
          </a:p>
        </p:txBody>
      </p:sp>
      <p:sp>
        <p:nvSpPr>
          <p:cNvPr id="26" name="TextBox 25"/>
          <p:cNvSpPr txBox="1"/>
          <p:nvPr/>
        </p:nvSpPr>
        <p:spPr>
          <a:xfrm>
            <a:off x="594360" y="6446520"/>
            <a:ext cx="10972800" cy="228600"/>
          </a:xfrm>
          <a:prstGeom prst="rect">
            <a:avLst/>
          </a:prstGeom>
          <a:noFill/>
        </p:spPr>
        <p:txBody>
          <a:bodyPr wrap="none">
            <a:spAutoFit/>
          </a:bodyPr>
          <a:lstStyle/>
          <a:p>
            <a:pPr>
              <a:defRPr sz="900">
                <a:solidFill>
                  <a:srgbClr val="475569"/>
                </a:solidFill>
              </a:defRPr>
            </a:pPr>
            <a:r>
              <a:t>CalendarMate  |  Mahesh P Zade  |  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10972800" cy="594360"/>
          </a:xfrm>
          <a:prstGeom prst="rect">
            <a:avLst/>
          </a:prstGeom>
          <a:noFill/>
        </p:spPr>
        <p:txBody>
          <a:bodyPr wrap="none">
            <a:spAutoFit/>
          </a:bodyPr>
          <a:lstStyle/>
          <a:p>
            <a:pPr>
              <a:defRPr sz="2800" b="1">
                <a:solidFill>
                  <a:srgbClr val="0F172A"/>
                </a:solidFill>
              </a:defRPr>
            </a:pPr>
            <a:r>
              <a:t>8. End-to-End Request Flow</a:t>
            </a:r>
          </a:p>
        </p:txBody>
      </p:sp>
      <p:sp>
        <p:nvSpPr>
          <p:cNvPr id="4" name="Rounded Rectangle 3"/>
          <p:cNvSpPr/>
          <p:nvPr/>
        </p:nvSpPr>
        <p:spPr>
          <a:xfrm>
            <a:off x="502920" y="2194560"/>
            <a:ext cx="1234440" cy="114300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User request</a:t>
            </a:r>
          </a:p>
        </p:txBody>
      </p:sp>
      <p:sp>
        <p:nvSpPr>
          <p:cNvPr id="5" name="Chevron 4"/>
          <p:cNvSpPr/>
          <p:nvPr/>
        </p:nvSpPr>
        <p:spPr>
          <a:xfrm>
            <a:off x="1737360" y="2542032"/>
            <a:ext cx="201168" cy="438912"/>
          </a:xfrm>
          <a:prstGeom prst="chevron">
            <a:avLst/>
          </a:prstGeom>
          <a:solidFill>
            <a:srgbClr val="4755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1947672" y="2194560"/>
            <a:ext cx="1234440" cy="1143000"/>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Chat Input</a:t>
            </a:r>
          </a:p>
        </p:txBody>
      </p:sp>
      <p:sp>
        <p:nvSpPr>
          <p:cNvPr id="7" name="Chevron 6"/>
          <p:cNvSpPr/>
          <p:nvPr/>
        </p:nvSpPr>
        <p:spPr>
          <a:xfrm>
            <a:off x="3182112" y="2542032"/>
            <a:ext cx="201168" cy="438912"/>
          </a:xfrm>
          <a:prstGeom prst="chevron">
            <a:avLst/>
          </a:prstGeom>
          <a:solidFill>
            <a:srgbClr val="4755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3392424" y="2194560"/>
            <a:ext cx="1234440" cy="1143000"/>
          </a:xfrm>
          <a:prstGeom prst="round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Route filter</a:t>
            </a:r>
          </a:p>
        </p:txBody>
      </p:sp>
      <p:sp>
        <p:nvSpPr>
          <p:cNvPr id="9" name="Chevron 8"/>
          <p:cNvSpPr/>
          <p:nvPr/>
        </p:nvSpPr>
        <p:spPr>
          <a:xfrm>
            <a:off x="4626864" y="2542032"/>
            <a:ext cx="201168" cy="438912"/>
          </a:xfrm>
          <a:prstGeom prst="chevron">
            <a:avLst/>
          </a:prstGeom>
          <a:solidFill>
            <a:srgbClr val="4755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4837176" y="2194560"/>
            <a:ext cx="1234440" cy="1143000"/>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Specialist Agent</a:t>
            </a:r>
          </a:p>
        </p:txBody>
      </p:sp>
      <p:sp>
        <p:nvSpPr>
          <p:cNvPr id="11" name="Chevron 10"/>
          <p:cNvSpPr/>
          <p:nvPr/>
        </p:nvSpPr>
        <p:spPr>
          <a:xfrm>
            <a:off x="6071616" y="2542032"/>
            <a:ext cx="201168" cy="438912"/>
          </a:xfrm>
          <a:prstGeom prst="chevron">
            <a:avLst/>
          </a:prstGeom>
          <a:solidFill>
            <a:srgbClr val="4755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6281928" y="2194560"/>
            <a:ext cx="1234440" cy="1143000"/>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Tool call (if needed)</a:t>
            </a:r>
          </a:p>
        </p:txBody>
      </p:sp>
      <p:sp>
        <p:nvSpPr>
          <p:cNvPr id="13" name="Chevron 12"/>
          <p:cNvSpPr/>
          <p:nvPr/>
        </p:nvSpPr>
        <p:spPr>
          <a:xfrm>
            <a:off x="7516368" y="2542032"/>
            <a:ext cx="201168" cy="438912"/>
          </a:xfrm>
          <a:prstGeom prst="chevron">
            <a:avLst/>
          </a:prstGeom>
          <a:solidFill>
            <a:srgbClr val="4755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7726680" y="2194560"/>
            <a:ext cx="1234440" cy="114300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Grounded response</a:t>
            </a:r>
          </a:p>
        </p:txBody>
      </p:sp>
      <p:sp>
        <p:nvSpPr>
          <p:cNvPr id="15" name="Chevron 14"/>
          <p:cNvSpPr/>
          <p:nvPr/>
        </p:nvSpPr>
        <p:spPr>
          <a:xfrm>
            <a:off x="8961120" y="2542032"/>
            <a:ext cx="201168" cy="438912"/>
          </a:xfrm>
          <a:prstGeom prst="chevron">
            <a:avLst/>
          </a:prstGeom>
          <a:solidFill>
            <a:srgbClr val="4755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9171432" y="2194560"/>
            <a:ext cx="1234440" cy="1143000"/>
          </a:xfrm>
          <a:prstGeom prst="roundRect">
            <a:avLst/>
          </a:prstGeom>
          <a:solidFill>
            <a:srgbClr val="4755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Chat Output</a:t>
            </a:r>
          </a:p>
        </p:txBody>
      </p:sp>
      <p:sp>
        <p:nvSpPr>
          <p:cNvPr id="17" name="Chevron 16"/>
          <p:cNvSpPr/>
          <p:nvPr/>
        </p:nvSpPr>
        <p:spPr>
          <a:xfrm>
            <a:off x="10405872" y="2542032"/>
            <a:ext cx="201168" cy="438912"/>
          </a:xfrm>
          <a:prstGeom prst="chevron">
            <a:avLst/>
          </a:prstGeom>
          <a:solidFill>
            <a:srgbClr val="4755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10616184" y="2194560"/>
            <a:ext cx="1234440" cy="1143000"/>
          </a:xfrm>
          <a:prstGeom prst="round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Langfuse trace</a:t>
            </a:r>
          </a:p>
        </p:txBody>
      </p:sp>
      <p:sp>
        <p:nvSpPr>
          <p:cNvPr id="19" name="TextBox 18"/>
          <p:cNvSpPr txBox="1"/>
          <p:nvPr/>
        </p:nvSpPr>
        <p:spPr>
          <a:xfrm>
            <a:off x="594360" y="6446520"/>
            <a:ext cx="10972800" cy="228600"/>
          </a:xfrm>
          <a:prstGeom prst="rect">
            <a:avLst/>
          </a:prstGeom>
          <a:noFill/>
        </p:spPr>
        <p:txBody>
          <a:bodyPr wrap="none">
            <a:spAutoFit/>
          </a:bodyPr>
          <a:lstStyle/>
          <a:p>
            <a:pPr>
              <a:defRPr sz="900">
                <a:solidFill>
                  <a:srgbClr val="475569"/>
                </a:solidFill>
              </a:defRPr>
            </a:pPr>
            <a:r>
              <a:t>CalendarMate  |  Mahesh P Zade  |  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10972800" cy="594360"/>
          </a:xfrm>
          <a:prstGeom prst="rect">
            <a:avLst/>
          </a:prstGeom>
          <a:noFill/>
        </p:spPr>
        <p:txBody>
          <a:bodyPr wrap="none">
            <a:spAutoFit/>
          </a:bodyPr>
          <a:lstStyle/>
          <a:p>
            <a:pPr>
              <a:defRPr sz="2800" b="1">
                <a:solidFill>
                  <a:srgbClr val="0F172A"/>
                </a:solidFill>
              </a:defRPr>
            </a:pPr>
            <a:r>
              <a:t>9. Agent Responsibility Matrix</a:t>
            </a:r>
          </a:p>
        </p:txBody>
      </p:sp>
      <p:sp>
        <p:nvSpPr>
          <p:cNvPr id="4" name="Rounded Rectangle 3"/>
          <p:cNvSpPr/>
          <p:nvPr/>
        </p:nvSpPr>
        <p:spPr>
          <a:xfrm>
            <a:off x="640080" y="1325880"/>
            <a:ext cx="2240280" cy="1051560"/>
          </a:xfrm>
          <a:prstGeom prst="roundRect">
            <a:avLst/>
          </a:prstGeom>
          <a:solidFill>
            <a:srgbClr val="F1F5F9"/>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04671" y="1453895"/>
            <a:ext cx="1911096" cy="384048"/>
          </a:xfrm>
          <a:prstGeom prst="rect">
            <a:avLst/>
          </a:prstGeom>
          <a:noFill/>
        </p:spPr>
        <p:txBody>
          <a:bodyPr wrap="none">
            <a:spAutoFit/>
          </a:bodyPr>
          <a:lstStyle/>
          <a:p>
            <a:pPr>
              <a:defRPr sz="1500" b="1">
                <a:solidFill>
                  <a:srgbClr val="2563EB"/>
                </a:solidFill>
              </a:defRPr>
            </a:pPr>
            <a:r>
              <a:t>Scheduler Agent</a:t>
            </a:r>
          </a:p>
        </p:txBody>
      </p:sp>
      <p:sp>
        <p:nvSpPr>
          <p:cNvPr id="6" name="TextBox 5"/>
          <p:cNvSpPr txBox="1"/>
          <p:nvPr/>
        </p:nvSpPr>
        <p:spPr>
          <a:xfrm>
            <a:off x="804671" y="1892807"/>
            <a:ext cx="1911096" cy="365759"/>
          </a:xfrm>
          <a:prstGeom prst="rect">
            <a:avLst/>
          </a:prstGeom>
          <a:noFill/>
        </p:spPr>
        <p:txBody>
          <a:bodyPr wrap="square">
            <a:spAutoFit/>
          </a:bodyPr>
          <a:lstStyle/>
          <a:p>
            <a:pPr>
              <a:defRPr sz="1200">
                <a:solidFill>
                  <a:srgbClr val="0F172A"/>
                </a:solidFill>
              </a:defRPr>
            </a:pPr>
            <a:endParaRPr/>
          </a:p>
        </p:txBody>
      </p:sp>
      <p:sp>
        <p:nvSpPr>
          <p:cNvPr id="7" name="Rounded Rectangle 6"/>
          <p:cNvSpPr/>
          <p:nvPr/>
        </p:nvSpPr>
        <p:spPr>
          <a:xfrm>
            <a:off x="3063240" y="1325880"/>
            <a:ext cx="2423160" cy="1051560"/>
          </a:xfrm>
          <a:prstGeom prst="roundRect">
            <a:avLst/>
          </a:prstGeom>
          <a:solidFill>
            <a:srgbClr val="FFFFFF"/>
          </a:solidFill>
          <a:ln>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227832" y="1453895"/>
            <a:ext cx="2093976" cy="384048"/>
          </a:xfrm>
          <a:prstGeom prst="rect">
            <a:avLst/>
          </a:prstGeom>
          <a:noFill/>
        </p:spPr>
        <p:txBody>
          <a:bodyPr wrap="none">
            <a:spAutoFit/>
          </a:bodyPr>
          <a:lstStyle/>
          <a:p>
            <a:pPr>
              <a:defRPr sz="1500" b="1">
                <a:solidFill>
                  <a:srgbClr val="475569"/>
                </a:solidFill>
              </a:defRPr>
            </a:pPr>
            <a:r>
              <a:t>Responsibility</a:t>
            </a:r>
          </a:p>
        </p:txBody>
      </p:sp>
      <p:sp>
        <p:nvSpPr>
          <p:cNvPr id="9" name="TextBox 8"/>
          <p:cNvSpPr txBox="1"/>
          <p:nvPr/>
        </p:nvSpPr>
        <p:spPr>
          <a:xfrm>
            <a:off x="3227832" y="1892807"/>
            <a:ext cx="2093976" cy="365759"/>
          </a:xfrm>
          <a:prstGeom prst="rect">
            <a:avLst/>
          </a:prstGeom>
          <a:noFill/>
        </p:spPr>
        <p:txBody>
          <a:bodyPr wrap="square">
            <a:spAutoFit/>
          </a:bodyPr>
          <a:lstStyle/>
          <a:p>
            <a:pPr>
              <a:defRPr sz="1200">
                <a:solidFill>
                  <a:srgbClr val="0F172A"/>
                </a:solidFill>
              </a:defRPr>
            </a:pPr>
            <a:r>
              <a:t>Briefing + scheduling</a:t>
            </a:r>
          </a:p>
        </p:txBody>
      </p:sp>
      <p:sp>
        <p:nvSpPr>
          <p:cNvPr id="10" name="Rounded Rectangle 9"/>
          <p:cNvSpPr/>
          <p:nvPr/>
        </p:nvSpPr>
        <p:spPr>
          <a:xfrm>
            <a:off x="5669280" y="1325880"/>
            <a:ext cx="2240280" cy="1051560"/>
          </a:xfrm>
          <a:prstGeom prst="roundRect">
            <a:avLst/>
          </a:prstGeom>
          <a:solidFill>
            <a:srgbClr val="FFFFFF"/>
          </a:solidFill>
          <a:ln>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833872" y="1453895"/>
            <a:ext cx="1911096" cy="384048"/>
          </a:xfrm>
          <a:prstGeom prst="rect">
            <a:avLst/>
          </a:prstGeom>
          <a:noFill/>
        </p:spPr>
        <p:txBody>
          <a:bodyPr wrap="none">
            <a:spAutoFit/>
          </a:bodyPr>
          <a:lstStyle/>
          <a:p>
            <a:pPr>
              <a:defRPr sz="1500" b="1">
                <a:solidFill>
                  <a:srgbClr val="475569"/>
                </a:solidFill>
              </a:defRPr>
            </a:pPr>
            <a:r>
              <a:t>Tool</a:t>
            </a:r>
          </a:p>
        </p:txBody>
      </p:sp>
      <p:sp>
        <p:nvSpPr>
          <p:cNvPr id="12" name="TextBox 11"/>
          <p:cNvSpPr txBox="1"/>
          <p:nvPr/>
        </p:nvSpPr>
        <p:spPr>
          <a:xfrm>
            <a:off x="5833872" y="1892807"/>
            <a:ext cx="1911096" cy="365759"/>
          </a:xfrm>
          <a:prstGeom prst="rect">
            <a:avLst/>
          </a:prstGeom>
          <a:noFill/>
        </p:spPr>
        <p:txBody>
          <a:bodyPr wrap="square">
            <a:spAutoFit/>
          </a:bodyPr>
          <a:lstStyle/>
          <a:p>
            <a:pPr>
              <a:defRPr sz="1200">
                <a:solidFill>
                  <a:srgbClr val="0F172A"/>
                </a:solidFill>
              </a:defRPr>
            </a:pPr>
            <a:r>
              <a:t>Mock Calendar</a:t>
            </a:r>
          </a:p>
        </p:txBody>
      </p:sp>
      <p:sp>
        <p:nvSpPr>
          <p:cNvPr id="13" name="Rounded Rectangle 12"/>
          <p:cNvSpPr/>
          <p:nvPr/>
        </p:nvSpPr>
        <p:spPr>
          <a:xfrm>
            <a:off x="8138160" y="1325880"/>
            <a:ext cx="3383280" cy="1051560"/>
          </a:xfrm>
          <a:prstGeom prst="roundRect">
            <a:avLst/>
          </a:prstGeom>
          <a:solidFill>
            <a:srgbClr val="FFFFFF"/>
          </a:solidFill>
          <a:ln>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302752" y="1453895"/>
            <a:ext cx="3054096" cy="384048"/>
          </a:xfrm>
          <a:prstGeom prst="rect">
            <a:avLst/>
          </a:prstGeom>
          <a:noFill/>
        </p:spPr>
        <p:txBody>
          <a:bodyPr wrap="none">
            <a:spAutoFit/>
          </a:bodyPr>
          <a:lstStyle/>
          <a:p>
            <a:pPr>
              <a:defRPr sz="1500" b="1">
                <a:solidFill>
                  <a:srgbClr val="475569"/>
                </a:solidFill>
              </a:defRPr>
            </a:pPr>
            <a:r>
              <a:t>Prompt rule</a:t>
            </a:r>
          </a:p>
        </p:txBody>
      </p:sp>
      <p:sp>
        <p:nvSpPr>
          <p:cNvPr id="15" name="TextBox 14"/>
          <p:cNvSpPr txBox="1"/>
          <p:nvPr/>
        </p:nvSpPr>
        <p:spPr>
          <a:xfrm>
            <a:off x="8302752" y="1892807"/>
            <a:ext cx="3054096" cy="365759"/>
          </a:xfrm>
          <a:prstGeom prst="rect">
            <a:avLst/>
          </a:prstGeom>
          <a:noFill/>
        </p:spPr>
        <p:txBody>
          <a:bodyPr wrap="square">
            <a:spAutoFit/>
          </a:bodyPr>
          <a:lstStyle/>
          <a:p>
            <a:pPr>
              <a:defRPr sz="1200">
                <a:solidFill>
                  <a:srgbClr val="0F172A"/>
                </a:solidFill>
              </a:defRPr>
            </a:pPr>
            <a:r>
              <a:t>Grounded calendar output; availability before scheduling</a:t>
            </a:r>
          </a:p>
        </p:txBody>
      </p:sp>
      <p:sp>
        <p:nvSpPr>
          <p:cNvPr id="16" name="Rounded Rectangle 15"/>
          <p:cNvSpPr/>
          <p:nvPr/>
        </p:nvSpPr>
        <p:spPr>
          <a:xfrm>
            <a:off x="640080" y="2743200"/>
            <a:ext cx="2240280" cy="1051560"/>
          </a:xfrm>
          <a:prstGeom prst="roundRect">
            <a:avLst/>
          </a:prstGeom>
          <a:solidFill>
            <a:srgbClr val="F1F5F9"/>
          </a:solidFill>
          <a:ln>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04671" y="2871216"/>
            <a:ext cx="1911096" cy="384048"/>
          </a:xfrm>
          <a:prstGeom prst="rect">
            <a:avLst/>
          </a:prstGeom>
          <a:noFill/>
        </p:spPr>
        <p:txBody>
          <a:bodyPr wrap="none">
            <a:spAutoFit/>
          </a:bodyPr>
          <a:lstStyle/>
          <a:p>
            <a:pPr>
              <a:defRPr sz="1500" b="1">
                <a:solidFill>
                  <a:srgbClr val="059669"/>
                </a:solidFill>
              </a:defRPr>
            </a:pPr>
            <a:r>
              <a:t>Email Agent</a:t>
            </a:r>
          </a:p>
        </p:txBody>
      </p:sp>
      <p:sp>
        <p:nvSpPr>
          <p:cNvPr id="18" name="TextBox 17"/>
          <p:cNvSpPr txBox="1"/>
          <p:nvPr/>
        </p:nvSpPr>
        <p:spPr>
          <a:xfrm>
            <a:off x="804671" y="3310128"/>
            <a:ext cx="1911096" cy="365759"/>
          </a:xfrm>
          <a:prstGeom prst="rect">
            <a:avLst/>
          </a:prstGeom>
          <a:noFill/>
        </p:spPr>
        <p:txBody>
          <a:bodyPr wrap="square">
            <a:spAutoFit/>
          </a:bodyPr>
          <a:lstStyle/>
          <a:p>
            <a:pPr>
              <a:defRPr sz="1200">
                <a:solidFill>
                  <a:srgbClr val="0F172A"/>
                </a:solidFill>
              </a:defRPr>
            </a:pPr>
            <a:endParaRPr/>
          </a:p>
        </p:txBody>
      </p:sp>
      <p:sp>
        <p:nvSpPr>
          <p:cNvPr id="19" name="Rounded Rectangle 18"/>
          <p:cNvSpPr/>
          <p:nvPr/>
        </p:nvSpPr>
        <p:spPr>
          <a:xfrm>
            <a:off x="3063240" y="2743200"/>
            <a:ext cx="2423160" cy="1051560"/>
          </a:xfrm>
          <a:prstGeom prst="roundRect">
            <a:avLst/>
          </a:prstGeom>
          <a:solidFill>
            <a:srgbClr val="FFFFFF"/>
          </a:solidFill>
          <a:ln>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3227832" y="2871216"/>
            <a:ext cx="2093976" cy="384048"/>
          </a:xfrm>
          <a:prstGeom prst="rect">
            <a:avLst/>
          </a:prstGeom>
          <a:noFill/>
        </p:spPr>
        <p:txBody>
          <a:bodyPr wrap="none">
            <a:spAutoFit/>
          </a:bodyPr>
          <a:lstStyle/>
          <a:p>
            <a:pPr>
              <a:defRPr sz="1500" b="1">
                <a:solidFill>
                  <a:srgbClr val="475569"/>
                </a:solidFill>
              </a:defRPr>
            </a:pPr>
            <a:r>
              <a:t>Responsibility</a:t>
            </a:r>
          </a:p>
        </p:txBody>
      </p:sp>
      <p:sp>
        <p:nvSpPr>
          <p:cNvPr id="21" name="TextBox 20"/>
          <p:cNvSpPr txBox="1"/>
          <p:nvPr/>
        </p:nvSpPr>
        <p:spPr>
          <a:xfrm>
            <a:off x="3227832" y="3310128"/>
            <a:ext cx="2093976" cy="365759"/>
          </a:xfrm>
          <a:prstGeom prst="rect">
            <a:avLst/>
          </a:prstGeom>
          <a:noFill/>
        </p:spPr>
        <p:txBody>
          <a:bodyPr wrap="square">
            <a:spAutoFit/>
          </a:bodyPr>
          <a:lstStyle/>
          <a:p>
            <a:pPr>
              <a:defRPr sz="1200">
                <a:solidFill>
                  <a:srgbClr val="0F172A"/>
                </a:solidFill>
              </a:defRPr>
            </a:pPr>
            <a:r>
              <a:t>Email summarization</a:t>
            </a:r>
          </a:p>
        </p:txBody>
      </p:sp>
      <p:sp>
        <p:nvSpPr>
          <p:cNvPr id="22" name="Rounded Rectangle 21"/>
          <p:cNvSpPr/>
          <p:nvPr/>
        </p:nvSpPr>
        <p:spPr>
          <a:xfrm>
            <a:off x="5669280" y="2743200"/>
            <a:ext cx="2240280" cy="1051560"/>
          </a:xfrm>
          <a:prstGeom prst="roundRect">
            <a:avLst/>
          </a:prstGeom>
          <a:solidFill>
            <a:srgbClr val="FFFFFF"/>
          </a:solidFill>
          <a:ln>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833872" y="2871216"/>
            <a:ext cx="1911096" cy="384048"/>
          </a:xfrm>
          <a:prstGeom prst="rect">
            <a:avLst/>
          </a:prstGeom>
          <a:noFill/>
        </p:spPr>
        <p:txBody>
          <a:bodyPr wrap="none">
            <a:spAutoFit/>
          </a:bodyPr>
          <a:lstStyle/>
          <a:p>
            <a:pPr>
              <a:defRPr sz="1500" b="1">
                <a:solidFill>
                  <a:srgbClr val="475569"/>
                </a:solidFill>
              </a:defRPr>
            </a:pPr>
            <a:r>
              <a:t>Tool</a:t>
            </a:r>
          </a:p>
        </p:txBody>
      </p:sp>
      <p:sp>
        <p:nvSpPr>
          <p:cNvPr id="24" name="TextBox 23"/>
          <p:cNvSpPr txBox="1"/>
          <p:nvPr/>
        </p:nvSpPr>
        <p:spPr>
          <a:xfrm>
            <a:off x="5833872" y="3310128"/>
            <a:ext cx="1911096" cy="365759"/>
          </a:xfrm>
          <a:prstGeom prst="rect">
            <a:avLst/>
          </a:prstGeom>
          <a:noFill/>
        </p:spPr>
        <p:txBody>
          <a:bodyPr wrap="square">
            <a:spAutoFit/>
          </a:bodyPr>
          <a:lstStyle/>
          <a:p>
            <a:pPr>
              <a:defRPr sz="1200">
                <a:solidFill>
                  <a:srgbClr val="0F172A"/>
                </a:solidFill>
              </a:defRPr>
            </a:pPr>
            <a:r>
              <a:t>Mock Gmail</a:t>
            </a:r>
          </a:p>
        </p:txBody>
      </p:sp>
      <p:sp>
        <p:nvSpPr>
          <p:cNvPr id="25" name="Rounded Rectangle 24"/>
          <p:cNvSpPr/>
          <p:nvPr/>
        </p:nvSpPr>
        <p:spPr>
          <a:xfrm>
            <a:off x="8138160" y="2743200"/>
            <a:ext cx="3383280" cy="1051560"/>
          </a:xfrm>
          <a:prstGeom prst="roundRect">
            <a:avLst/>
          </a:prstGeom>
          <a:solidFill>
            <a:srgbClr val="FFFFFF"/>
          </a:solidFill>
          <a:ln>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302752" y="2871216"/>
            <a:ext cx="3054096" cy="384048"/>
          </a:xfrm>
          <a:prstGeom prst="rect">
            <a:avLst/>
          </a:prstGeom>
          <a:noFill/>
        </p:spPr>
        <p:txBody>
          <a:bodyPr wrap="none">
            <a:spAutoFit/>
          </a:bodyPr>
          <a:lstStyle/>
          <a:p>
            <a:pPr>
              <a:defRPr sz="1500" b="1">
                <a:solidFill>
                  <a:srgbClr val="475569"/>
                </a:solidFill>
              </a:defRPr>
            </a:pPr>
            <a:r>
              <a:t>Prompt rule</a:t>
            </a:r>
          </a:p>
        </p:txBody>
      </p:sp>
      <p:sp>
        <p:nvSpPr>
          <p:cNvPr id="27" name="TextBox 26"/>
          <p:cNvSpPr txBox="1"/>
          <p:nvPr/>
        </p:nvSpPr>
        <p:spPr>
          <a:xfrm>
            <a:off x="8302752" y="3310128"/>
            <a:ext cx="3054096" cy="365759"/>
          </a:xfrm>
          <a:prstGeom prst="rect">
            <a:avLst/>
          </a:prstGeom>
          <a:noFill/>
        </p:spPr>
        <p:txBody>
          <a:bodyPr wrap="square">
            <a:spAutoFit/>
          </a:bodyPr>
          <a:lstStyle/>
          <a:p>
            <a:pPr>
              <a:defRPr sz="1200">
                <a:solidFill>
                  <a:srgbClr val="0F172A"/>
                </a:solidFill>
              </a:defRPr>
            </a:pPr>
            <a:r>
              <a:t>Tool-first; no fabricated emails</a:t>
            </a:r>
          </a:p>
        </p:txBody>
      </p:sp>
      <p:sp>
        <p:nvSpPr>
          <p:cNvPr id="28" name="Rounded Rectangle 27"/>
          <p:cNvSpPr/>
          <p:nvPr/>
        </p:nvSpPr>
        <p:spPr>
          <a:xfrm>
            <a:off x="640080" y="4160520"/>
            <a:ext cx="2240280" cy="1051560"/>
          </a:xfrm>
          <a:prstGeom prst="roundRect">
            <a:avLst/>
          </a:prstGeom>
          <a:solidFill>
            <a:srgbClr val="F1F5F9"/>
          </a:solidFill>
          <a:ln>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04671" y="4288536"/>
            <a:ext cx="1911096" cy="384048"/>
          </a:xfrm>
          <a:prstGeom prst="rect">
            <a:avLst/>
          </a:prstGeom>
          <a:noFill/>
        </p:spPr>
        <p:txBody>
          <a:bodyPr wrap="none">
            <a:spAutoFit/>
          </a:bodyPr>
          <a:lstStyle/>
          <a:p>
            <a:pPr>
              <a:defRPr sz="1500" b="1">
                <a:solidFill>
                  <a:srgbClr val="7C3AED"/>
                </a:solidFill>
              </a:defRPr>
            </a:pPr>
            <a:r>
              <a:t>Follow-Up Agent</a:t>
            </a:r>
          </a:p>
        </p:txBody>
      </p:sp>
      <p:sp>
        <p:nvSpPr>
          <p:cNvPr id="30" name="TextBox 29"/>
          <p:cNvSpPr txBox="1"/>
          <p:nvPr/>
        </p:nvSpPr>
        <p:spPr>
          <a:xfrm>
            <a:off x="804671" y="4727448"/>
            <a:ext cx="1911096" cy="365759"/>
          </a:xfrm>
          <a:prstGeom prst="rect">
            <a:avLst/>
          </a:prstGeom>
          <a:noFill/>
        </p:spPr>
        <p:txBody>
          <a:bodyPr wrap="square">
            <a:spAutoFit/>
          </a:bodyPr>
          <a:lstStyle/>
          <a:p>
            <a:pPr>
              <a:defRPr sz="1200">
                <a:solidFill>
                  <a:srgbClr val="0F172A"/>
                </a:solidFill>
              </a:defRPr>
            </a:pPr>
            <a:endParaRPr/>
          </a:p>
        </p:txBody>
      </p:sp>
      <p:sp>
        <p:nvSpPr>
          <p:cNvPr id="31" name="Rounded Rectangle 30"/>
          <p:cNvSpPr/>
          <p:nvPr/>
        </p:nvSpPr>
        <p:spPr>
          <a:xfrm>
            <a:off x="3063240" y="4160520"/>
            <a:ext cx="2423160" cy="1051560"/>
          </a:xfrm>
          <a:prstGeom prst="roundRect">
            <a:avLst/>
          </a:prstGeom>
          <a:solidFill>
            <a:srgbClr val="FFFFFF"/>
          </a:solidFill>
          <a:ln>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3227832" y="4288536"/>
            <a:ext cx="2093976" cy="384048"/>
          </a:xfrm>
          <a:prstGeom prst="rect">
            <a:avLst/>
          </a:prstGeom>
          <a:noFill/>
        </p:spPr>
        <p:txBody>
          <a:bodyPr wrap="none">
            <a:spAutoFit/>
          </a:bodyPr>
          <a:lstStyle/>
          <a:p>
            <a:pPr>
              <a:defRPr sz="1500" b="1">
                <a:solidFill>
                  <a:srgbClr val="475569"/>
                </a:solidFill>
              </a:defRPr>
            </a:pPr>
            <a:r>
              <a:t>Responsibility</a:t>
            </a:r>
          </a:p>
        </p:txBody>
      </p:sp>
      <p:sp>
        <p:nvSpPr>
          <p:cNvPr id="33" name="TextBox 32"/>
          <p:cNvSpPr txBox="1"/>
          <p:nvPr/>
        </p:nvSpPr>
        <p:spPr>
          <a:xfrm>
            <a:off x="3227832" y="4727448"/>
            <a:ext cx="2093976" cy="365759"/>
          </a:xfrm>
          <a:prstGeom prst="rect">
            <a:avLst/>
          </a:prstGeom>
          <a:noFill/>
        </p:spPr>
        <p:txBody>
          <a:bodyPr wrap="square">
            <a:spAutoFit/>
          </a:bodyPr>
          <a:lstStyle/>
          <a:p>
            <a:pPr>
              <a:defRPr sz="1200">
                <a:solidFill>
                  <a:srgbClr val="0F172A"/>
                </a:solidFill>
              </a:defRPr>
            </a:pPr>
            <a:r>
              <a:t>Meeting follow-up drafting</a:t>
            </a:r>
          </a:p>
        </p:txBody>
      </p:sp>
      <p:sp>
        <p:nvSpPr>
          <p:cNvPr id="34" name="Rounded Rectangle 33"/>
          <p:cNvSpPr/>
          <p:nvPr/>
        </p:nvSpPr>
        <p:spPr>
          <a:xfrm>
            <a:off x="5669280" y="4160520"/>
            <a:ext cx="2240280" cy="1051560"/>
          </a:xfrm>
          <a:prstGeom prst="roundRect">
            <a:avLst/>
          </a:prstGeom>
          <a:solidFill>
            <a:srgbClr val="FFFFFF"/>
          </a:solidFill>
          <a:ln>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5833872" y="4288536"/>
            <a:ext cx="1911096" cy="384048"/>
          </a:xfrm>
          <a:prstGeom prst="rect">
            <a:avLst/>
          </a:prstGeom>
          <a:noFill/>
        </p:spPr>
        <p:txBody>
          <a:bodyPr wrap="none">
            <a:spAutoFit/>
          </a:bodyPr>
          <a:lstStyle/>
          <a:p>
            <a:pPr>
              <a:defRPr sz="1500" b="1">
                <a:solidFill>
                  <a:srgbClr val="475569"/>
                </a:solidFill>
              </a:defRPr>
            </a:pPr>
            <a:r>
              <a:t>Tool</a:t>
            </a:r>
          </a:p>
        </p:txBody>
      </p:sp>
      <p:sp>
        <p:nvSpPr>
          <p:cNvPr id="36" name="TextBox 35"/>
          <p:cNvSpPr txBox="1"/>
          <p:nvPr/>
        </p:nvSpPr>
        <p:spPr>
          <a:xfrm>
            <a:off x="5833872" y="4727448"/>
            <a:ext cx="1911096" cy="365759"/>
          </a:xfrm>
          <a:prstGeom prst="rect">
            <a:avLst/>
          </a:prstGeom>
          <a:noFill/>
        </p:spPr>
        <p:txBody>
          <a:bodyPr wrap="square">
            <a:spAutoFit/>
          </a:bodyPr>
          <a:lstStyle/>
          <a:p>
            <a:pPr>
              <a:defRPr sz="1200">
                <a:solidFill>
                  <a:srgbClr val="0F172A"/>
                </a:solidFill>
              </a:defRPr>
            </a:pPr>
            <a:r>
              <a:t>None connected</a:t>
            </a:r>
          </a:p>
        </p:txBody>
      </p:sp>
      <p:sp>
        <p:nvSpPr>
          <p:cNvPr id="37" name="Rounded Rectangle 36"/>
          <p:cNvSpPr/>
          <p:nvPr/>
        </p:nvSpPr>
        <p:spPr>
          <a:xfrm>
            <a:off x="8138160" y="4160520"/>
            <a:ext cx="3383280" cy="1051560"/>
          </a:xfrm>
          <a:prstGeom prst="roundRect">
            <a:avLst/>
          </a:prstGeom>
          <a:solidFill>
            <a:srgbClr val="FFFFFF"/>
          </a:solidFill>
          <a:ln>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8302752" y="4288536"/>
            <a:ext cx="3054096" cy="384048"/>
          </a:xfrm>
          <a:prstGeom prst="rect">
            <a:avLst/>
          </a:prstGeom>
          <a:noFill/>
        </p:spPr>
        <p:txBody>
          <a:bodyPr wrap="none">
            <a:spAutoFit/>
          </a:bodyPr>
          <a:lstStyle/>
          <a:p>
            <a:pPr>
              <a:defRPr sz="1500" b="1">
                <a:solidFill>
                  <a:srgbClr val="475569"/>
                </a:solidFill>
              </a:defRPr>
            </a:pPr>
            <a:r>
              <a:t>Prompt rule</a:t>
            </a:r>
          </a:p>
        </p:txBody>
      </p:sp>
      <p:sp>
        <p:nvSpPr>
          <p:cNvPr id="39" name="TextBox 38"/>
          <p:cNvSpPr txBox="1"/>
          <p:nvPr/>
        </p:nvSpPr>
        <p:spPr>
          <a:xfrm>
            <a:off x="8302752" y="4727448"/>
            <a:ext cx="3054096" cy="365759"/>
          </a:xfrm>
          <a:prstGeom prst="rect">
            <a:avLst/>
          </a:prstGeom>
          <a:noFill/>
        </p:spPr>
        <p:txBody>
          <a:bodyPr wrap="square">
            <a:spAutoFit/>
          </a:bodyPr>
          <a:lstStyle/>
          <a:p>
            <a:pPr>
              <a:defRPr sz="1200">
                <a:solidFill>
                  <a:srgbClr val="0F172A"/>
                </a:solidFill>
              </a:defRPr>
            </a:pPr>
            <a:r>
              <a:t>No invented action items/deadlines/assignees</a:t>
            </a:r>
          </a:p>
        </p:txBody>
      </p:sp>
      <p:sp>
        <p:nvSpPr>
          <p:cNvPr id="40" name="TextBox 39"/>
          <p:cNvSpPr txBox="1"/>
          <p:nvPr/>
        </p:nvSpPr>
        <p:spPr>
          <a:xfrm>
            <a:off x="594360" y="6446520"/>
            <a:ext cx="10972800" cy="228600"/>
          </a:xfrm>
          <a:prstGeom prst="rect">
            <a:avLst/>
          </a:prstGeom>
          <a:noFill/>
        </p:spPr>
        <p:txBody>
          <a:bodyPr wrap="none">
            <a:spAutoFit/>
          </a:bodyPr>
          <a:lstStyle/>
          <a:p>
            <a:pPr>
              <a:defRPr sz="900">
                <a:solidFill>
                  <a:srgbClr val="475569"/>
                </a:solidFill>
              </a:defRPr>
            </a:pPr>
            <a:r>
              <a:t>CalendarMate  |  Mahesh P Zade  |  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10972800" cy="594360"/>
          </a:xfrm>
          <a:prstGeom prst="rect">
            <a:avLst/>
          </a:prstGeom>
          <a:noFill/>
        </p:spPr>
        <p:txBody>
          <a:bodyPr wrap="none">
            <a:spAutoFit/>
          </a:bodyPr>
          <a:lstStyle/>
          <a:p>
            <a:pPr>
              <a:defRPr sz="2800" b="1">
                <a:solidFill>
                  <a:srgbClr val="0F172A"/>
                </a:solidFill>
              </a:defRPr>
            </a:pPr>
            <a:r>
              <a:t>10. Prompt Engineering &amp; Grounding</a:t>
            </a:r>
          </a:p>
        </p:txBody>
      </p:sp>
      <p:sp>
        <p:nvSpPr>
          <p:cNvPr id="4" name="Rounded Rectangle 3"/>
          <p:cNvSpPr/>
          <p:nvPr/>
        </p:nvSpPr>
        <p:spPr>
          <a:xfrm>
            <a:off x="685800" y="1371600"/>
            <a:ext cx="3383280" cy="1828800"/>
          </a:xfrm>
          <a:prstGeom prst="roundRect">
            <a:avLst/>
          </a:prstGeom>
          <a:solidFill>
            <a:srgbClr val="F1F5F9"/>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50392" y="1499616"/>
            <a:ext cx="3054096" cy="384048"/>
          </a:xfrm>
          <a:prstGeom prst="rect">
            <a:avLst/>
          </a:prstGeom>
          <a:noFill/>
        </p:spPr>
        <p:txBody>
          <a:bodyPr wrap="none">
            <a:spAutoFit/>
          </a:bodyPr>
          <a:lstStyle/>
          <a:p>
            <a:pPr>
              <a:defRPr sz="1500" b="1">
                <a:solidFill>
                  <a:srgbClr val="2563EB"/>
                </a:solidFill>
              </a:defRPr>
            </a:pPr>
            <a:r>
              <a:t>No Fabrication</a:t>
            </a:r>
          </a:p>
        </p:txBody>
      </p:sp>
      <p:sp>
        <p:nvSpPr>
          <p:cNvPr id="6" name="TextBox 5"/>
          <p:cNvSpPr txBox="1"/>
          <p:nvPr/>
        </p:nvSpPr>
        <p:spPr>
          <a:xfrm>
            <a:off x="850392" y="1938528"/>
            <a:ext cx="3054096" cy="1143000"/>
          </a:xfrm>
          <a:prstGeom prst="rect">
            <a:avLst/>
          </a:prstGeom>
          <a:noFill/>
        </p:spPr>
        <p:txBody>
          <a:bodyPr wrap="square">
            <a:spAutoFit/>
          </a:bodyPr>
          <a:lstStyle/>
          <a:p>
            <a:pPr>
              <a:defRPr sz="1200">
                <a:solidFill>
                  <a:srgbClr val="0F172A"/>
                </a:solidFill>
              </a:defRPr>
            </a:pPr>
            <a:r>
              <a:t>Never invent meetings, attendees, dates, email content, deadlines or assignees.</a:t>
            </a:r>
          </a:p>
        </p:txBody>
      </p:sp>
      <p:sp>
        <p:nvSpPr>
          <p:cNvPr id="7" name="Rounded Rectangle 6"/>
          <p:cNvSpPr/>
          <p:nvPr/>
        </p:nvSpPr>
        <p:spPr>
          <a:xfrm>
            <a:off x="4389120" y="1371600"/>
            <a:ext cx="3383280" cy="1828800"/>
          </a:xfrm>
          <a:prstGeom prst="roundRect">
            <a:avLst/>
          </a:prstGeom>
          <a:solidFill>
            <a:srgbClr val="F1F5F9"/>
          </a:solidFill>
          <a:ln>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53712" y="1499616"/>
            <a:ext cx="3054096" cy="384048"/>
          </a:xfrm>
          <a:prstGeom prst="rect">
            <a:avLst/>
          </a:prstGeom>
          <a:noFill/>
        </p:spPr>
        <p:txBody>
          <a:bodyPr wrap="none">
            <a:spAutoFit/>
          </a:bodyPr>
          <a:lstStyle/>
          <a:p>
            <a:pPr>
              <a:defRPr sz="1500" b="1">
                <a:solidFill>
                  <a:srgbClr val="059669"/>
                </a:solidFill>
              </a:defRPr>
            </a:pPr>
            <a:r>
              <a:t>Clarification</a:t>
            </a:r>
          </a:p>
        </p:txBody>
      </p:sp>
      <p:sp>
        <p:nvSpPr>
          <p:cNvPr id="9" name="TextBox 8"/>
          <p:cNvSpPr txBox="1"/>
          <p:nvPr/>
        </p:nvSpPr>
        <p:spPr>
          <a:xfrm>
            <a:off x="4553712" y="1938528"/>
            <a:ext cx="3054096" cy="1143000"/>
          </a:xfrm>
          <a:prstGeom prst="rect">
            <a:avLst/>
          </a:prstGeom>
          <a:noFill/>
        </p:spPr>
        <p:txBody>
          <a:bodyPr wrap="square">
            <a:spAutoFit/>
          </a:bodyPr>
          <a:lstStyle/>
          <a:p>
            <a:pPr>
              <a:defRPr sz="1200">
                <a:solidFill>
                  <a:srgbClr val="0F172A"/>
                </a:solidFill>
              </a:defRPr>
            </a:pPr>
            <a:r>
              <a:t>Ask for missing or ambiguous scheduling information instead of guessing.</a:t>
            </a:r>
          </a:p>
        </p:txBody>
      </p:sp>
      <p:sp>
        <p:nvSpPr>
          <p:cNvPr id="10" name="Rounded Rectangle 9"/>
          <p:cNvSpPr/>
          <p:nvPr/>
        </p:nvSpPr>
        <p:spPr>
          <a:xfrm>
            <a:off x="8092440" y="1371600"/>
            <a:ext cx="3383280" cy="1828800"/>
          </a:xfrm>
          <a:prstGeom prst="roundRect">
            <a:avLst/>
          </a:prstGeom>
          <a:solidFill>
            <a:srgbClr val="F1F5F9"/>
          </a:solidFill>
          <a:ln>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257031" y="1499616"/>
            <a:ext cx="3054096" cy="384048"/>
          </a:xfrm>
          <a:prstGeom prst="rect">
            <a:avLst/>
          </a:prstGeom>
          <a:noFill/>
        </p:spPr>
        <p:txBody>
          <a:bodyPr wrap="none">
            <a:spAutoFit/>
          </a:bodyPr>
          <a:lstStyle/>
          <a:p>
            <a:pPr>
              <a:defRPr sz="1500" b="1">
                <a:solidFill>
                  <a:srgbClr val="7C3AED"/>
                </a:solidFill>
              </a:defRPr>
            </a:pPr>
            <a:r>
              <a:t>Tool-First</a:t>
            </a:r>
          </a:p>
        </p:txBody>
      </p:sp>
      <p:sp>
        <p:nvSpPr>
          <p:cNvPr id="12" name="TextBox 11"/>
          <p:cNvSpPr txBox="1"/>
          <p:nvPr/>
        </p:nvSpPr>
        <p:spPr>
          <a:xfrm>
            <a:off x="8257031" y="1938528"/>
            <a:ext cx="3054096" cy="1143000"/>
          </a:xfrm>
          <a:prstGeom prst="rect">
            <a:avLst/>
          </a:prstGeom>
          <a:noFill/>
        </p:spPr>
        <p:txBody>
          <a:bodyPr wrap="square">
            <a:spAutoFit/>
          </a:bodyPr>
          <a:lstStyle/>
          <a:p>
            <a:pPr>
              <a:defRPr sz="1200">
                <a:solidFill>
                  <a:srgbClr val="0F172A"/>
                </a:solidFill>
              </a:defRPr>
            </a:pPr>
            <a:r>
              <a:t>Use the connected calendar/email tool before making data-grounded claims.</a:t>
            </a:r>
          </a:p>
        </p:txBody>
      </p:sp>
      <p:sp>
        <p:nvSpPr>
          <p:cNvPr id="13" name="TextBox 12"/>
          <p:cNvSpPr txBox="1"/>
          <p:nvPr/>
        </p:nvSpPr>
        <p:spPr>
          <a:xfrm>
            <a:off x="868680" y="3840480"/>
            <a:ext cx="10424160" cy="914400"/>
          </a:xfrm>
          <a:prstGeom prst="rect">
            <a:avLst/>
          </a:prstGeom>
          <a:noFill/>
        </p:spPr>
        <p:txBody>
          <a:bodyPr wrap="square">
            <a:spAutoFit/>
          </a:bodyPr>
          <a:lstStyle/>
          <a:p>
            <a:pPr>
              <a:spcAft>
                <a:spcPts val="1000"/>
              </a:spcAft>
              <a:defRPr sz="1800">
                <a:solidFill>
                  <a:srgbClr val="0F172A"/>
                </a:solidFill>
              </a:defRPr>
            </a:pPr>
            <a:r>
              <a:t>Prompt changes documented in the supplied evaluation evidence reduced early failure modes and routing mistakes.</a:t>
            </a:r>
          </a:p>
        </p:txBody>
      </p:sp>
      <p:sp>
        <p:nvSpPr>
          <p:cNvPr id="14" name="TextBox 13"/>
          <p:cNvSpPr txBox="1"/>
          <p:nvPr/>
        </p:nvSpPr>
        <p:spPr>
          <a:xfrm>
            <a:off x="594360" y="6446520"/>
            <a:ext cx="10972800" cy="228600"/>
          </a:xfrm>
          <a:prstGeom prst="rect">
            <a:avLst/>
          </a:prstGeom>
          <a:noFill/>
        </p:spPr>
        <p:txBody>
          <a:bodyPr wrap="none">
            <a:spAutoFit/>
          </a:bodyPr>
          <a:lstStyle/>
          <a:p>
            <a:pPr>
              <a:defRPr sz="900">
                <a:solidFill>
                  <a:srgbClr val="475569"/>
                </a:solidFill>
              </a:defRPr>
            </a:pPr>
            <a:r>
              <a:t>CalendarMate  |  Mahesh P Zade  |  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10972800" cy="594360"/>
          </a:xfrm>
          <a:prstGeom prst="rect">
            <a:avLst/>
          </a:prstGeom>
          <a:noFill/>
        </p:spPr>
        <p:txBody>
          <a:bodyPr wrap="none">
            <a:spAutoFit/>
          </a:bodyPr>
          <a:lstStyle/>
          <a:p>
            <a:pPr>
              <a:defRPr sz="2800" b="1">
                <a:solidFill>
                  <a:srgbClr val="0F172A"/>
                </a:solidFill>
              </a:defRPr>
            </a:pPr>
            <a:r>
              <a:t>11. Tool Integration &amp; Implementation Boundary</a:t>
            </a:r>
          </a:p>
        </p:txBody>
      </p:sp>
      <p:sp>
        <p:nvSpPr>
          <p:cNvPr id="4" name="Rounded Rectangle 3"/>
          <p:cNvSpPr/>
          <p:nvPr/>
        </p:nvSpPr>
        <p:spPr>
          <a:xfrm>
            <a:off x="685800" y="1325880"/>
            <a:ext cx="3383280" cy="1920240"/>
          </a:xfrm>
          <a:prstGeom prst="roundRect">
            <a:avLst/>
          </a:prstGeom>
          <a:solidFill>
            <a:srgbClr val="F1F5F9"/>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50392" y="1453895"/>
            <a:ext cx="3054096" cy="384048"/>
          </a:xfrm>
          <a:prstGeom prst="rect">
            <a:avLst/>
          </a:prstGeom>
          <a:noFill/>
        </p:spPr>
        <p:txBody>
          <a:bodyPr wrap="none">
            <a:spAutoFit/>
          </a:bodyPr>
          <a:lstStyle/>
          <a:p>
            <a:pPr>
              <a:defRPr sz="1500" b="1">
                <a:solidFill>
                  <a:srgbClr val="F59E0B"/>
                </a:solidFill>
              </a:defRPr>
            </a:pPr>
            <a:r>
              <a:t>Validated Calendar Tool</a:t>
            </a:r>
          </a:p>
        </p:txBody>
      </p:sp>
      <p:sp>
        <p:nvSpPr>
          <p:cNvPr id="6" name="TextBox 5"/>
          <p:cNvSpPr txBox="1"/>
          <p:nvPr/>
        </p:nvSpPr>
        <p:spPr>
          <a:xfrm>
            <a:off x="850392" y="1892807"/>
            <a:ext cx="3054096" cy="1234440"/>
          </a:xfrm>
          <a:prstGeom prst="rect">
            <a:avLst/>
          </a:prstGeom>
          <a:noFill/>
        </p:spPr>
        <p:txBody>
          <a:bodyPr wrap="square">
            <a:spAutoFit/>
          </a:bodyPr>
          <a:lstStyle/>
          <a:p>
            <a:pPr>
              <a:defRPr sz="1200">
                <a:solidFill>
                  <a:srgbClr val="0F172A"/>
                </a:solidFill>
              </a:defRPr>
            </a:pPr>
            <a:r>
              <a:t>Mock Calendar Tool connected to Scheduler Agent.</a:t>
            </a:r>
            <a:br/>
            <a:r>
              <a:t>read_calendar + create_event.</a:t>
            </a:r>
          </a:p>
        </p:txBody>
      </p:sp>
      <p:sp>
        <p:nvSpPr>
          <p:cNvPr id="7" name="Rounded Rectangle 6"/>
          <p:cNvSpPr/>
          <p:nvPr/>
        </p:nvSpPr>
        <p:spPr>
          <a:xfrm>
            <a:off x="4389120" y="1325880"/>
            <a:ext cx="3383280" cy="1920240"/>
          </a:xfrm>
          <a:prstGeom prst="roundRect">
            <a:avLst/>
          </a:prstGeom>
          <a:solidFill>
            <a:srgbClr val="F1F5F9"/>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53712" y="1453895"/>
            <a:ext cx="3054096" cy="384048"/>
          </a:xfrm>
          <a:prstGeom prst="rect">
            <a:avLst/>
          </a:prstGeom>
          <a:noFill/>
        </p:spPr>
        <p:txBody>
          <a:bodyPr wrap="none">
            <a:spAutoFit/>
          </a:bodyPr>
          <a:lstStyle/>
          <a:p>
            <a:pPr>
              <a:defRPr sz="1500" b="1">
                <a:solidFill>
                  <a:srgbClr val="F59E0B"/>
                </a:solidFill>
              </a:defRPr>
            </a:pPr>
            <a:r>
              <a:t>Validated Gmail Tool</a:t>
            </a:r>
          </a:p>
        </p:txBody>
      </p:sp>
      <p:sp>
        <p:nvSpPr>
          <p:cNvPr id="9" name="TextBox 8"/>
          <p:cNvSpPr txBox="1"/>
          <p:nvPr/>
        </p:nvSpPr>
        <p:spPr>
          <a:xfrm>
            <a:off x="4553712" y="1892807"/>
            <a:ext cx="3054096" cy="1234440"/>
          </a:xfrm>
          <a:prstGeom prst="rect">
            <a:avLst/>
          </a:prstGeom>
          <a:noFill/>
        </p:spPr>
        <p:txBody>
          <a:bodyPr wrap="square">
            <a:spAutoFit/>
          </a:bodyPr>
          <a:lstStyle/>
          <a:p>
            <a:pPr>
              <a:defRPr sz="1200">
                <a:solidFill>
                  <a:srgbClr val="0F172A"/>
                </a:solidFill>
              </a:defRPr>
            </a:pPr>
            <a:r>
              <a:t>Mock Gmail Tool connected to Email Agent.</a:t>
            </a:r>
            <a:br/>
            <a:r>
              <a:t>read_emails.</a:t>
            </a:r>
          </a:p>
        </p:txBody>
      </p:sp>
      <p:sp>
        <p:nvSpPr>
          <p:cNvPr id="10" name="Rounded Rectangle 9"/>
          <p:cNvSpPr/>
          <p:nvPr/>
        </p:nvSpPr>
        <p:spPr>
          <a:xfrm>
            <a:off x="8092440" y="1325880"/>
            <a:ext cx="3383280" cy="1920240"/>
          </a:xfrm>
          <a:prstGeom prst="roundRect">
            <a:avLst/>
          </a:prstGeom>
          <a:solidFill>
            <a:srgbClr val="F1F5F9"/>
          </a:solidFill>
          <a:ln>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257031" y="1453895"/>
            <a:ext cx="3054096" cy="384048"/>
          </a:xfrm>
          <a:prstGeom prst="rect">
            <a:avLst/>
          </a:prstGeom>
          <a:noFill/>
        </p:spPr>
        <p:txBody>
          <a:bodyPr wrap="none">
            <a:spAutoFit/>
          </a:bodyPr>
          <a:lstStyle/>
          <a:p>
            <a:pPr>
              <a:defRPr sz="1500" b="1">
                <a:solidFill>
                  <a:srgbClr val="DC2626"/>
                </a:solidFill>
              </a:defRPr>
            </a:pPr>
            <a:r>
              <a:t>Live API Nodes</a:t>
            </a:r>
          </a:p>
        </p:txBody>
      </p:sp>
      <p:sp>
        <p:nvSpPr>
          <p:cNvPr id="12" name="TextBox 11"/>
          <p:cNvSpPr txBox="1"/>
          <p:nvPr/>
        </p:nvSpPr>
        <p:spPr>
          <a:xfrm>
            <a:off x="8257031" y="1892807"/>
            <a:ext cx="3054096" cy="1234440"/>
          </a:xfrm>
          <a:prstGeom prst="rect">
            <a:avLst/>
          </a:prstGeom>
          <a:noFill/>
        </p:spPr>
        <p:txBody>
          <a:bodyPr wrap="square">
            <a:spAutoFit/>
          </a:bodyPr>
          <a:lstStyle/>
          <a:p>
            <a:pPr>
              <a:defRPr sz="1200">
                <a:solidFill>
                  <a:srgbClr val="0F172A"/>
                </a:solidFill>
              </a:defRPr>
            </a:pPr>
            <a:r>
              <a:t>Google Calendar Read/Write and Gmail Read are present in JSON but not connected in the validated graph.</a:t>
            </a:r>
          </a:p>
        </p:txBody>
      </p:sp>
      <p:sp>
        <p:nvSpPr>
          <p:cNvPr id="13" name="TextBox 12"/>
          <p:cNvSpPr txBox="1"/>
          <p:nvPr/>
        </p:nvSpPr>
        <p:spPr>
          <a:xfrm>
            <a:off x="868680" y="3886200"/>
            <a:ext cx="10424160" cy="1097280"/>
          </a:xfrm>
          <a:prstGeom prst="rect">
            <a:avLst/>
          </a:prstGeom>
          <a:noFill/>
        </p:spPr>
        <p:txBody>
          <a:bodyPr wrap="square">
            <a:spAutoFit/>
          </a:bodyPr>
          <a:lstStyle/>
          <a:p>
            <a:pPr>
              <a:spcAft>
                <a:spcPts val="1000"/>
              </a:spcAft>
              <a:defRPr sz="1700">
                <a:solidFill>
                  <a:srgbClr val="0F172A"/>
                </a:solidFill>
              </a:defRPr>
            </a:pPr>
            <a:r>
              <a:t>Submission wording should distinguish 'components present' from 'end-to-end live integration validated'.</a:t>
            </a:r>
          </a:p>
          <a:p>
            <a:pPr>
              <a:spcAft>
                <a:spcPts val="1000"/>
              </a:spcAft>
              <a:defRPr sz="1700">
                <a:solidFill>
                  <a:srgbClr val="0F172A"/>
                </a:solidFill>
              </a:defRPr>
            </a:pPr>
            <a:r>
              <a:t>This makes the documentation technically defensible.</a:t>
            </a:r>
          </a:p>
        </p:txBody>
      </p:sp>
      <p:sp>
        <p:nvSpPr>
          <p:cNvPr id="14" name="TextBox 13"/>
          <p:cNvSpPr txBox="1"/>
          <p:nvPr/>
        </p:nvSpPr>
        <p:spPr>
          <a:xfrm>
            <a:off x="594360" y="6446520"/>
            <a:ext cx="10972800" cy="228600"/>
          </a:xfrm>
          <a:prstGeom prst="rect">
            <a:avLst/>
          </a:prstGeom>
          <a:noFill/>
        </p:spPr>
        <p:txBody>
          <a:bodyPr wrap="none">
            <a:spAutoFit/>
          </a:bodyPr>
          <a:lstStyle/>
          <a:p>
            <a:pPr>
              <a:defRPr sz="900">
                <a:solidFill>
                  <a:srgbClr val="475569"/>
                </a:solidFill>
              </a:defRPr>
            </a:pPr>
            <a:r>
              <a:t>CalendarMate  |  Mahesh P Zade  |  13</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10972800" cy="594360"/>
          </a:xfrm>
          <a:prstGeom prst="rect">
            <a:avLst/>
          </a:prstGeom>
          <a:noFill/>
        </p:spPr>
        <p:txBody>
          <a:bodyPr wrap="none">
            <a:spAutoFit/>
          </a:bodyPr>
          <a:lstStyle/>
          <a:p>
            <a:pPr>
              <a:defRPr sz="2800" b="1">
                <a:solidFill>
                  <a:srgbClr val="0F172A"/>
                </a:solidFill>
              </a:defRPr>
            </a:pPr>
            <a:r>
              <a:t>12. Baseline Evaluation — T1 to T12</a:t>
            </a:r>
          </a:p>
        </p:txBody>
      </p:sp>
      <p:sp>
        <p:nvSpPr>
          <p:cNvPr id="4" name="Rounded Rectangle 3"/>
          <p:cNvSpPr/>
          <p:nvPr/>
        </p:nvSpPr>
        <p:spPr>
          <a:xfrm>
            <a:off x="822960" y="1325880"/>
            <a:ext cx="2468880" cy="1508760"/>
          </a:xfrm>
          <a:prstGeom prst="roundRect">
            <a:avLst/>
          </a:prstGeom>
          <a:solidFill>
            <a:srgbClr val="F1F5F9"/>
          </a:solidFill>
          <a:ln>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87552" y="1453895"/>
            <a:ext cx="2139696" cy="384048"/>
          </a:xfrm>
          <a:prstGeom prst="rect">
            <a:avLst/>
          </a:prstGeom>
          <a:noFill/>
        </p:spPr>
        <p:txBody>
          <a:bodyPr wrap="none">
            <a:spAutoFit/>
          </a:bodyPr>
          <a:lstStyle/>
          <a:p>
            <a:pPr>
              <a:defRPr sz="1500" b="1">
                <a:solidFill>
                  <a:srgbClr val="059669"/>
                </a:solidFill>
              </a:defRPr>
            </a:pPr>
            <a:r>
              <a:t>12 / 12</a:t>
            </a:r>
          </a:p>
        </p:txBody>
      </p:sp>
      <p:sp>
        <p:nvSpPr>
          <p:cNvPr id="6" name="TextBox 5"/>
          <p:cNvSpPr txBox="1"/>
          <p:nvPr/>
        </p:nvSpPr>
        <p:spPr>
          <a:xfrm>
            <a:off x="987552" y="1892807"/>
            <a:ext cx="2139696" cy="822959"/>
          </a:xfrm>
          <a:prstGeom prst="rect">
            <a:avLst/>
          </a:prstGeom>
          <a:noFill/>
        </p:spPr>
        <p:txBody>
          <a:bodyPr wrap="square">
            <a:spAutoFit/>
          </a:bodyPr>
          <a:lstStyle/>
          <a:p>
            <a:pPr>
              <a:defRPr sz="1200">
                <a:solidFill>
                  <a:srgbClr val="0F172A"/>
                </a:solidFill>
              </a:defRPr>
            </a:pPr>
            <a:r>
              <a:t>Baseline tests reported as passed.</a:t>
            </a:r>
          </a:p>
        </p:txBody>
      </p:sp>
      <p:sp>
        <p:nvSpPr>
          <p:cNvPr id="7" name="Rounded Rectangle 6"/>
          <p:cNvSpPr/>
          <p:nvPr/>
        </p:nvSpPr>
        <p:spPr>
          <a:xfrm>
            <a:off x="3611880" y="1325880"/>
            <a:ext cx="2468880" cy="1508760"/>
          </a:xfrm>
          <a:prstGeom prst="roundRect">
            <a:avLst/>
          </a:prstGeom>
          <a:solidFill>
            <a:srgbClr val="F1F5F9"/>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776472" y="1453895"/>
            <a:ext cx="2139696" cy="384048"/>
          </a:xfrm>
          <a:prstGeom prst="rect">
            <a:avLst/>
          </a:prstGeom>
          <a:noFill/>
        </p:spPr>
        <p:txBody>
          <a:bodyPr wrap="none">
            <a:spAutoFit/>
          </a:bodyPr>
          <a:lstStyle/>
          <a:p>
            <a:pPr>
              <a:defRPr sz="1500" b="1">
                <a:solidFill>
                  <a:srgbClr val="2563EB"/>
                </a:solidFill>
              </a:defRPr>
            </a:pPr>
            <a:r>
              <a:t>0</a:t>
            </a:r>
          </a:p>
        </p:txBody>
      </p:sp>
      <p:sp>
        <p:nvSpPr>
          <p:cNvPr id="9" name="TextBox 8"/>
          <p:cNvSpPr txBox="1"/>
          <p:nvPr/>
        </p:nvSpPr>
        <p:spPr>
          <a:xfrm>
            <a:off x="3776472" y="1892807"/>
            <a:ext cx="2139696" cy="822959"/>
          </a:xfrm>
          <a:prstGeom prst="rect">
            <a:avLst/>
          </a:prstGeom>
          <a:noFill/>
        </p:spPr>
        <p:txBody>
          <a:bodyPr wrap="square">
            <a:spAutoFit/>
          </a:bodyPr>
          <a:lstStyle/>
          <a:p>
            <a:pPr>
              <a:defRPr sz="1200">
                <a:solidFill>
                  <a:srgbClr val="0F172A"/>
                </a:solidFill>
              </a:defRPr>
            </a:pPr>
            <a:r>
              <a:t>Failed tests reported.</a:t>
            </a:r>
          </a:p>
        </p:txBody>
      </p:sp>
      <p:sp>
        <p:nvSpPr>
          <p:cNvPr id="10" name="Rounded Rectangle 9"/>
          <p:cNvSpPr/>
          <p:nvPr/>
        </p:nvSpPr>
        <p:spPr>
          <a:xfrm>
            <a:off x="6400800" y="1325880"/>
            <a:ext cx="2468880" cy="1508760"/>
          </a:xfrm>
          <a:prstGeom prst="roundRect">
            <a:avLst/>
          </a:prstGeom>
          <a:solidFill>
            <a:srgbClr val="F1F5F9"/>
          </a:solidFill>
          <a:ln>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565392" y="1453895"/>
            <a:ext cx="2139696" cy="384048"/>
          </a:xfrm>
          <a:prstGeom prst="rect">
            <a:avLst/>
          </a:prstGeom>
          <a:noFill/>
        </p:spPr>
        <p:txBody>
          <a:bodyPr wrap="none">
            <a:spAutoFit/>
          </a:bodyPr>
          <a:lstStyle/>
          <a:p>
            <a:pPr>
              <a:defRPr sz="1500" b="1">
                <a:solidFill>
                  <a:srgbClr val="7C3AED"/>
                </a:solidFill>
              </a:defRPr>
            </a:pPr>
            <a:r>
              <a:t>0</a:t>
            </a:r>
          </a:p>
        </p:txBody>
      </p:sp>
      <p:sp>
        <p:nvSpPr>
          <p:cNvPr id="12" name="TextBox 11"/>
          <p:cNvSpPr txBox="1"/>
          <p:nvPr/>
        </p:nvSpPr>
        <p:spPr>
          <a:xfrm>
            <a:off x="6565392" y="1892807"/>
            <a:ext cx="2139696" cy="822959"/>
          </a:xfrm>
          <a:prstGeom prst="rect">
            <a:avLst/>
          </a:prstGeom>
          <a:noFill/>
        </p:spPr>
        <p:txBody>
          <a:bodyPr wrap="square">
            <a:spAutoFit/>
          </a:bodyPr>
          <a:lstStyle/>
          <a:p>
            <a:pPr>
              <a:defRPr sz="1200">
                <a:solidFill>
                  <a:srgbClr val="0F172A"/>
                </a:solidFill>
              </a:defRPr>
            </a:pPr>
            <a:r>
              <a:t>Hallucination anomalies reported.</a:t>
            </a:r>
          </a:p>
        </p:txBody>
      </p:sp>
      <p:sp>
        <p:nvSpPr>
          <p:cNvPr id="13" name="Rounded Rectangle 12"/>
          <p:cNvSpPr/>
          <p:nvPr/>
        </p:nvSpPr>
        <p:spPr>
          <a:xfrm>
            <a:off x="9189720" y="1325880"/>
            <a:ext cx="2194560" cy="1508760"/>
          </a:xfrm>
          <a:prstGeom prst="roundRect">
            <a:avLst/>
          </a:prstGeom>
          <a:solidFill>
            <a:srgbClr val="F1F5F9"/>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354312" y="1453895"/>
            <a:ext cx="1865376" cy="384048"/>
          </a:xfrm>
          <a:prstGeom prst="rect">
            <a:avLst/>
          </a:prstGeom>
          <a:noFill/>
        </p:spPr>
        <p:txBody>
          <a:bodyPr wrap="none">
            <a:spAutoFit/>
          </a:bodyPr>
          <a:lstStyle/>
          <a:p>
            <a:pPr>
              <a:defRPr sz="1500" b="1">
                <a:solidFill>
                  <a:srgbClr val="F59E0B"/>
                </a:solidFill>
              </a:defRPr>
            </a:pPr>
            <a:r>
              <a:t>3+</a:t>
            </a:r>
          </a:p>
        </p:txBody>
      </p:sp>
      <p:sp>
        <p:nvSpPr>
          <p:cNvPr id="15" name="TextBox 14"/>
          <p:cNvSpPr txBox="1"/>
          <p:nvPr/>
        </p:nvSpPr>
        <p:spPr>
          <a:xfrm>
            <a:off x="9354312" y="1892807"/>
            <a:ext cx="1865376" cy="822959"/>
          </a:xfrm>
          <a:prstGeom prst="rect">
            <a:avLst/>
          </a:prstGeom>
          <a:noFill/>
        </p:spPr>
        <p:txBody>
          <a:bodyPr wrap="square">
            <a:spAutoFit/>
          </a:bodyPr>
          <a:lstStyle/>
          <a:p>
            <a:pPr>
              <a:defRPr sz="1200">
                <a:solidFill>
                  <a:srgbClr val="0F172A"/>
                </a:solidFill>
              </a:defRPr>
            </a:pPr>
            <a:r>
              <a:t>Additional edge cases documented.</a:t>
            </a:r>
          </a:p>
        </p:txBody>
      </p:sp>
      <p:sp>
        <p:nvSpPr>
          <p:cNvPr id="16" name="Rounded Rectangle 15"/>
          <p:cNvSpPr/>
          <p:nvPr/>
        </p:nvSpPr>
        <p:spPr>
          <a:xfrm>
            <a:off x="1097280" y="3383280"/>
            <a:ext cx="3200400" cy="1143000"/>
          </a:xfrm>
          <a:prstGeom prst="roundRect">
            <a:avLst/>
          </a:prstGeom>
          <a:solidFill>
            <a:srgbClr val="FFFFFF"/>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261872" y="3511296"/>
            <a:ext cx="2871216" cy="384048"/>
          </a:xfrm>
          <a:prstGeom prst="rect">
            <a:avLst/>
          </a:prstGeom>
          <a:noFill/>
        </p:spPr>
        <p:txBody>
          <a:bodyPr wrap="none">
            <a:spAutoFit/>
          </a:bodyPr>
          <a:lstStyle/>
          <a:p>
            <a:pPr>
              <a:defRPr sz="1500" b="1">
                <a:solidFill>
                  <a:srgbClr val="2563EB"/>
                </a:solidFill>
              </a:defRPr>
            </a:pPr>
            <a:r>
              <a:t>Briefing</a:t>
            </a:r>
          </a:p>
        </p:txBody>
      </p:sp>
      <p:sp>
        <p:nvSpPr>
          <p:cNvPr id="18" name="TextBox 17"/>
          <p:cNvSpPr txBox="1"/>
          <p:nvPr/>
        </p:nvSpPr>
        <p:spPr>
          <a:xfrm>
            <a:off x="1261872" y="3950208"/>
            <a:ext cx="2871216" cy="457200"/>
          </a:xfrm>
          <a:prstGeom prst="rect">
            <a:avLst/>
          </a:prstGeom>
          <a:noFill/>
        </p:spPr>
        <p:txBody>
          <a:bodyPr wrap="square">
            <a:spAutoFit/>
          </a:bodyPr>
          <a:lstStyle/>
          <a:p>
            <a:pPr>
              <a:defRPr sz="1200">
                <a:solidFill>
                  <a:srgbClr val="0F172A"/>
                </a:solidFill>
              </a:defRPr>
            </a:pPr>
            <a:r>
              <a:t>T1, T2, T10, T12</a:t>
            </a:r>
          </a:p>
        </p:txBody>
      </p:sp>
      <p:sp>
        <p:nvSpPr>
          <p:cNvPr id="19" name="Rounded Rectangle 18"/>
          <p:cNvSpPr/>
          <p:nvPr/>
        </p:nvSpPr>
        <p:spPr>
          <a:xfrm>
            <a:off x="4754880" y="3383280"/>
            <a:ext cx="3200400" cy="1143000"/>
          </a:xfrm>
          <a:prstGeom prst="roundRect">
            <a:avLst/>
          </a:prstGeom>
          <a:solidFill>
            <a:srgbClr val="FFFFFF"/>
          </a:solidFill>
          <a:ln>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919472" y="3511296"/>
            <a:ext cx="2871216" cy="384048"/>
          </a:xfrm>
          <a:prstGeom prst="rect">
            <a:avLst/>
          </a:prstGeom>
          <a:noFill/>
        </p:spPr>
        <p:txBody>
          <a:bodyPr wrap="none">
            <a:spAutoFit/>
          </a:bodyPr>
          <a:lstStyle/>
          <a:p>
            <a:pPr>
              <a:defRPr sz="1500" b="1">
                <a:solidFill>
                  <a:srgbClr val="059669"/>
                </a:solidFill>
              </a:defRPr>
            </a:pPr>
            <a:r>
              <a:t>Scheduling</a:t>
            </a:r>
          </a:p>
        </p:txBody>
      </p:sp>
      <p:sp>
        <p:nvSpPr>
          <p:cNvPr id="21" name="TextBox 20"/>
          <p:cNvSpPr txBox="1"/>
          <p:nvPr/>
        </p:nvSpPr>
        <p:spPr>
          <a:xfrm>
            <a:off x="4919472" y="3950208"/>
            <a:ext cx="2871216" cy="457200"/>
          </a:xfrm>
          <a:prstGeom prst="rect">
            <a:avLst/>
          </a:prstGeom>
          <a:noFill/>
        </p:spPr>
        <p:txBody>
          <a:bodyPr wrap="square">
            <a:spAutoFit/>
          </a:bodyPr>
          <a:lstStyle/>
          <a:p>
            <a:pPr>
              <a:defRPr sz="1200">
                <a:solidFill>
                  <a:srgbClr val="0F172A"/>
                </a:solidFill>
              </a:defRPr>
            </a:pPr>
            <a:r>
              <a:t>T3, T4, T5, T6, T9, T11</a:t>
            </a:r>
          </a:p>
        </p:txBody>
      </p:sp>
      <p:sp>
        <p:nvSpPr>
          <p:cNvPr id="22" name="Rounded Rectangle 21"/>
          <p:cNvSpPr/>
          <p:nvPr/>
        </p:nvSpPr>
        <p:spPr>
          <a:xfrm>
            <a:off x="8412480" y="3383280"/>
            <a:ext cx="3200400" cy="1143000"/>
          </a:xfrm>
          <a:prstGeom prst="roundRect">
            <a:avLst/>
          </a:prstGeom>
          <a:solidFill>
            <a:srgbClr val="FFFFFF"/>
          </a:solidFill>
          <a:ln>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577072" y="3511296"/>
            <a:ext cx="2871216" cy="384048"/>
          </a:xfrm>
          <a:prstGeom prst="rect">
            <a:avLst/>
          </a:prstGeom>
          <a:noFill/>
        </p:spPr>
        <p:txBody>
          <a:bodyPr wrap="none">
            <a:spAutoFit/>
          </a:bodyPr>
          <a:lstStyle/>
          <a:p>
            <a:pPr>
              <a:defRPr sz="1500" b="1">
                <a:solidFill>
                  <a:srgbClr val="7C3AED"/>
                </a:solidFill>
              </a:defRPr>
            </a:pPr>
            <a:r>
              <a:t>Email</a:t>
            </a:r>
          </a:p>
        </p:txBody>
      </p:sp>
      <p:sp>
        <p:nvSpPr>
          <p:cNvPr id="24" name="TextBox 23"/>
          <p:cNvSpPr txBox="1"/>
          <p:nvPr/>
        </p:nvSpPr>
        <p:spPr>
          <a:xfrm>
            <a:off x="8577072" y="3950208"/>
            <a:ext cx="2871216" cy="457200"/>
          </a:xfrm>
          <a:prstGeom prst="rect">
            <a:avLst/>
          </a:prstGeom>
          <a:noFill/>
        </p:spPr>
        <p:txBody>
          <a:bodyPr wrap="square">
            <a:spAutoFit/>
          </a:bodyPr>
          <a:lstStyle/>
          <a:p>
            <a:pPr>
              <a:defRPr sz="1200">
                <a:solidFill>
                  <a:srgbClr val="0F172A"/>
                </a:solidFill>
              </a:defRPr>
            </a:pPr>
            <a:r>
              <a:t>T7, T8</a:t>
            </a:r>
          </a:p>
        </p:txBody>
      </p:sp>
      <p:sp>
        <p:nvSpPr>
          <p:cNvPr id="25" name="TextBox 24"/>
          <p:cNvSpPr txBox="1"/>
          <p:nvPr/>
        </p:nvSpPr>
        <p:spPr>
          <a:xfrm>
            <a:off x="594360" y="6446520"/>
            <a:ext cx="10972800" cy="228600"/>
          </a:xfrm>
          <a:prstGeom prst="rect">
            <a:avLst/>
          </a:prstGeom>
          <a:noFill/>
        </p:spPr>
        <p:txBody>
          <a:bodyPr wrap="none">
            <a:spAutoFit/>
          </a:bodyPr>
          <a:lstStyle/>
          <a:p>
            <a:pPr>
              <a:defRPr sz="900">
                <a:solidFill>
                  <a:srgbClr val="475569"/>
                </a:solidFill>
              </a:defRPr>
            </a:pPr>
            <a:r>
              <a:t>CalendarMate  |  Mahesh P Zade  |  14</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10972800" cy="594360"/>
          </a:xfrm>
          <a:prstGeom prst="rect">
            <a:avLst/>
          </a:prstGeom>
          <a:noFill/>
        </p:spPr>
        <p:txBody>
          <a:bodyPr wrap="none">
            <a:spAutoFit/>
          </a:bodyPr>
          <a:lstStyle/>
          <a:p>
            <a:pPr>
              <a:defRPr sz="2800" b="1">
                <a:solidFill>
                  <a:srgbClr val="0F172A"/>
                </a:solidFill>
              </a:defRPr>
            </a:pPr>
            <a:r>
              <a:t>13. Langfuse Observability</a:t>
            </a:r>
          </a:p>
        </p:txBody>
      </p:sp>
      <p:sp>
        <p:nvSpPr>
          <p:cNvPr id="4" name="Rounded Rectangle 3"/>
          <p:cNvSpPr/>
          <p:nvPr/>
        </p:nvSpPr>
        <p:spPr>
          <a:xfrm>
            <a:off x="685800" y="1417320"/>
            <a:ext cx="2514600" cy="1600200"/>
          </a:xfrm>
          <a:prstGeom prst="roundRect">
            <a:avLst/>
          </a:prstGeom>
          <a:solidFill>
            <a:srgbClr val="F1F5F9"/>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50392" y="1545336"/>
            <a:ext cx="2185416" cy="384048"/>
          </a:xfrm>
          <a:prstGeom prst="rect">
            <a:avLst/>
          </a:prstGeom>
          <a:noFill/>
        </p:spPr>
        <p:txBody>
          <a:bodyPr wrap="none">
            <a:spAutoFit/>
          </a:bodyPr>
          <a:lstStyle/>
          <a:p>
            <a:pPr>
              <a:defRPr sz="1500" b="1">
                <a:solidFill>
                  <a:srgbClr val="2563EB"/>
                </a:solidFill>
              </a:defRPr>
            </a:pPr>
            <a:r>
              <a:t>Latency</a:t>
            </a:r>
          </a:p>
        </p:txBody>
      </p:sp>
      <p:sp>
        <p:nvSpPr>
          <p:cNvPr id="6" name="TextBox 5"/>
          <p:cNvSpPr txBox="1"/>
          <p:nvPr/>
        </p:nvSpPr>
        <p:spPr>
          <a:xfrm>
            <a:off x="850392" y="1984248"/>
            <a:ext cx="2185416" cy="914400"/>
          </a:xfrm>
          <a:prstGeom prst="rect">
            <a:avLst/>
          </a:prstGeom>
          <a:noFill/>
        </p:spPr>
        <p:txBody>
          <a:bodyPr wrap="square">
            <a:spAutoFit/>
          </a:bodyPr>
          <a:lstStyle/>
          <a:p>
            <a:pPr>
              <a:defRPr sz="1200">
                <a:solidFill>
                  <a:srgbClr val="0F172A"/>
                </a:solidFill>
              </a:defRPr>
            </a:pPr>
            <a:r>
              <a:t>~4.0 sec</a:t>
            </a:r>
          </a:p>
        </p:txBody>
      </p:sp>
      <p:sp>
        <p:nvSpPr>
          <p:cNvPr id="7" name="TextBox 6"/>
          <p:cNvSpPr txBox="1"/>
          <p:nvPr/>
        </p:nvSpPr>
        <p:spPr>
          <a:xfrm>
            <a:off x="841248" y="3154680"/>
            <a:ext cx="2194560" cy="731520"/>
          </a:xfrm>
          <a:prstGeom prst="rect">
            <a:avLst/>
          </a:prstGeom>
          <a:noFill/>
        </p:spPr>
        <p:txBody>
          <a:bodyPr wrap="none">
            <a:spAutoFit/>
          </a:bodyPr>
          <a:lstStyle/>
          <a:p>
            <a:pPr algn="ctr">
              <a:defRPr sz="1200">
                <a:solidFill>
                  <a:srgbClr val="475569"/>
                </a:solidFill>
              </a:defRPr>
            </a:pPr>
            <a:r>
              <a:t>End-to-end sample trace</a:t>
            </a:r>
          </a:p>
        </p:txBody>
      </p:sp>
      <p:sp>
        <p:nvSpPr>
          <p:cNvPr id="8" name="Rounded Rectangle 7"/>
          <p:cNvSpPr/>
          <p:nvPr/>
        </p:nvSpPr>
        <p:spPr>
          <a:xfrm>
            <a:off x="3474720" y="1417320"/>
            <a:ext cx="2514600" cy="1600200"/>
          </a:xfrm>
          <a:prstGeom prst="roundRect">
            <a:avLst/>
          </a:prstGeom>
          <a:solidFill>
            <a:srgbClr val="F1F5F9"/>
          </a:solidFill>
          <a:ln>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639312" y="1545336"/>
            <a:ext cx="2185416" cy="384048"/>
          </a:xfrm>
          <a:prstGeom prst="rect">
            <a:avLst/>
          </a:prstGeom>
          <a:noFill/>
        </p:spPr>
        <p:txBody>
          <a:bodyPr wrap="none">
            <a:spAutoFit/>
          </a:bodyPr>
          <a:lstStyle/>
          <a:p>
            <a:pPr>
              <a:defRPr sz="1500" b="1">
                <a:solidFill>
                  <a:srgbClr val="059669"/>
                </a:solidFill>
              </a:defRPr>
            </a:pPr>
            <a:r>
              <a:t>TTFT</a:t>
            </a:r>
          </a:p>
        </p:txBody>
      </p:sp>
      <p:sp>
        <p:nvSpPr>
          <p:cNvPr id="10" name="TextBox 9"/>
          <p:cNvSpPr txBox="1"/>
          <p:nvPr/>
        </p:nvSpPr>
        <p:spPr>
          <a:xfrm>
            <a:off x="3639312" y="1984248"/>
            <a:ext cx="2185416" cy="914400"/>
          </a:xfrm>
          <a:prstGeom prst="rect">
            <a:avLst/>
          </a:prstGeom>
          <a:noFill/>
        </p:spPr>
        <p:txBody>
          <a:bodyPr wrap="square">
            <a:spAutoFit/>
          </a:bodyPr>
          <a:lstStyle/>
          <a:p>
            <a:pPr>
              <a:defRPr sz="1200">
                <a:solidFill>
                  <a:srgbClr val="0F172A"/>
                </a:solidFill>
              </a:defRPr>
            </a:pPr>
            <a:r>
              <a:t>~1.28 sec</a:t>
            </a:r>
          </a:p>
        </p:txBody>
      </p:sp>
      <p:sp>
        <p:nvSpPr>
          <p:cNvPr id="11" name="TextBox 10"/>
          <p:cNvSpPr txBox="1"/>
          <p:nvPr/>
        </p:nvSpPr>
        <p:spPr>
          <a:xfrm>
            <a:off x="3630168" y="3154680"/>
            <a:ext cx="2194560" cy="731520"/>
          </a:xfrm>
          <a:prstGeom prst="rect">
            <a:avLst/>
          </a:prstGeom>
          <a:noFill/>
        </p:spPr>
        <p:txBody>
          <a:bodyPr wrap="none">
            <a:spAutoFit/>
          </a:bodyPr>
          <a:lstStyle/>
          <a:p>
            <a:pPr algn="ctr">
              <a:defRPr sz="1200">
                <a:solidFill>
                  <a:srgbClr val="475569"/>
                </a:solidFill>
              </a:defRPr>
            </a:pPr>
            <a:r>
              <a:t>Time to first token</a:t>
            </a:r>
          </a:p>
        </p:txBody>
      </p:sp>
      <p:sp>
        <p:nvSpPr>
          <p:cNvPr id="12" name="Rounded Rectangle 11"/>
          <p:cNvSpPr/>
          <p:nvPr/>
        </p:nvSpPr>
        <p:spPr>
          <a:xfrm>
            <a:off x="6263640" y="1417320"/>
            <a:ext cx="2514600" cy="1600200"/>
          </a:xfrm>
          <a:prstGeom prst="roundRect">
            <a:avLst/>
          </a:prstGeom>
          <a:solidFill>
            <a:srgbClr val="F1F5F9"/>
          </a:solidFill>
          <a:ln>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28231" y="1545336"/>
            <a:ext cx="2185416" cy="384048"/>
          </a:xfrm>
          <a:prstGeom prst="rect">
            <a:avLst/>
          </a:prstGeom>
          <a:noFill/>
        </p:spPr>
        <p:txBody>
          <a:bodyPr wrap="none">
            <a:spAutoFit/>
          </a:bodyPr>
          <a:lstStyle/>
          <a:p>
            <a:pPr>
              <a:defRPr sz="1500" b="1">
                <a:solidFill>
                  <a:srgbClr val="7C3AED"/>
                </a:solidFill>
              </a:defRPr>
            </a:pPr>
            <a:r>
              <a:t>Tokens</a:t>
            </a:r>
          </a:p>
        </p:txBody>
      </p:sp>
      <p:sp>
        <p:nvSpPr>
          <p:cNvPr id="14" name="TextBox 13"/>
          <p:cNvSpPr txBox="1"/>
          <p:nvPr/>
        </p:nvSpPr>
        <p:spPr>
          <a:xfrm>
            <a:off x="6428231" y="1984248"/>
            <a:ext cx="2185416" cy="914400"/>
          </a:xfrm>
          <a:prstGeom prst="rect">
            <a:avLst/>
          </a:prstGeom>
          <a:noFill/>
        </p:spPr>
        <p:txBody>
          <a:bodyPr wrap="square">
            <a:spAutoFit/>
          </a:bodyPr>
          <a:lstStyle/>
          <a:p>
            <a:pPr>
              <a:defRPr sz="1200">
                <a:solidFill>
                  <a:srgbClr val="0F172A"/>
                </a:solidFill>
              </a:defRPr>
            </a:pPr>
            <a:r>
              <a:t>~2,890</a:t>
            </a:r>
          </a:p>
        </p:txBody>
      </p:sp>
      <p:sp>
        <p:nvSpPr>
          <p:cNvPr id="15" name="TextBox 14"/>
          <p:cNvSpPr txBox="1"/>
          <p:nvPr/>
        </p:nvSpPr>
        <p:spPr>
          <a:xfrm>
            <a:off x="6419088" y="3154680"/>
            <a:ext cx="2194560" cy="731520"/>
          </a:xfrm>
          <a:prstGeom prst="rect">
            <a:avLst/>
          </a:prstGeom>
          <a:noFill/>
        </p:spPr>
        <p:txBody>
          <a:bodyPr wrap="none">
            <a:spAutoFit/>
          </a:bodyPr>
          <a:lstStyle/>
          <a:p>
            <a:pPr algn="ctr">
              <a:defRPr sz="1200">
                <a:solidFill>
                  <a:srgbClr val="475569"/>
                </a:solidFill>
              </a:defRPr>
            </a:pPr>
            <a:r>
              <a:t>~2,770 input + ~120 output</a:t>
            </a:r>
          </a:p>
        </p:txBody>
      </p:sp>
      <p:sp>
        <p:nvSpPr>
          <p:cNvPr id="16" name="Rounded Rectangle 15"/>
          <p:cNvSpPr/>
          <p:nvPr/>
        </p:nvSpPr>
        <p:spPr>
          <a:xfrm>
            <a:off x="9052559" y="1417320"/>
            <a:ext cx="2514600" cy="1600200"/>
          </a:xfrm>
          <a:prstGeom prst="roundRect">
            <a:avLst/>
          </a:prstGeom>
          <a:solidFill>
            <a:srgbClr val="F1F5F9"/>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217151" y="1545336"/>
            <a:ext cx="2185416" cy="384048"/>
          </a:xfrm>
          <a:prstGeom prst="rect">
            <a:avLst/>
          </a:prstGeom>
          <a:noFill/>
        </p:spPr>
        <p:txBody>
          <a:bodyPr wrap="none">
            <a:spAutoFit/>
          </a:bodyPr>
          <a:lstStyle/>
          <a:p>
            <a:pPr>
              <a:defRPr sz="1500" b="1">
                <a:solidFill>
                  <a:srgbClr val="F59E0B"/>
                </a:solidFill>
              </a:defRPr>
            </a:pPr>
            <a:r>
              <a:t>Observed cost</a:t>
            </a:r>
          </a:p>
        </p:txBody>
      </p:sp>
      <p:sp>
        <p:nvSpPr>
          <p:cNvPr id="18" name="TextBox 17"/>
          <p:cNvSpPr txBox="1"/>
          <p:nvPr/>
        </p:nvSpPr>
        <p:spPr>
          <a:xfrm>
            <a:off x="9217151" y="1984248"/>
            <a:ext cx="2185416" cy="914400"/>
          </a:xfrm>
          <a:prstGeom prst="rect">
            <a:avLst/>
          </a:prstGeom>
          <a:noFill/>
        </p:spPr>
        <p:txBody>
          <a:bodyPr wrap="square">
            <a:spAutoFit/>
          </a:bodyPr>
          <a:lstStyle/>
          <a:p>
            <a:pPr>
              <a:defRPr sz="1200">
                <a:solidFill>
                  <a:srgbClr val="0F172A"/>
                </a:solidFill>
              </a:defRPr>
            </a:pPr>
            <a:r>
              <a:t>~$0.000286</a:t>
            </a:r>
          </a:p>
        </p:txBody>
      </p:sp>
      <p:sp>
        <p:nvSpPr>
          <p:cNvPr id="19" name="TextBox 18"/>
          <p:cNvSpPr txBox="1"/>
          <p:nvPr/>
        </p:nvSpPr>
        <p:spPr>
          <a:xfrm>
            <a:off x="9208007" y="3154680"/>
            <a:ext cx="2194560" cy="731520"/>
          </a:xfrm>
          <a:prstGeom prst="rect">
            <a:avLst/>
          </a:prstGeom>
          <a:noFill/>
        </p:spPr>
        <p:txBody>
          <a:bodyPr wrap="none">
            <a:spAutoFit/>
          </a:bodyPr>
          <a:lstStyle/>
          <a:p>
            <a:pPr algn="ctr">
              <a:defRPr sz="1200">
                <a:solidFill>
                  <a:srgbClr val="475569"/>
                </a:solidFill>
              </a:defRPr>
            </a:pPr>
            <a:r>
              <a:t>Sample Langfuse cost/run</a:t>
            </a:r>
          </a:p>
        </p:txBody>
      </p:sp>
      <p:sp>
        <p:nvSpPr>
          <p:cNvPr id="20" name="TextBox 19"/>
          <p:cNvSpPr txBox="1"/>
          <p:nvPr/>
        </p:nvSpPr>
        <p:spPr>
          <a:xfrm>
            <a:off x="868680" y="4297680"/>
            <a:ext cx="10424160" cy="914400"/>
          </a:xfrm>
          <a:prstGeom prst="rect">
            <a:avLst/>
          </a:prstGeom>
          <a:noFill/>
        </p:spPr>
        <p:txBody>
          <a:bodyPr wrap="square">
            <a:spAutoFit/>
          </a:bodyPr>
          <a:lstStyle/>
          <a:p>
            <a:pPr>
              <a:spcAft>
                <a:spcPts val="1000"/>
              </a:spcAft>
              <a:defRPr sz="1800">
                <a:solidFill>
                  <a:srgbClr val="0F172A"/>
                </a:solidFill>
              </a:defRPr>
            </a:pPr>
            <a:r>
              <a:t>Langfuse provides execution traces for debugging, token monitoring, latency analysis and cost visibility.</a:t>
            </a:r>
          </a:p>
        </p:txBody>
      </p:sp>
      <p:sp>
        <p:nvSpPr>
          <p:cNvPr id="21" name="TextBox 20"/>
          <p:cNvSpPr txBox="1"/>
          <p:nvPr/>
        </p:nvSpPr>
        <p:spPr>
          <a:xfrm>
            <a:off x="594360" y="6446520"/>
            <a:ext cx="10972800" cy="228600"/>
          </a:xfrm>
          <a:prstGeom prst="rect">
            <a:avLst/>
          </a:prstGeom>
          <a:noFill/>
        </p:spPr>
        <p:txBody>
          <a:bodyPr wrap="none">
            <a:spAutoFit/>
          </a:bodyPr>
          <a:lstStyle/>
          <a:p>
            <a:pPr>
              <a:defRPr sz="900">
                <a:solidFill>
                  <a:srgbClr val="475569"/>
                </a:solidFill>
              </a:defRPr>
            </a:pPr>
            <a:r>
              <a:t>CalendarMate  |  Mahesh P Zade  |  15</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10972800" cy="594360"/>
          </a:xfrm>
          <a:prstGeom prst="rect">
            <a:avLst/>
          </a:prstGeom>
          <a:noFill/>
        </p:spPr>
        <p:txBody>
          <a:bodyPr wrap="none">
            <a:spAutoFit/>
          </a:bodyPr>
          <a:lstStyle/>
          <a:p>
            <a:pPr>
              <a:defRPr sz="2800" b="1">
                <a:solidFill>
                  <a:srgbClr val="0F172A"/>
                </a:solidFill>
              </a:defRPr>
            </a:pPr>
            <a:r>
              <a:t>14. Cost Analysis</a:t>
            </a:r>
          </a:p>
        </p:txBody>
      </p:sp>
      <p:sp>
        <p:nvSpPr>
          <p:cNvPr id="4" name="Rounded Rectangle 3"/>
          <p:cNvSpPr/>
          <p:nvPr/>
        </p:nvSpPr>
        <p:spPr>
          <a:xfrm>
            <a:off x="777240" y="1371600"/>
            <a:ext cx="3200400" cy="1554480"/>
          </a:xfrm>
          <a:prstGeom prst="roundRect">
            <a:avLst/>
          </a:prstGeom>
          <a:solidFill>
            <a:srgbClr val="F1F5F9"/>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41832" y="1499616"/>
            <a:ext cx="2871216" cy="384048"/>
          </a:xfrm>
          <a:prstGeom prst="rect">
            <a:avLst/>
          </a:prstGeom>
          <a:noFill/>
        </p:spPr>
        <p:txBody>
          <a:bodyPr wrap="none">
            <a:spAutoFit/>
          </a:bodyPr>
          <a:lstStyle/>
          <a:p>
            <a:pPr>
              <a:defRPr sz="1500" b="1">
                <a:solidFill>
                  <a:srgbClr val="2563EB"/>
                </a:solidFill>
              </a:defRPr>
            </a:pPr>
            <a:r>
              <a:t>15 runs/day</a:t>
            </a:r>
          </a:p>
        </p:txBody>
      </p:sp>
      <p:sp>
        <p:nvSpPr>
          <p:cNvPr id="6" name="TextBox 5"/>
          <p:cNvSpPr txBox="1"/>
          <p:nvPr/>
        </p:nvSpPr>
        <p:spPr>
          <a:xfrm>
            <a:off x="941832" y="1938528"/>
            <a:ext cx="2871216" cy="868680"/>
          </a:xfrm>
          <a:prstGeom prst="rect">
            <a:avLst/>
          </a:prstGeom>
          <a:noFill/>
        </p:spPr>
        <p:txBody>
          <a:bodyPr wrap="square">
            <a:spAutoFit/>
          </a:bodyPr>
          <a:lstStyle/>
          <a:p>
            <a:pPr>
              <a:defRPr sz="1200">
                <a:solidFill>
                  <a:srgbClr val="0F172A"/>
                </a:solidFill>
              </a:defRPr>
            </a:pPr>
            <a:r>
              <a:t>≈ $0.00429/user/day</a:t>
            </a:r>
          </a:p>
        </p:txBody>
      </p:sp>
      <p:sp>
        <p:nvSpPr>
          <p:cNvPr id="7" name="Rounded Rectangle 6"/>
          <p:cNvSpPr/>
          <p:nvPr/>
        </p:nvSpPr>
        <p:spPr>
          <a:xfrm>
            <a:off x="4480560" y="1371600"/>
            <a:ext cx="3200400" cy="1554480"/>
          </a:xfrm>
          <a:prstGeom prst="roundRect">
            <a:avLst/>
          </a:prstGeom>
          <a:solidFill>
            <a:srgbClr val="F1F5F9"/>
          </a:solidFill>
          <a:ln>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645152" y="1499616"/>
            <a:ext cx="2871216" cy="384048"/>
          </a:xfrm>
          <a:prstGeom prst="rect">
            <a:avLst/>
          </a:prstGeom>
          <a:noFill/>
        </p:spPr>
        <p:txBody>
          <a:bodyPr wrap="none">
            <a:spAutoFit/>
          </a:bodyPr>
          <a:lstStyle/>
          <a:p>
            <a:pPr>
              <a:defRPr sz="1500" b="1">
                <a:solidFill>
                  <a:srgbClr val="059669"/>
                </a:solidFill>
              </a:defRPr>
            </a:pPr>
            <a:r>
              <a:t>30 runs/day</a:t>
            </a:r>
          </a:p>
        </p:txBody>
      </p:sp>
      <p:sp>
        <p:nvSpPr>
          <p:cNvPr id="9" name="TextBox 8"/>
          <p:cNvSpPr txBox="1"/>
          <p:nvPr/>
        </p:nvSpPr>
        <p:spPr>
          <a:xfrm>
            <a:off x="4645152" y="1938528"/>
            <a:ext cx="2871216" cy="868680"/>
          </a:xfrm>
          <a:prstGeom prst="rect">
            <a:avLst/>
          </a:prstGeom>
          <a:noFill/>
        </p:spPr>
        <p:txBody>
          <a:bodyPr wrap="square">
            <a:spAutoFit/>
          </a:bodyPr>
          <a:lstStyle/>
          <a:p>
            <a:pPr>
              <a:defRPr sz="1200">
                <a:solidFill>
                  <a:srgbClr val="0F172A"/>
                </a:solidFill>
              </a:defRPr>
            </a:pPr>
            <a:r>
              <a:t>≈ $0.00858/user/day</a:t>
            </a:r>
          </a:p>
        </p:txBody>
      </p:sp>
      <p:sp>
        <p:nvSpPr>
          <p:cNvPr id="10" name="Rounded Rectangle 9"/>
          <p:cNvSpPr/>
          <p:nvPr/>
        </p:nvSpPr>
        <p:spPr>
          <a:xfrm>
            <a:off x="8183879" y="1371600"/>
            <a:ext cx="3200400" cy="1554480"/>
          </a:xfrm>
          <a:prstGeom prst="roundRect">
            <a:avLst/>
          </a:prstGeom>
          <a:solidFill>
            <a:srgbClr val="F1F5F9"/>
          </a:solidFill>
          <a:ln>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348471" y="1499616"/>
            <a:ext cx="2871216" cy="384048"/>
          </a:xfrm>
          <a:prstGeom prst="rect">
            <a:avLst/>
          </a:prstGeom>
          <a:noFill/>
        </p:spPr>
        <p:txBody>
          <a:bodyPr wrap="none">
            <a:spAutoFit/>
          </a:bodyPr>
          <a:lstStyle/>
          <a:p>
            <a:pPr>
              <a:defRPr sz="1500" b="1">
                <a:solidFill>
                  <a:srgbClr val="7C3AED"/>
                </a:solidFill>
              </a:defRPr>
            </a:pPr>
            <a:r>
              <a:t>30 × 20 days</a:t>
            </a:r>
          </a:p>
        </p:txBody>
      </p:sp>
      <p:sp>
        <p:nvSpPr>
          <p:cNvPr id="12" name="TextBox 11"/>
          <p:cNvSpPr txBox="1"/>
          <p:nvPr/>
        </p:nvSpPr>
        <p:spPr>
          <a:xfrm>
            <a:off x="8348471" y="1938528"/>
            <a:ext cx="2871216" cy="868680"/>
          </a:xfrm>
          <a:prstGeom prst="rect">
            <a:avLst/>
          </a:prstGeom>
          <a:noFill/>
        </p:spPr>
        <p:txBody>
          <a:bodyPr wrap="square">
            <a:spAutoFit/>
          </a:bodyPr>
          <a:lstStyle/>
          <a:p>
            <a:pPr>
              <a:defRPr sz="1200">
                <a:solidFill>
                  <a:srgbClr val="0F172A"/>
                </a:solidFill>
              </a:defRPr>
            </a:pPr>
            <a:r>
              <a:t>≈ $0.1716/user/month</a:t>
            </a:r>
          </a:p>
        </p:txBody>
      </p:sp>
      <p:sp>
        <p:nvSpPr>
          <p:cNvPr id="13" name="TextBox 12"/>
          <p:cNvSpPr txBox="1"/>
          <p:nvPr/>
        </p:nvSpPr>
        <p:spPr>
          <a:xfrm>
            <a:off x="868680" y="3657600"/>
            <a:ext cx="10424160" cy="1188720"/>
          </a:xfrm>
          <a:prstGeom prst="rect">
            <a:avLst/>
          </a:prstGeom>
          <a:noFill/>
        </p:spPr>
        <p:txBody>
          <a:bodyPr wrap="square">
            <a:spAutoFit/>
          </a:bodyPr>
          <a:lstStyle/>
          <a:p>
            <a:pPr>
              <a:spcAft>
                <a:spcPts val="1000"/>
              </a:spcAft>
              <a:defRPr sz="1700">
                <a:solidFill>
                  <a:srgbClr val="0F172A"/>
                </a:solidFill>
              </a:defRPr>
            </a:pPr>
            <a:r>
              <a:t>Based on the observed ~$0.000286/run figure in the supplied Langfuse report.</a:t>
            </a:r>
          </a:p>
          <a:p>
            <a:pPr>
              <a:spcAft>
                <a:spcPts val="1000"/>
              </a:spcAft>
              <a:defRPr sz="1700">
                <a:solidFill>
                  <a:srgbClr val="0F172A"/>
                </a:solidFill>
              </a:defRPr>
            </a:pPr>
            <a:r>
              <a:t>Production cost must also include hosting, API usage, and observability where applicable.</a:t>
            </a:r>
          </a:p>
        </p:txBody>
      </p:sp>
      <p:sp>
        <p:nvSpPr>
          <p:cNvPr id="14" name="TextBox 13"/>
          <p:cNvSpPr txBox="1"/>
          <p:nvPr/>
        </p:nvSpPr>
        <p:spPr>
          <a:xfrm>
            <a:off x="594360" y="6446520"/>
            <a:ext cx="10972800" cy="228600"/>
          </a:xfrm>
          <a:prstGeom prst="rect">
            <a:avLst/>
          </a:prstGeom>
          <a:noFill/>
        </p:spPr>
        <p:txBody>
          <a:bodyPr wrap="none">
            <a:spAutoFit/>
          </a:bodyPr>
          <a:lstStyle/>
          <a:p>
            <a:pPr>
              <a:defRPr sz="900">
                <a:solidFill>
                  <a:srgbClr val="475569"/>
                </a:solidFill>
              </a:defRPr>
            </a:pPr>
            <a:r>
              <a:t>CalendarMate  |  Mahesh P Zade  |  16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10972800" cy="594360"/>
          </a:xfrm>
          <a:prstGeom prst="rect">
            <a:avLst/>
          </a:prstGeom>
          <a:noFill/>
        </p:spPr>
        <p:txBody>
          <a:bodyPr wrap="none">
            <a:spAutoFit/>
          </a:bodyPr>
          <a:lstStyle/>
          <a:p>
            <a:pPr>
              <a:defRPr sz="2800" b="1">
                <a:solidFill>
                  <a:srgbClr val="0F172A"/>
                </a:solidFill>
              </a:defRPr>
            </a:pPr>
            <a:r>
              <a:t>15. Challenges → Solutions → Learning</a:t>
            </a:r>
          </a:p>
        </p:txBody>
      </p:sp>
      <p:sp>
        <p:nvSpPr>
          <p:cNvPr id="4" name="Rounded Rectangle 3"/>
          <p:cNvSpPr/>
          <p:nvPr/>
        </p:nvSpPr>
        <p:spPr>
          <a:xfrm>
            <a:off x="502920" y="1234440"/>
            <a:ext cx="1600200" cy="868680"/>
          </a:xfrm>
          <a:prstGeom prst="roundRect">
            <a:avLst/>
          </a:prstGeom>
          <a:solidFill>
            <a:srgbClr val="F1F5F9"/>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67512" y="1362456"/>
            <a:ext cx="1271016" cy="384048"/>
          </a:xfrm>
          <a:prstGeom prst="rect">
            <a:avLst/>
          </a:prstGeom>
          <a:noFill/>
        </p:spPr>
        <p:txBody>
          <a:bodyPr wrap="none">
            <a:spAutoFit/>
          </a:bodyPr>
          <a:lstStyle/>
          <a:p>
            <a:pPr>
              <a:defRPr sz="1500" b="1">
                <a:solidFill>
                  <a:srgbClr val="2563EB"/>
                </a:solidFill>
              </a:defRPr>
            </a:pPr>
            <a:r>
              <a:t>Routing</a:t>
            </a:r>
          </a:p>
        </p:txBody>
      </p:sp>
      <p:sp>
        <p:nvSpPr>
          <p:cNvPr id="6" name="TextBox 5"/>
          <p:cNvSpPr txBox="1"/>
          <p:nvPr/>
        </p:nvSpPr>
        <p:spPr>
          <a:xfrm>
            <a:off x="667512" y="1801368"/>
            <a:ext cx="1271016" cy="182879"/>
          </a:xfrm>
          <a:prstGeom prst="rect">
            <a:avLst/>
          </a:prstGeom>
          <a:noFill/>
        </p:spPr>
        <p:txBody>
          <a:bodyPr wrap="square">
            <a:spAutoFit/>
          </a:bodyPr>
          <a:lstStyle/>
          <a:p>
            <a:pPr>
              <a:defRPr sz="1200">
                <a:solidFill>
                  <a:srgbClr val="0F172A"/>
                </a:solidFill>
              </a:defRPr>
            </a:pPr>
            <a:endParaRPr/>
          </a:p>
        </p:txBody>
      </p:sp>
      <p:sp>
        <p:nvSpPr>
          <p:cNvPr id="7" name="Rounded Rectangle 6"/>
          <p:cNvSpPr/>
          <p:nvPr/>
        </p:nvSpPr>
        <p:spPr>
          <a:xfrm>
            <a:off x="2240280" y="1234440"/>
            <a:ext cx="2423160" cy="868680"/>
          </a:xfrm>
          <a:prstGeom prst="roundRect">
            <a:avLst/>
          </a:prstGeom>
          <a:solidFill>
            <a:srgbClr val="FFFFFF"/>
          </a:solidFill>
          <a:ln>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404872" y="1362456"/>
            <a:ext cx="2093976" cy="384048"/>
          </a:xfrm>
          <a:prstGeom prst="rect">
            <a:avLst/>
          </a:prstGeom>
          <a:noFill/>
        </p:spPr>
        <p:txBody>
          <a:bodyPr wrap="none">
            <a:spAutoFit/>
          </a:bodyPr>
          <a:lstStyle/>
          <a:p>
            <a:pPr>
              <a:defRPr sz="1500" b="1">
                <a:solidFill>
                  <a:srgbClr val="475569"/>
                </a:solidFill>
              </a:defRPr>
            </a:pPr>
            <a:r>
              <a:t>Challenge</a:t>
            </a:r>
          </a:p>
        </p:txBody>
      </p:sp>
      <p:sp>
        <p:nvSpPr>
          <p:cNvPr id="9" name="TextBox 8"/>
          <p:cNvSpPr txBox="1"/>
          <p:nvPr/>
        </p:nvSpPr>
        <p:spPr>
          <a:xfrm>
            <a:off x="2404872" y="1801368"/>
            <a:ext cx="2093976" cy="182879"/>
          </a:xfrm>
          <a:prstGeom prst="rect">
            <a:avLst/>
          </a:prstGeom>
          <a:noFill/>
        </p:spPr>
        <p:txBody>
          <a:bodyPr wrap="square">
            <a:spAutoFit/>
          </a:bodyPr>
          <a:lstStyle/>
          <a:p>
            <a:pPr>
              <a:defRPr sz="1200">
                <a:solidFill>
                  <a:srgbClr val="0F172A"/>
                </a:solidFill>
              </a:defRPr>
            </a:pPr>
            <a:r>
              <a:t>Some intents could overlap</a:t>
            </a:r>
          </a:p>
        </p:txBody>
      </p:sp>
      <p:sp>
        <p:nvSpPr>
          <p:cNvPr id="10" name="Rounded Rectangle 9"/>
          <p:cNvSpPr/>
          <p:nvPr/>
        </p:nvSpPr>
        <p:spPr>
          <a:xfrm>
            <a:off x="4800600" y="1234440"/>
            <a:ext cx="3063240" cy="868680"/>
          </a:xfrm>
          <a:prstGeom prst="roundRect">
            <a:avLst/>
          </a:prstGeom>
          <a:solidFill>
            <a:srgbClr val="FFFFFF"/>
          </a:solidFill>
          <a:ln>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965192" y="1362456"/>
            <a:ext cx="2734056" cy="384048"/>
          </a:xfrm>
          <a:prstGeom prst="rect">
            <a:avLst/>
          </a:prstGeom>
          <a:noFill/>
        </p:spPr>
        <p:txBody>
          <a:bodyPr wrap="none">
            <a:spAutoFit/>
          </a:bodyPr>
          <a:lstStyle/>
          <a:p>
            <a:pPr>
              <a:defRPr sz="1500" b="1">
                <a:solidFill>
                  <a:srgbClr val="475569"/>
                </a:solidFill>
              </a:defRPr>
            </a:pPr>
            <a:r>
              <a:t>Solution</a:t>
            </a:r>
          </a:p>
        </p:txBody>
      </p:sp>
      <p:sp>
        <p:nvSpPr>
          <p:cNvPr id="12" name="TextBox 11"/>
          <p:cNvSpPr txBox="1"/>
          <p:nvPr/>
        </p:nvSpPr>
        <p:spPr>
          <a:xfrm>
            <a:off x="4965192" y="1801368"/>
            <a:ext cx="2734056" cy="182879"/>
          </a:xfrm>
          <a:prstGeom prst="rect">
            <a:avLst/>
          </a:prstGeom>
          <a:noFill/>
        </p:spPr>
        <p:txBody>
          <a:bodyPr wrap="square">
            <a:spAutoFit/>
          </a:bodyPr>
          <a:lstStyle/>
          <a:p>
            <a:pPr>
              <a:defRPr sz="1200">
                <a:solidFill>
                  <a:srgbClr val="0F172A"/>
                </a:solidFill>
              </a:defRPr>
            </a:pPr>
            <a:r>
              <a:t>Tightened route keywords and intent rules</a:t>
            </a:r>
          </a:p>
        </p:txBody>
      </p:sp>
      <p:sp>
        <p:nvSpPr>
          <p:cNvPr id="13" name="Rounded Rectangle 12"/>
          <p:cNvSpPr/>
          <p:nvPr/>
        </p:nvSpPr>
        <p:spPr>
          <a:xfrm>
            <a:off x="8046720" y="1234440"/>
            <a:ext cx="3566160" cy="868680"/>
          </a:xfrm>
          <a:prstGeom prst="roundRect">
            <a:avLst/>
          </a:prstGeom>
          <a:solidFill>
            <a:srgbClr val="FFFFFF"/>
          </a:solidFill>
          <a:ln>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211312" y="1362456"/>
            <a:ext cx="3236976" cy="384048"/>
          </a:xfrm>
          <a:prstGeom prst="rect">
            <a:avLst/>
          </a:prstGeom>
          <a:noFill/>
        </p:spPr>
        <p:txBody>
          <a:bodyPr wrap="none">
            <a:spAutoFit/>
          </a:bodyPr>
          <a:lstStyle/>
          <a:p>
            <a:pPr>
              <a:defRPr sz="1500" b="1">
                <a:solidFill>
                  <a:srgbClr val="475569"/>
                </a:solidFill>
              </a:defRPr>
            </a:pPr>
            <a:r>
              <a:t>Learning</a:t>
            </a:r>
          </a:p>
        </p:txBody>
      </p:sp>
      <p:sp>
        <p:nvSpPr>
          <p:cNvPr id="15" name="TextBox 14"/>
          <p:cNvSpPr txBox="1"/>
          <p:nvPr/>
        </p:nvSpPr>
        <p:spPr>
          <a:xfrm>
            <a:off x="8211312" y="1801368"/>
            <a:ext cx="3236976" cy="182879"/>
          </a:xfrm>
          <a:prstGeom prst="rect">
            <a:avLst/>
          </a:prstGeom>
          <a:noFill/>
        </p:spPr>
        <p:txBody>
          <a:bodyPr wrap="square">
            <a:spAutoFit/>
          </a:bodyPr>
          <a:lstStyle/>
          <a:p>
            <a:pPr>
              <a:defRPr sz="1200">
                <a:solidFill>
                  <a:srgbClr val="0F172A"/>
                </a:solidFill>
              </a:defRPr>
            </a:pPr>
            <a:r>
              <a:t>Clearer dispatch boundaries</a:t>
            </a:r>
          </a:p>
        </p:txBody>
      </p:sp>
      <p:sp>
        <p:nvSpPr>
          <p:cNvPr id="16" name="Rounded Rectangle 15"/>
          <p:cNvSpPr/>
          <p:nvPr/>
        </p:nvSpPr>
        <p:spPr>
          <a:xfrm>
            <a:off x="502920" y="2377440"/>
            <a:ext cx="1600200" cy="868680"/>
          </a:xfrm>
          <a:prstGeom prst="roundRect">
            <a:avLst/>
          </a:prstGeom>
          <a:solidFill>
            <a:srgbClr val="F1F5F9"/>
          </a:solidFill>
          <a:ln>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67512" y="2505456"/>
            <a:ext cx="1271016" cy="384048"/>
          </a:xfrm>
          <a:prstGeom prst="rect">
            <a:avLst/>
          </a:prstGeom>
          <a:noFill/>
        </p:spPr>
        <p:txBody>
          <a:bodyPr wrap="none">
            <a:spAutoFit/>
          </a:bodyPr>
          <a:lstStyle/>
          <a:p>
            <a:pPr>
              <a:defRPr sz="1500" b="1">
                <a:solidFill>
                  <a:srgbClr val="059669"/>
                </a:solidFill>
              </a:defRPr>
            </a:pPr>
            <a:r>
              <a:t>Hallucination control</a:t>
            </a:r>
          </a:p>
        </p:txBody>
      </p:sp>
      <p:sp>
        <p:nvSpPr>
          <p:cNvPr id="18" name="TextBox 17"/>
          <p:cNvSpPr txBox="1"/>
          <p:nvPr/>
        </p:nvSpPr>
        <p:spPr>
          <a:xfrm>
            <a:off x="667512" y="2944368"/>
            <a:ext cx="1271016" cy="182879"/>
          </a:xfrm>
          <a:prstGeom prst="rect">
            <a:avLst/>
          </a:prstGeom>
          <a:noFill/>
        </p:spPr>
        <p:txBody>
          <a:bodyPr wrap="square">
            <a:spAutoFit/>
          </a:bodyPr>
          <a:lstStyle/>
          <a:p>
            <a:pPr>
              <a:defRPr sz="1200">
                <a:solidFill>
                  <a:srgbClr val="0F172A"/>
                </a:solidFill>
              </a:defRPr>
            </a:pPr>
            <a:endParaRPr/>
          </a:p>
        </p:txBody>
      </p:sp>
      <p:sp>
        <p:nvSpPr>
          <p:cNvPr id="19" name="Rounded Rectangle 18"/>
          <p:cNvSpPr/>
          <p:nvPr/>
        </p:nvSpPr>
        <p:spPr>
          <a:xfrm>
            <a:off x="2240280" y="2377440"/>
            <a:ext cx="2423160" cy="868680"/>
          </a:xfrm>
          <a:prstGeom prst="roundRect">
            <a:avLst/>
          </a:prstGeom>
          <a:solidFill>
            <a:srgbClr val="FFFFFF"/>
          </a:solidFill>
          <a:ln>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2404872" y="2505456"/>
            <a:ext cx="2093976" cy="384048"/>
          </a:xfrm>
          <a:prstGeom prst="rect">
            <a:avLst/>
          </a:prstGeom>
          <a:noFill/>
        </p:spPr>
        <p:txBody>
          <a:bodyPr wrap="none">
            <a:spAutoFit/>
          </a:bodyPr>
          <a:lstStyle/>
          <a:p>
            <a:pPr>
              <a:defRPr sz="1500" b="1">
                <a:solidFill>
                  <a:srgbClr val="475569"/>
                </a:solidFill>
              </a:defRPr>
            </a:pPr>
            <a:r>
              <a:t>Challenge</a:t>
            </a:r>
          </a:p>
        </p:txBody>
      </p:sp>
      <p:sp>
        <p:nvSpPr>
          <p:cNvPr id="21" name="TextBox 20"/>
          <p:cNvSpPr txBox="1"/>
          <p:nvPr/>
        </p:nvSpPr>
        <p:spPr>
          <a:xfrm>
            <a:off x="2404872" y="2944368"/>
            <a:ext cx="2093976" cy="182879"/>
          </a:xfrm>
          <a:prstGeom prst="rect">
            <a:avLst/>
          </a:prstGeom>
          <a:noFill/>
        </p:spPr>
        <p:txBody>
          <a:bodyPr wrap="square">
            <a:spAutoFit/>
          </a:bodyPr>
          <a:lstStyle/>
          <a:p>
            <a:pPr>
              <a:defRPr sz="1200">
                <a:solidFill>
                  <a:srgbClr val="0F172A"/>
                </a:solidFill>
              </a:defRPr>
            </a:pPr>
            <a:r>
              <a:t>Agent could infer plausible details</a:t>
            </a:r>
          </a:p>
        </p:txBody>
      </p:sp>
      <p:sp>
        <p:nvSpPr>
          <p:cNvPr id="22" name="Rounded Rectangle 21"/>
          <p:cNvSpPr/>
          <p:nvPr/>
        </p:nvSpPr>
        <p:spPr>
          <a:xfrm>
            <a:off x="4800600" y="2377440"/>
            <a:ext cx="3063240" cy="868680"/>
          </a:xfrm>
          <a:prstGeom prst="roundRect">
            <a:avLst/>
          </a:prstGeom>
          <a:solidFill>
            <a:srgbClr val="FFFFFF"/>
          </a:solidFill>
          <a:ln>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965192" y="2505456"/>
            <a:ext cx="2734056" cy="384048"/>
          </a:xfrm>
          <a:prstGeom prst="rect">
            <a:avLst/>
          </a:prstGeom>
          <a:noFill/>
        </p:spPr>
        <p:txBody>
          <a:bodyPr wrap="none">
            <a:spAutoFit/>
          </a:bodyPr>
          <a:lstStyle/>
          <a:p>
            <a:pPr>
              <a:defRPr sz="1500" b="1">
                <a:solidFill>
                  <a:srgbClr val="475569"/>
                </a:solidFill>
              </a:defRPr>
            </a:pPr>
            <a:r>
              <a:t>Solution</a:t>
            </a:r>
          </a:p>
        </p:txBody>
      </p:sp>
      <p:sp>
        <p:nvSpPr>
          <p:cNvPr id="24" name="TextBox 23"/>
          <p:cNvSpPr txBox="1"/>
          <p:nvPr/>
        </p:nvSpPr>
        <p:spPr>
          <a:xfrm>
            <a:off x="4965192" y="2944368"/>
            <a:ext cx="2734056" cy="182879"/>
          </a:xfrm>
          <a:prstGeom prst="rect">
            <a:avLst/>
          </a:prstGeom>
          <a:noFill/>
        </p:spPr>
        <p:txBody>
          <a:bodyPr wrap="square">
            <a:spAutoFit/>
          </a:bodyPr>
          <a:lstStyle/>
          <a:p>
            <a:pPr>
              <a:defRPr sz="1200">
                <a:solidFill>
                  <a:srgbClr val="0F172A"/>
                </a:solidFill>
              </a:defRPr>
            </a:pPr>
            <a:r>
              <a:t>Added explicit grounding rules</a:t>
            </a:r>
          </a:p>
        </p:txBody>
      </p:sp>
      <p:sp>
        <p:nvSpPr>
          <p:cNvPr id="25" name="Rounded Rectangle 24"/>
          <p:cNvSpPr/>
          <p:nvPr/>
        </p:nvSpPr>
        <p:spPr>
          <a:xfrm>
            <a:off x="8046720" y="2377440"/>
            <a:ext cx="3566160" cy="868680"/>
          </a:xfrm>
          <a:prstGeom prst="roundRect">
            <a:avLst/>
          </a:prstGeom>
          <a:solidFill>
            <a:srgbClr val="FFFFFF"/>
          </a:solidFill>
          <a:ln>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211312" y="2505456"/>
            <a:ext cx="3236976" cy="384048"/>
          </a:xfrm>
          <a:prstGeom prst="rect">
            <a:avLst/>
          </a:prstGeom>
          <a:noFill/>
        </p:spPr>
        <p:txBody>
          <a:bodyPr wrap="none">
            <a:spAutoFit/>
          </a:bodyPr>
          <a:lstStyle/>
          <a:p>
            <a:pPr>
              <a:defRPr sz="1500" b="1">
                <a:solidFill>
                  <a:srgbClr val="475569"/>
                </a:solidFill>
              </a:defRPr>
            </a:pPr>
            <a:r>
              <a:t>Learning</a:t>
            </a:r>
          </a:p>
        </p:txBody>
      </p:sp>
      <p:sp>
        <p:nvSpPr>
          <p:cNvPr id="27" name="TextBox 26"/>
          <p:cNvSpPr txBox="1"/>
          <p:nvPr/>
        </p:nvSpPr>
        <p:spPr>
          <a:xfrm>
            <a:off x="8211312" y="2944368"/>
            <a:ext cx="3236976" cy="182879"/>
          </a:xfrm>
          <a:prstGeom prst="rect">
            <a:avLst/>
          </a:prstGeom>
          <a:noFill/>
        </p:spPr>
        <p:txBody>
          <a:bodyPr wrap="square">
            <a:spAutoFit/>
          </a:bodyPr>
          <a:lstStyle/>
          <a:p>
            <a:pPr>
              <a:defRPr sz="1200">
                <a:solidFill>
                  <a:srgbClr val="0F172A"/>
                </a:solidFill>
              </a:defRPr>
            </a:pPr>
            <a:r>
              <a:t>Tool-grounded responses</a:t>
            </a:r>
          </a:p>
        </p:txBody>
      </p:sp>
      <p:sp>
        <p:nvSpPr>
          <p:cNvPr id="28" name="Rounded Rectangle 27"/>
          <p:cNvSpPr/>
          <p:nvPr/>
        </p:nvSpPr>
        <p:spPr>
          <a:xfrm>
            <a:off x="502920" y="3520440"/>
            <a:ext cx="1600200" cy="868680"/>
          </a:xfrm>
          <a:prstGeom prst="roundRect">
            <a:avLst/>
          </a:prstGeom>
          <a:solidFill>
            <a:srgbClr val="F1F5F9"/>
          </a:solidFill>
          <a:ln>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67512" y="3648456"/>
            <a:ext cx="1271016" cy="384048"/>
          </a:xfrm>
          <a:prstGeom prst="rect">
            <a:avLst/>
          </a:prstGeom>
          <a:noFill/>
        </p:spPr>
        <p:txBody>
          <a:bodyPr wrap="none">
            <a:spAutoFit/>
          </a:bodyPr>
          <a:lstStyle/>
          <a:p>
            <a:pPr>
              <a:defRPr sz="1500" b="1">
                <a:solidFill>
                  <a:srgbClr val="7C3AED"/>
                </a:solidFill>
              </a:defRPr>
            </a:pPr>
            <a:r>
              <a:t>Observability</a:t>
            </a:r>
          </a:p>
        </p:txBody>
      </p:sp>
      <p:sp>
        <p:nvSpPr>
          <p:cNvPr id="30" name="TextBox 29"/>
          <p:cNvSpPr txBox="1"/>
          <p:nvPr/>
        </p:nvSpPr>
        <p:spPr>
          <a:xfrm>
            <a:off x="667512" y="4087368"/>
            <a:ext cx="1271016" cy="182879"/>
          </a:xfrm>
          <a:prstGeom prst="rect">
            <a:avLst/>
          </a:prstGeom>
          <a:noFill/>
        </p:spPr>
        <p:txBody>
          <a:bodyPr wrap="square">
            <a:spAutoFit/>
          </a:bodyPr>
          <a:lstStyle/>
          <a:p>
            <a:pPr>
              <a:defRPr sz="1200">
                <a:solidFill>
                  <a:srgbClr val="0F172A"/>
                </a:solidFill>
              </a:defRPr>
            </a:pPr>
            <a:endParaRPr/>
          </a:p>
        </p:txBody>
      </p:sp>
      <p:sp>
        <p:nvSpPr>
          <p:cNvPr id="31" name="Rounded Rectangle 30"/>
          <p:cNvSpPr/>
          <p:nvPr/>
        </p:nvSpPr>
        <p:spPr>
          <a:xfrm>
            <a:off x="2240280" y="3520440"/>
            <a:ext cx="2423160" cy="868680"/>
          </a:xfrm>
          <a:prstGeom prst="roundRect">
            <a:avLst/>
          </a:prstGeom>
          <a:solidFill>
            <a:srgbClr val="FFFFFF"/>
          </a:solidFill>
          <a:ln>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2404872" y="3648456"/>
            <a:ext cx="2093976" cy="384048"/>
          </a:xfrm>
          <a:prstGeom prst="rect">
            <a:avLst/>
          </a:prstGeom>
          <a:noFill/>
        </p:spPr>
        <p:txBody>
          <a:bodyPr wrap="none">
            <a:spAutoFit/>
          </a:bodyPr>
          <a:lstStyle/>
          <a:p>
            <a:pPr>
              <a:defRPr sz="1500" b="1">
                <a:solidFill>
                  <a:srgbClr val="475569"/>
                </a:solidFill>
              </a:defRPr>
            </a:pPr>
            <a:r>
              <a:t>Challenge</a:t>
            </a:r>
          </a:p>
        </p:txBody>
      </p:sp>
      <p:sp>
        <p:nvSpPr>
          <p:cNvPr id="33" name="TextBox 32"/>
          <p:cNvSpPr txBox="1"/>
          <p:nvPr/>
        </p:nvSpPr>
        <p:spPr>
          <a:xfrm>
            <a:off x="2404872" y="4087368"/>
            <a:ext cx="2093976" cy="182879"/>
          </a:xfrm>
          <a:prstGeom prst="rect">
            <a:avLst/>
          </a:prstGeom>
          <a:noFill/>
        </p:spPr>
        <p:txBody>
          <a:bodyPr wrap="square">
            <a:spAutoFit/>
          </a:bodyPr>
          <a:lstStyle/>
          <a:p>
            <a:pPr>
              <a:defRPr sz="1200">
                <a:solidFill>
                  <a:srgbClr val="0F172A"/>
                </a:solidFill>
              </a:defRPr>
            </a:pPr>
            <a:r>
              <a:t>Trace setup/configuration required troubleshooting</a:t>
            </a:r>
          </a:p>
        </p:txBody>
      </p:sp>
      <p:sp>
        <p:nvSpPr>
          <p:cNvPr id="34" name="Rounded Rectangle 33"/>
          <p:cNvSpPr/>
          <p:nvPr/>
        </p:nvSpPr>
        <p:spPr>
          <a:xfrm>
            <a:off x="4800600" y="3520440"/>
            <a:ext cx="3063240" cy="868680"/>
          </a:xfrm>
          <a:prstGeom prst="roundRect">
            <a:avLst/>
          </a:prstGeom>
          <a:solidFill>
            <a:srgbClr val="FFFFFF"/>
          </a:solidFill>
          <a:ln>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4965192" y="3648456"/>
            <a:ext cx="2734056" cy="384048"/>
          </a:xfrm>
          <a:prstGeom prst="rect">
            <a:avLst/>
          </a:prstGeom>
          <a:noFill/>
        </p:spPr>
        <p:txBody>
          <a:bodyPr wrap="none">
            <a:spAutoFit/>
          </a:bodyPr>
          <a:lstStyle/>
          <a:p>
            <a:pPr>
              <a:defRPr sz="1500" b="1">
                <a:solidFill>
                  <a:srgbClr val="475569"/>
                </a:solidFill>
              </a:defRPr>
            </a:pPr>
            <a:r>
              <a:t>Solution</a:t>
            </a:r>
          </a:p>
        </p:txBody>
      </p:sp>
      <p:sp>
        <p:nvSpPr>
          <p:cNvPr id="36" name="TextBox 35"/>
          <p:cNvSpPr txBox="1"/>
          <p:nvPr/>
        </p:nvSpPr>
        <p:spPr>
          <a:xfrm>
            <a:off x="4965192" y="4087368"/>
            <a:ext cx="2734056" cy="182879"/>
          </a:xfrm>
          <a:prstGeom prst="rect">
            <a:avLst/>
          </a:prstGeom>
          <a:noFill/>
        </p:spPr>
        <p:txBody>
          <a:bodyPr wrap="square">
            <a:spAutoFit/>
          </a:bodyPr>
          <a:lstStyle/>
          <a:p>
            <a:pPr>
              <a:defRPr sz="1200">
                <a:solidFill>
                  <a:srgbClr val="0F172A"/>
                </a:solidFill>
              </a:defRPr>
            </a:pPr>
            <a:r>
              <a:t>Configured Langfuse variables and verified traces</a:t>
            </a:r>
          </a:p>
        </p:txBody>
      </p:sp>
      <p:sp>
        <p:nvSpPr>
          <p:cNvPr id="37" name="Rounded Rectangle 36"/>
          <p:cNvSpPr/>
          <p:nvPr/>
        </p:nvSpPr>
        <p:spPr>
          <a:xfrm>
            <a:off x="8046720" y="3520440"/>
            <a:ext cx="3566160" cy="868680"/>
          </a:xfrm>
          <a:prstGeom prst="roundRect">
            <a:avLst/>
          </a:prstGeom>
          <a:solidFill>
            <a:srgbClr val="FFFFFF"/>
          </a:solidFill>
          <a:ln>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8211312" y="3648456"/>
            <a:ext cx="3236976" cy="384048"/>
          </a:xfrm>
          <a:prstGeom prst="rect">
            <a:avLst/>
          </a:prstGeom>
          <a:noFill/>
        </p:spPr>
        <p:txBody>
          <a:bodyPr wrap="none">
            <a:spAutoFit/>
          </a:bodyPr>
          <a:lstStyle/>
          <a:p>
            <a:pPr>
              <a:defRPr sz="1500" b="1">
                <a:solidFill>
                  <a:srgbClr val="475569"/>
                </a:solidFill>
              </a:defRPr>
            </a:pPr>
            <a:r>
              <a:t>Learning</a:t>
            </a:r>
          </a:p>
        </p:txBody>
      </p:sp>
      <p:sp>
        <p:nvSpPr>
          <p:cNvPr id="39" name="TextBox 38"/>
          <p:cNvSpPr txBox="1"/>
          <p:nvPr/>
        </p:nvSpPr>
        <p:spPr>
          <a:xfrm>
            <a:off x="8211312" y="4087368"/>
            <a:ext cx="3236976" cy="182879"/>
          </a:xfrm>
          <a:prstGeom prst="rect">
            <a:avLst/>
          </a:prstGeom>
          <a:noFill/>
        </p:spPr>
        <p:txBody>
          <a:bodyPr wrap="square">
            <a:spAutoFit/>
          </a:bodyPr>
          <a:lstStyle/>
          <a:p>
            <a:pPr>
              <a:defRPr sz="1200">
                <a:solidFill>
                  <a:srgbClr val="0F172A"/>
                </a:solidFill>
              </a:defRPr>
            </a:pPr>
            <a:r>
              <a:t>Better debugging visibility</a:t>
            </a:r>
          </a:p>
        </p:txBody>
      </p:sp>
      <p:sp>
        <p:nvSpPr>
          <p:cNvPr id="40" name="Rounded Rectangle 39"/>
          <p:cNvSpPr/>
          <p:nvPr/>
        </p:nvSpPr>
        <p:spPr>
          <a:xfrm>
            <a:off x="502920" y="4663440"/>
            <a:ext cx="1600200" cy="868680"/>
          </a:xfrm>
          <a:prstGeom prst="roundRect">
            <a:avLst/>
          </a:prstGeom>
          <a:solidFill>
            <a:srgbClr val="F1F5F9"/>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667512" y="4791455"/>
            <a:ext cx="1271016" cy="384048"/>
          </a:xfrm>
          <a:prstGeom prst="rect">
            <a:avLst/>
          </a:prstGeom>
          <a:noFill/>
        </p:spPr>
        <p:txBody>
          <a:bodyPr wrap="none">
            <a:spAutoFit/>
          </a:bodyPr>
          <a:lstStyle/>
          <a:p>
            <a:pPr>
              <a:defRPr sz="1500" b="1">
                <a:solidFill>
                  <a:srgbClr val="F59E0B"/>
                </a:solidFill>
              </a:defRPr>
            </a:pPr>
            <a:r>
              <a:t>Integration boundary</a:t>
            </a:r>
          </a:p>
        </p:txBody>
      </p:sp>
      <p:sp>
        <p:nvSpPr>
          <p:cNvPr id="42" name="TextBox 41"/>
          <p:cNvSpPr txBox="1"/>
          <p:nvPr/>
        </p:nvSpPr>
        <p:spPr>
          <a:xfrm>
            <a:off x="667512" y="5230368"/>
            <a:ext cx="1271016" cy="182879"/>
          </a:xfrm>
          <a:prstGeom prst="rect">
            <a:avLst/>
          </a:prstGeom>
          <a:noFill/>
        </p:spPr>
        <p:txBody>
          <a:bodyPr wrap="square">
            <a:spAutoFit/>
          </a:bodyPr>
          <a:lstStyle/>
          <a:p>
            <a:pPr>
              <a:defRPr sz="1200">
                <a:solidFill>
                  <a:srgbClr val="0F172A"/>
                </a:solidFill>
              </a:defRPr>
            </a:pPr>
            <a:endParaRPr/>
          </a:p>
        </p:txBody>
      </p:sp>
      <p:sp>
        <p:nvSpPr>
          <p:cNvPr id="43" name="Rounded Rectangle 42"/>
          <p:cNvSpPr/>
          <p:nvPr/>
        </p:nvSpPr>
        <p:spPr>
          <a:xfrm>
            <a:off x="2240280" y="4663440"/>
            <a:ext cx="2423160" cy="868680"/>
          </a:xfrm>
          <a:prstGeom prst="roundRect">
            <a:avLst/>
          </a:prstGeom>
          <a:solidFill>
            <a:srgbClr val="FFFFFF"/>
          </a:solidFill>
          <a:ln>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2404872" y="4791455"/>
            <a:ext cx="2093976" cy="384048"/>
          </a:xfrm>
          <a:prstGeom prst="rect">
            <a:avLst/>
          </a:prstGeom>
          <a:noFill/>
        </p:spPr>
        <p:txBody>
          <a:bodyPr wrap="none">
            <a:spAutoFit/>
          </a:bodyPr>
          <a:lstStyle/>
          <a:p>
            <a:pPr>
              <a:defRPr sz="1500" b="1">
                <a:solidFill>
                  <a:srgbClr val="475569"/>
                </a:solidFill>
              </a:defRPr>
            </a:pPr>
            <a:r>
              <a:t>Challenge</a:t>
            </a:r>
          </a:p>
        </p:txBody>
      </p:sp>
      <p:sp>
        <p:nvSpPr>
          <p:cNvPr id="45" name="TextBox 44"/>
          <p:cNvSpPr txBox="1"/>
          <p:nvPr/>
        </p:nvSpPr>
        <p:spPr>
          <a:xfrm>
            <a:off x="2404872" y="5230368"/>
            <a:ext cx="2093976" cy="182879"/>
          </a:xfrm>
          <a:prstGeom prst="rect">
            <a:avLst/>
          </a:prstGeom>
          <a:noFill/>
        </p:spPr>
        <p:txBody>
          <a:bodyPr wrap="square">
            <a:spAutoFit/>
          </a:bodyPr>
          <a:lstStyle/>
          <a:p>
            <a:pPr>
              <a:defRPr sz="1200">
                <a:solidFill>
                  <a:srgbClr val="0F172A"/>
                </a:solidFill>
              </a:defRPr>
            </a:pPr>
            <a:r>
              <a:t>Live nodes vs validated path</a:t>
            </a:r>
          </a:p>
        </p:txBody>
      </p:sp>
      <p:sp>
        <p:nvSpPr>
          <p:cNvPr id="46" name="Rounded Rectangle 45"/>
          <p:cNvSpPr/>
          <p:nvPr/>
        </p:nvSpPr>
        <p:spPr>
          <a:xfrm>
            <a:off x="4800600" y="4663440"/>
            <a:ext cx="3063240" cy="868680"/>
          </a:xfrm>
          <a:prstGeom prst="roundRect">
            <a:avLst/>
          </a:prstGeom>
          <a:solidFill>
            <a:srgbClr val="FFFFFF"/>
          </a:solidFill>
          <a:ln>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4965192" y="4791455"/>
            <a:ext cx="2734056" cy="384048"/>
          </a:xfrm>
          <a:prstGeom prst="rect">
            <a:avLst/>
          </a:prstGeom>
          <a:noFill/>
        </p:spPr>
        <p:txBody>
          <a:bodyPr wrap="none">
            <a:spAutoFit/>
          </a:bodyPr>
          <a:lstStyle/>
          <a:p>
            <a:pPr>
              <a:defRPr sz="1500" b="1">
                <a:solidFill>
                  <a:srgbClr val="475569"/>
                </a:solidFill>
              </a:defRPr>
            </a:pPr>
            <a:r>
              <a:t>Solution</a:t>
            </a:r>
          </a:p>
        </p:txBody>
      </p:sp>
      <p:sp>
        <p:nvSpPr>
          <p:cNvPr id="48" name="TextBox 47"/>
          <p:cNvSpPr txBox="1"/>
          <p:nvPr/>
        </p:nvSpPr>
        <p:spPr>
          <a:xfrm>
            <a:off x="4965192" y="5230368"/>
            <a:ext cx="2734056" cy="182879"/>
          </a:xfrm>
          <a:prstGeom prst="rect">
            <a:avLst/>
          </a:prstGeom>
          <a:noFill/>
        </p:spPr>
        <p:txBody>
          <a:bodyPr wrap="square">
            <a:spAutoFit/>
          </a:bodyPr>
          <a:lstStyle/>
          <a:p>
            <a:pPr>
              <a:defRPr sz="1200">
                <a:solidFill>
                  <a:srgbClr val="0F172A"/>
                </a:solidFill>
              </a:defRPr>
            </a:pPr>
            <a:r>
              <a:t>Documented mock vs live path explicitly</a:t>
            </a:r>
          </a:p>
        </p:txBody>
      </p:sp>
      <p:sp>
        <p:nvSpPr>
          <p:cNvPr id="49" name="Rounded Rectangle 48"/>
          <p:cNvSpPr/>
          <p:nvPr/>
        </p:nvSpPr>
        <p:spPr>
          <a:xfrm>
            <a:off x="8046720" y="4663440"/>
            <a:ext cx="3566160" cy="868680"/>
          </a:xfrm>
          <a:prstGeom prst="roundRect">
            <a:avLst/>
          </a:prstGeom>
          <a:solidFill>
            <a:srgbClr val="FFFFFF"/>
          </a:solidFill>
          <a:ln>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8211312" y="4791455"/>
            <a:ext cx="3236976" cy="384048"/>
          </a:xfrm>
          <a:prstGeom prst="rect">
            <a:avLst/>
          </a:prstGeom>
          <a:noFill/>
        </p:spPr>
        <p:txBody>
          <a:bodyPr wrap="none">
            <a:spAutoFit/>
          </a:bodyPr>
          <a:lstStyle/>
          <a:p>
            <a:pPr>
              <a:defRPr sz="1500" b="1">
                <a:solidFill>
                  <a:srgbClr val="475569"/>
                </a:solidFill>
              </a:defRPr>
            </a:pPr>
            <a:r>
              <a:t>Learning</a:t>
            </a:r>
          </a:p>
        </p:txBody>
      </p:sp>
      <p:sp>
        <p:nvSpPr>
          <p:cNvPr id="51" name="TextBox 50"/>
          <p:cNvSpPr txBox="1"/>
          <p:nvPr/>
        </p:nvSpPr>
        <p:spPr>
          <a:xfrm>
            <a:off x="8211312" y="5230368"/>
            <a:ext cx="3236976" cy="182879"/>
          </a:xfrm>
          <a:prstGeom prst="rect">
            <a:avLst/>
          </a:prstGeom>
          <a:noFill/>
        </p:spPr>
        <p:txBody>
          <a:bodyPr wrap="square">
            <a:spAutoFit/>
          </a:bodyPr>
          <a:lstStyle/>
          <a:p>
            <a:pPr>
              <a:defRPr sz="1200">
                <a:solidFill>
                  <a:srgbClr val="0F172A"/>
                </a:solidFill>
              </a:defRPr>
            </a:pPr>
            <a:r>
              <a:t>More accurate technical claims</a:t>
            </a:r>
          </a:p>
        </p:txBody>
      </p:sp>
      <p:sp>
        <p:nvSpPr>
          <p:cNvPr id="52" name="TextBox 51"/>
          <p:cNvSpPr txBox="1"/>
          <p:nvPr/>
        </p:nvSpPr>
        <p:spPr>
          <a:xfrm>
            <a:off x="594360" y="6446520"/>
            <a:ext cx="10972800" cy="228600"/>
          </a:xfrm>
          <a:prstGeom prst="rect">
            <a:avLst/>
          </a:prstGeom>
          <a:noFill/>
        </p:spPr>
        <p:txBody>
          <a:bodyPr wrap="none">
            <a:spAutoFit/>
          </a:bodyPr>
          <a:lstStyle/>
          <a:p>
            <a:pPr>
              <a:defRPr sz="900">
                <a:solidFill>
                  <a:srgbClr val="475569"/>
                </a:solidFill>
              </a:defRPr>
            </a:pPr>
            <a:r>
              <a:t>CalendarMate  |  Mahesh P Zade  |  17</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10972800" cy="594360"/>
          </a:xfrm>
          <a:prstGeom prst="rect">
            <a:avLst/>
          </a:prstGeom>
          <a:noFill/>
        </p:spPr>
        <p:txBody>
          <a:bodyPr wrap="none">
            <a:spAutoFit/>
          </a:bodyPr>
          <a:lstStyle/>
          <a:p>
            <a:pPr>
              <a:defRPr sz="2800" b="1">
                <a:solidFill>
                  <a:srgbClr val="0F172A"/>
                </a:solidFill>
              </a:defRPr>
            </a:pPr>
            <a:r>
              <a:t>16. Two-Week Improvement Plan</a:t>
            </a:r>
          </a:p>
        </p:txBody>
      </p:sp>
      <p:sp>
        <p:nvSpPr>
          <p:cNvPr id="4" name="Rounded Rectangle 3"/>
          <p:cNvSpPr/>
          <p:nvPr/>
        </p:nvSpPr>
        <p:spPr>
          <a:xfrm>
            <a:off x="731520" y="1325880"/>
            <a:ext cx="5212080" cy="3566160"/>
          </a:xfrm>
          <a:prstGeom prst="roundRect">
            <a:avLst/>
          </a:prstGeom>
          <a:solidFill>
            <a:srgbClr val="F1F5F9"/>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96112" y="1453895"/>
            <a:ext cx="4882896" cy="384048"/>
          </a:xfrm>
          <a:prstGeom prst="rect">
            <a:avLst/>
          </a:prstGeom>
          <a:noFill/>
        </p:spPr>
        <p:txBody>
          <a:bodyPr wrap="none">
            <a:spAutoFit/>
          </a:bodyPr>
          <a:lstStyle/>
          <a:p>
            <a:pPr>
              <a:defRPr sz="1500" b="1">
                <a:solidFill>
                  <a:srgbClr val="2563EB"/>
                </a:solidFill>
              </a:defRPr>
            </a:pPr>
            <a:r>
              <a:t>Week 1 — Production Integration &amp; Safety</a:t>
            </a:r>
          </a:p>
        </p:txBody>
      </p:sp>
      <p:sp>
        <p:nvSpPr>
          <p:cNvPr id="6" name="TextBox 5"/>
          <p:cNvSpPr txBox="1"/>
          <p:nvPr/>
        </p:nvSpPr>
        <p:spPr>
          <a:xfrm>
            <a:off x="896112" y="1892807"/>
            <a:ext cx="4882896" cy="2880360"/>
          </a:xfrm>
          <a:prstGeom prst="rect">
            <a:avLst/>
          </a:prstGeom>
          <a:noFill/>
        </p:spPr>
        <p:txBody>
          <a:bodyPr wrap="square">
            <a:spAutoFit/>
          </a:bodyPr>
          <a:lstStyle/>
          <a:p>
            <a:pPr>
              <a:defRPr sz="1200">
                <a:solidFill>
                  <a:srgbClr val="0F172A"/>
                </a:solidFill>
              </a:defRPr>
            </a:pPr>
            <a:r>
              <a:t>• Connect live Google Calendar/Gmail components.</a:t>
            </a:r>
            <a:br/>
            <a:r>
              <a:t>• Validate OAuth2 and least-privilege scopes.</a:t>
            </a:r>
            <a:br/>
            <a:r>
              <a:t>• Add human approval for calendar writes.</a:t>
            </a:r>
            <a:br/>
            <a:r>
              <a:t>• Re-run T1–T12 on the live path.</a:t>
            </a:r>
            <a:br/>
            <a:r>
              <a:t>• Capture fresh Langfuse traces.</a:t>
            </a:r>
          </a:p>
        </p:txBody>
      </p:sp>
      <p:sp>
        <p:nvSpPr>
          <p:cNvPr id="7" name="Rounded Rectangle 6"/>
          <p:cNvSpPr/>
          <p:nvPr/>
        </p:nvSpPr>
        <p:spPr>
          <a:xfrm>
            <a:off x="6217920" y="1325880"/>
            <a:ext cx="5212080" cy="3566160"/>
          </a:xfrm>
          <a:prstGeom prst="roundRect">
            <a:avLst/>
          </a:prstGeom>
          <a:solidFill>
            <a:srgbClr val="F1F5F9"/>
          </a:solidFill>
          <a:ln>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382512" y="1453895"/>
            <a:ext cx="4882896" cy="384048"/>
          </a:xfrm>
          <a:prstGeom prst="rect">
            <a:avLst/>
          </a:prstGeom>
          <a:noFill/>
        </p:spPr>
        <p:txBody>
          <a:bodyPr wrap="none">
            <a:spAutoFit/>
          </a:bodyPr>
          <a:lstStyle/>
          <a:p>
            <a:pPr>
              <a:defRPr sz="1500" b="1">
                <a:solidFill>
                  <a:srgbClr val="059669"/>
                </a:solidFill>
              </a:defRPr>
            </a:pPr>
            <a:r>
              <a:t>Week 2 — Grounding &amp; Optimization</a:t>
            </a:r>
          </a:p>
        </p:txBody>
      </p:sp>
      <p:sp>
        <p:nvSpPr>
          <p:cNvPr id="9" name="TextBox 8"/>
          <p:cNvSpPr txBox="1"/>
          <p:nvPr/>
        </p:nvSpPr>
        <p:spPr>
          <a:xfrm>
            <a:off x="6382512" y="1892807"/>
            <a:ext cx="4882896" cy="2880360"/>
          </a:xfrm>
          <a:prstGeom prst="rect">
            <a:avLst/>
          </a:prstGeom>
          <a:noFill/>
        </p:spPr>
        <p:txBody>
          <a:bodyPr wrap="square">
            <a:spAutoFit/>
          </a:bodyPr>
          <a:lstStyle/>
          <a:p>
            <a:pPr>
              <a:defRPr sz="1200">
                <a:solidFill>
                  <a:srgbClr val="0F172A"/>
                </a:solidFill>
              </a:defRPr>
            </a:pPr>
            <a:r>
              <a:t>• Add RAG where justified.</a:t>
            </a:r>
            <a:br/>
            <a:r>
              <a:t>• Improve conflict resolution.</a:t>
            </a:r>
            <a:br/>
            <a:r>
              <a:t>• Optimize prompts and token usage.</a:t>
            </a:r>
            <a:br/>
            <a:r>
              <a:t>• Add more edge cases.</a:t>
            </a:r>
            <a:br/>
            <a:r>
              <a:t>• Establish user feedback and pilot metrics.</a:t>
            </a:r>
          </a:p>
        </p:txBody>
      </p:sp>
      <p:sp>
        <p:nvSpPr>
          <p:cNvPr id="10" name="TextBox 9"/>
          <p:cNvSpPr txBox="1"/>
          <p:nvPr/>
        </p:nvSpPr>
        <p:spPr>
          <a:xfrm>
            <a:off x="594360" y="6446520"/>
            <a:ext cx="10972800" cy="228600"/>
          </a:xfrm>
          <a:prstGeom prst="rect">
            <a:avLst/>
          </a:prstGeom>
          <a:noFill/>
        </p:spPr>
        <p:txBody>
          <a:bodyPr wrap="none">
            <a:spAutoFit/>
          </a:bodyPr>
          <a:lstStyle/>
          <a:p>
            <a:pPr>
              <a:defRPr sz="900">
                <a:solidFill>
                  <a:srgbClr val="475569"/>
                </a:solidFill>
              </a:defRPr>
            </a:pPr>
            <a:r>
              <a:t>CalendarMate  |  Mahesh P Zade  |  18</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1005840"/>
            <a:ext cx="10515600" cy="914400"/>
          </a:xfrm>
          <a:prstGeom prst="rect">
            <a:avLst/>
          </a:prstGeom>
          <a:noFill/>
        </p:spPr>
        <p:txBody>
          <a:bodyPr wrap="none">
            <a:spAutoFit/>
          </a:bodyPr>
          <a:lstStyle/>
          <a:p>
            <a:pPr>
              <a:defRPr sz="4200" b="1">
                <a:solidFill>
                  <a:srgbClr val="FFFFFF"/>
                </a:solidFill>
              </a:defRPr>
            </a:pPr>
            <a:r>
              <a:t>Thank You</a:t>
            </a:r>
          </a:p>
        </p:txBody>
      </p:sp>
      <p:sp>
        <p:nvSpPr>
          <p:cNvPr id="4" name="TextBox 3"/>
          <p:cNvSpPr txBox="1"/>
          <p:nvPr/>
        </p:nvSpPr>
        <p:spPr>
          <a:xfrm>
            <a:off x="868680" y="2057400"/>
            <a:ext cx="10241280" cy="2103120"/>
          </a:xfrm>
          <a:prstGeom prst="rect">
            <a:avLst/>
          </a:prstGeom>
          <a:noFill/>
        </p:spPr>
        <p:txBody>
          <a:bodyPr wrap="square">
            <a:spAutoFit/>
          </a:bodyPr>
          <a:lstStyle/>
          <a:p>
            <a:pPr>
              <a:defRPr sz="2200" b="1">
                <a:solidFill>
                  <a:srgbClr val="BFDBFE"/>
                </a:solidFill>
              </a:defRPr>
            </a:pPr>
            <a:r>
              <a:t>Special thanks to Gautam Muthukumar</a:t>
            </a:r>
          </a:p>
          <a:p>
            <a:pPr>
              <a:spcAft>
                <a:spcPts val="1600"/>
              </a:spcAft>
              <a:defRPr sz="1700">
                <a:solidFill>
                  <a:srgbClr val="FFFFFF"/>
                </a:solidFill>
              </a:defRPr>
            </a:pPr>
            <a:r>
              <a:t>for valuable guidance, continuous support, and encouragement throughout the CalendarMate Capstone Project.</a:t>
            </a:r>
          </a:p>
          <a:p>
            <a:pPr>
              <a:defRPr sz="1700">
                <a:solidFill>
                  <a:srgbClr val="FFFFFF"/>
                </a:solidFill>
              </a:defRPr>
            </a:pPr>
            <a:r>
              <a:t>Sincere thanks to the Interview Kickstart Team for the learning platform, resources, mentorship, and opportunity.</a:t>
            </a:r>
          </a:p>
        </p:txBody>
      </p:sp>
      <p:sp>
        <p:nvSpPr>
          <p:cNvPr id="5" name="TextBox 4"/>
          <p:cNvSpPr txBox="1"/>
          <p:nvPr/>
        </p:nvSpPr>
        <p:spPr>
          <a:xfrm>
            <a:off x="868680" y="5166360"/>
            <a:ext cx="10058400" cy="548640"/>
          </a:xfrm>
          <a:prstGeom prst="rect">
            <a:avLst/>
          </a:prstGeom>
          <a:noFill/>
        </p:spPr>
        <p:txBody>
          <a:bodyPr wrap="none">
            <a:spAutoFit/>
          </a:bodyPr>
          <a:lstStyle/>
          <a:p>
            <a:pPr>
              <a:defRPr sz="2000" b="1">
                <a:solidFill>
                  <a:srgbClr val="FFFFFF"/>
                </a:solidFill>
              </a:defRPr>
            </a:pPr>
            <a:r>
              <a:t>Mahesh P Zade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TotalTime>
  <Words>1780</Words>
  <Application>Microsoft Office PowerPoint</Application>
  <PresentationFormat>Widescreen</PresentationFormat>
  <Paragraphs>249</Paragraphs>
  <Slides>19</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DELL</dc:creator>
  <cp:keywords/>
  <dc:description>generated using python-pptx</dc:description>
  <cp:lastModifiedBy>Mahesh Zade</cp:lastModifiedBy>
  <cp:revision>2</cp:revision>
  <dcterms:created xsi:type="dcterms:W3CDTF">2013-01-27T09:14:16Z</dcterms:created>
  <dcterms:modified xsi:type="dcterms:W3CDTF">2026-09-10T13:51:54Z</dcterms:modified>
  <cp:category/>
</cp:coreProperties>
</file>