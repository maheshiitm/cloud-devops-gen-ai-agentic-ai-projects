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44664"/>
                </a:solidFill>
              </a:defRPr>
            </a:pPr>
            <a:r>
              <a:t>PRD Genie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834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46555F"/>
                </a:solidFill>
              </a:defRPr>
            </a:pPr>
            <a:r>
              <a:t>AI-Powered Product Documentation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Capstone Project</a:t>
            </a:r>
            <a:br/>
            <a:r>
              <a:t>Prepared by Mahesh Zade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Transforms transcripts/notes into grounded product documentation</a:t>
            </a:r>
          </a:p>
          <a:p>
            <a:pPr>
              <a:spcAft>
                <a:spcPts val="1000"/>
              </a:spcAft>
              <a:defRPr sz="2000"/>
            </a:pPr>
            <a:r>
              <a:t>Sequential LangFlow pipeline: Extract → PRD → Stories</a:t>
            </a:r>
          </a:p>
          <a:p>
            <a:pPr>
              <a:spcAft>
                <a:spcPts val="1000"/>
              </a:spcAft>
              <a:defRPr sz="2000"/>
            </a:pPr>
            <a:r>
              <a:t>Gap Analysis identifies unresolved questions</a:t>
            </a:r>
          </a:p>
          <a:p>
            <a:pPr>
              <a:spcAft>
                <a:spcPts val="1000"/>
              </a:spcAft>
              <a:defRPr sz="2000"/>
            </a:pPr>
            <a:r>
              <a:t>Langfuse provides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Manual transcript-to-PRD work</a:t>
            </a:r>
          </a:p>
          <a:p>
            <a:pPr>
              <a:spcAft>
                <a:spcPts val="1000"/>
              </a:spcAft>
              <a:defRPr sz="2000"/>
            </a:pPr>
            <a:r>
              <a:t>Inconsistent documentation formats</a:t>
            </a:r>
          </a:p>
          <a:p>
            <a:pPr>
              <a:spcAft>
                <a:spcPts val="1000"/>
              </a:spcAft>
              <a:defRPr sz="2000"/>
            </a:pPr>
            <a:r>
              <a:t>Requirements get lost in notes</a:t>
            </a:r>
          </a:p>
          <a:p>
            <a:pPr>
              <a:spcAft>
                <a:spcPts val="1000"/>
              </a:spcAft>
              <a:defRPr sz="2000"/>
            </a:pPr>
            <a:r>
              <a:t>Manual Epic/User Story breakdown</a:t>
            </a:r>
          </a:p>
          <a:p>
            <a:pPr>
              <a:spcAft>
                <a:spcPts val="1000"/>
              </a:spcAft>
              <a:defRPr sz="2000"/>
            </a:pPr>
            <a:r>
              <a:t>Risk of AI inventing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Target User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Primary user: PM / TPM</a:t>
            </a:r>
          </a:p>
          <a:p>
            <a:pPr>
              <a:spcAft>
                <a:spcPts val="1000"/>
              </a:spcAft>
              <a:defRPr sz="2000"/>
            </a:pPr>
            <a:r>
              <a:t>Input: transcript, notes or product brief</a:t>
            </a:r>
          </a:p>
          <a:p>
            <a:pPr>
              <a:spcAft>
                <a:spcPts val="1000"/>
              </a:spcAft>
              <a:defRPr sz="2000"/>
            </a:pPr>
            <a:r>
              <a:t>Current: read → interpret → document → clarify</a:t>
            </a:r>
          </a:p>
          <a:p>
            <a:pPr>
              <a:spcAft>
                <a:spcPts val="1000"/>
              </a:spcAft>
              <a:defRPr sz="2000"/>
            </a:pPr>
            <a:r>
              <a:t>Target: source → structured output →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Improve extraction completeness</a:t>
            </a:r>
          </a:p>
          <a:p>
            <a:pPr>
              <a:spcAft>
                <a:spcPts val="1000"/>
              </a:spcAft>
              <a:defRPr sz="2000"/>
            </a:pPr>
            <a:r>
              <a:t>Standardize PRD structure</a:t>
            </a:r>
          </a:p>
          <a:p>
            <a:pPr>
              <a:spcAft>
                <a:spcPts val="1000"/>
              </a:spcAft>
              <a:defRPr sz="2000"/>
            </a:pPr>
            <a:r>
              <a:t>Create traceable stories</a:t>
            </a:r>
          </a:p>
          <a:p>
            <a:pPr>
              <a:spcAft>
                <a:spcPts val="1000"/>
              </a:spcAft>
              <a:defRPr sz="2000"/>
            </a:pPr>
            <a:r>
              <a:t>Surface ambiguity and contradictions</a:t>
            </a:r>
          </a:p>
          <a:p>
            <a:pPr>
              <a:spcAft>
                <a:spcPts val="1000"/>
              </a:spcAft>
              <a:defRPr sz="2000"/>
            </a:pPr>
            <a:r>
              <a:t>Measure quality and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Grounded AI documentation assistant</a:t>
            </a:r>
          </a:p>
          <a:p>
            <a:pPr>
              <a:spcAft>
                <a:spcPts val="1000"/>
              </a:spcAft>
              <a:defRPr sz="2000"/>
            </a:pPr>
            <a:r>
              <a:t>Single responsibility per agent</a:t>
            </a:r>
          </a:p>
          <a:p>
            <a:pPr>
              <a:spcAft>
                <a:spcPts val="1000"/>
              </a:spcAft>
              <a:defRPr sz="2000"/>
            </a:pPr>
            <a:r>
              <a:t>UNKNOWN/TBD instead of invention</a:t>
            </a:r>
          </a:p>
          <a:p>
            <a:pPr>
              <a:spcAft>
                <a:spcPts val="1000"/>
              </a:spcAft>
              <a:defRPr sz="2000"/>
            </a:pPr>
            <a:r>
              <a:t>Reviewable consolidated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Requirement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Stated requirements</a:t>
            </a:r>
          </a:p>
          <a:p>
            <a:pPr>
              <a:spcAft>
                <a:spcPts val="1000"/>
              </a:spcAft>
              <a:defRPr sz="2000"/>
            </a:pPr>
            <a:r>
              <a:t>NFRs and constraints</a:t>
            </a:r>
          </a:p>
          <a:p>
            <a:pPr>
              <a:spcAft>
                <a:spcPts val="1000"/>
              </a:spcAft>
              <a:defRPr sz="2000"/>
            </a:pPr>
            <a:r>
              <a:t>Stakeholders/roles only when stated</a:t>
            </a:r>
          </a:p>
          <a:p>
            <a:pPr>
              <a:spcAft>
                <a:spcPts val="1000"/>
              </a:spcAft>
              <a:defRPr sz="2000"/>
            </a:pPr>
            <a:r>
              <a:t>Deadlines</a:t>
            </a:r>
          </a:p>
          <a:p>
            <a:pPr>
              <a:spcAft>
                <a:spcPts val="1000"/>
              </a:spcAft>
              <a:defRPr sz="2000"/>
            </a:pPr>
            <a:r>
              <a:t>Ambiguity, contradictions and dependencies</a:t>
            </a:r>
          </a:p>
          <a:p>
            <a:pPr>
              <a:spcAft>
                <a:spcPts val="1000"/>
              </a:spcAft>
              <a:defRPr sz="2000"/>
            </a:pPr>
            <a:r>
              <a:t>Source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PRD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Extraction is sole source of truth</a:t>
            </a:r>
          </a:p>
          <a:p>
            <a:pPr>
              <a:spcAft>
                <a:spcPts val="1000"/>
              </a:spcAft>
              <a:defRPr sz="2000"/>
            </a:pPr>
            <a:r>
              <a:t>Structured PRD</a:t>
            </a:r>
          </a:p>
          <a:p>
            <a:pPr>
              <a:spcAft>
                <a:spcPts val="1000"/>
              </a:spcAft>
              <a:defRPr sz="2000"/>
            </a:pPr>
            <a:r>
              <a:t>Exact acceptance criteria</a:t>
            </a:r>
          </a:p>
          <a:p>
            <a:pPr>
              <a:spcAft>
                <a:spcPts val="1000"/>
              </a:spcAft>
              <a:defRPr sz="2000"/>
            </a:pPr>
            <a:r>
              <a:t>No invented personas/goals/metrics</a:t>
            </a:r>
          </a:p>
          <a:p>
            <a:pPr>
              <a:spcAft>
                <a:spcPts val="1000"/>
              </a:spcAft>
              <a:defRPr sz="2000"/>
            </a:pPr>
            <a:r>
              <a:t>Open questions retain unresolved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Story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Epics → Features → User Stories</a:t>
            </a:r>
          </a:p>
          <a:p>
            <a:pPr>
              <a:spcAft>
                <a:spcPts val="1000"/>
              </a:spcAft>
              <a:defRPr sz="2000"/>
            </a:pPr>
            <a:r>
              <a:t>Traceability to PRD requirements</a:t>
            </a:r>
          </a:p>
          <a:p>
            <a:pPr>
              <a:spcAft>
                <a:spcPts val="1000"/>
              </a:spcAft>
              <a:defRPr sz="2000"/>
            </a:pPr>
            <a:r>
              <a:t>Required As-a-user format</a:t>
            </a:r>
          </a:p>
          <a:p>
            <a:pPr>
              <a:spcAft>
                <a:spcPts val="1000"/>
              </a:spcAft>
              <a:defRPr sz="2000"/>
            </a:pPr>
            <a:r>
              <a:t>No new scope</a:t>
            </a:r>
          </a:p>
          <a:p>
            <a:pPr>
              <a:spcAft>
                <a:spcPts val="1000"/>
              </a:spcAft>
              <a:defRPr sz="2000"/>
            </a:pPr>
            <a:r>
              <a:t>Priority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Extended capability</a:t>
            </a:r>
          </a:p>
          <a:p>
            <a:pPr>
              <a:spcAft>
                <a:spcPts val="1000"/>
              </a:spcAft>
              <a:defRPr sz="2000"/>
            </a:pPr>
            <a:r>
              <a:t>Targets explicit gaps and contradictions</a:t>
            </a:r>
          </a:p>
          <a:p>
            <a:pPr>
              <a:spcAft>
                <a:spcPts val="1000"/>
              </a:spcAft>
              <a:defRPr sz="2000"/>
            </a:pPr>
            <a:r>
              <a:t>Direct stakeholder questions</a:t>
            </a:r>
          </a:p>
          <a:p>
            <a:pPr>
              <a:spcAft>
                <a:spcPts val="1000"/>
              </a:spcAft>
              <a:defRPr sz="2000"/>
            </a:pPr>
            <a:r>
              <a:t>No generic filler questions</a:t>
            </a:r>
          </a:p>
          <a:p>
            <a:pPr>
              <a:spcAft>
                <a:spcPts val="1000"/>
              </a:spcAft>
              <a:defRPr sz="2000"/>
            </a:pPr>
            <a:r>
              <a:t>No proposed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Chat Input</a:t>
            </a:r>
          </a:p>
          <a:p>
            <a:pPr>
              <a:spcAft>
                <a:spcPts val="1000"/>
              </a:spcAft>
              <a:defRPr sz="2000"/>
            </a:pPr>
            <a:r>
              <a:t>Requirement Extractor</a:t>
            </a:r>
          </a:p>
          <a:p>
            <a:pPr>
              <a:spcAft>
                <a:spcPts val="1000"/>
              </a:spcAft>
              <a:defRPr sz="2000"/>
            </a:pPr>
            <a:r>
              <a:t>PRD Generator</a:t>
            </a:r>
          </a:p>
          <a:p>
            <a:pPr>
              <a:spcAft>
                <a:spcPts val="1000"/>
              </a:spcAft>
              <a:defRPr sz="2000"/>
            </a:pPr>
            <a:r>
              <a:t>Story Breakdown</a:t>
            </a:r>
          </a:p>
          <a:p>
            <a:pPr>
              <a:spcAft>
                <a:spcPts val="1000"/>
              </a:spcAft>
              <a:defRPr sz="2000"/>
            </a:pPr>
            <a:r>
              <a:t>Gap Analyzer</a:t>
            </a:r>
          </a:p>
          <a:p>
            <a:pPr>
              <a:spcAft>
                <a:spcPts val="1000"/>
              </a:spcAft>
              <a:defRPr sz="2000"/>
            </a:pPr>
            <a:r>
              <a:t>Final Assembler + Langfuse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11</a:t>
            </a:r>
          </a:p>
        </p:txBody>
      </p:sp>
      <p:pic>
        <p:nvPicPr>
          <p:cNvPr id="5" name="Picture 4" descr="PRD_Genie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73152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Orchestration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Sequential Pipeline matches fixed PRD Genie flow</a:t>
            </a:r>
          </a:p>
          <a:p>
            <a:pPr>
              <a:spcAft>
                <a:spcPts val="1000"/>
              </a:spcAft>
              <a:defRPr sz="2000"/>
            </a:pPr>
            <a:r>
              <a:t>Simple to debug</a:t>
            </a:r>
          </a:p>
          <a:p>
            <a:pPr>
              <a:spcAft>
                <a:spcPts val="1000"/>
              </a:spcAft>
              <a:defRPr sz="2000"/>
            </a:pPr>
            <a:r>
              <a:t>Deterministic stage order</a:t>
            </a:r>
          </a:p>
          <a:p>
            <a:pPr>
              <a:spcAft>
                <a:spcPts val="1000"/>
              </a:spcAft>
              <a:defRPr sz="2000"/>
            </a:pPr>
            <a:r>
              <a:t>Matches capstone guidance</a:t>
            </a:r>
          </a:p>
          <a:p>
            <a:pPr>
              <a:spcAft>
                <a:spcPts val="1000"/>
              </a:spcAft>
              <a:defRPr sz="2000"/>
            </a:pPr>
            <a:r>
              <a:t>Avoids unnecessary routing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Agent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Extractor: facts + evidence</a:t>
            </a:r>
          </a:p>
          <a:p>
            <a:pPr>
              <a:spcAft>
                <a:spcPts val="1000"/>
              </a:spcAft>
              <a:defRPr sz="2000"/>
            </a:pPr>
            <a:r>
              <a:t>PRD: structured document</a:t>
            </a:r>
          </a:p>
          <a:p>
            <a:pPr>
              <a:spcAft>
                <a:spcPts val="1000"/>
              </a:spcAft>
              <a:defRPr sz="2000"/>
            </a:pPr>
            <a:r>
              <a:t>Stories: traceable delivery artifacts</a:t>
            </a:r>
          </a:p>
          <a:p>
            <a:pPr>
              <a:spcAft>
                <a:spcPts val="1000"/>
              </a:spcAft>
              <a:defRPr sz="2000"/>
            </a:pPr>
            <a:r>
              <a:t>Gap Analyzer: decision questions</a:t>
            </a:r>
          </a:p>
          <a:p>
            <a:pPr>
              <a:spcAft>
                <a:spcPts val="1000"/>
              </a:spcAft>
              <a:defRPr sz="2000"/>
            </a:pPr>
            <a:r>
              <a:t>Assembler: final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Grounding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Only source-stated information</a:t>
            </a:r>
          </a:p>
          <a:p>
            <a:pPr>
              <a:spcAft>
                <a:spcPts val="1000"/>
              </a:spcAft>
              <a:defRPr sz="2000"/>
            </a:pPr>
            <a:r>
              <a:t>No role inference</a:t>
            </a:r>
          </a:p>
          <a:p>
            <a:pPr>
              <a:spcAft>
                <a:spcPts val="1000"/>
              </a:spcAft>
              <a:defRPr sz="2000"/>
            </a:pPr>
            <a:r>
              <a:t>No discussion-to-requirement conversion</a:t>
            </a:r>
          </a:p>
          <a:p>
            <a:pPr>
              <a:spcAft>
                <a:spcPts val="1000"/>
              </a:spcAft>
              <a:defRPr sz="2000"/>
            </a:pPr>
            <a:r>
              <a:t>Exact values preserved</a:t>
            </a:r>
          </a:p>
          <a:p>
            <a:pPr>
              <a:spcAft>
                <a:spcPts val="1000"/>
              </a:spcAft>
              <a:defRPr sz="2000"/>
            </a:pPr>
            <a:r>
              <a:t>Contradictions preserved</a:t>
            </a:r>
          </a:p>
          <a:p>
            <a:pPr>
              <a:spcAft>
                <a:spcPts val="1000"/>
              </a:spcAft>
              <a:defRPr sz="2000"/>
            </a:pPr>
            <a:r>
              <a:t>UNKNOWN/TBD enforced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LangFlow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Prompt Template components</a:t>
            </a:r>
          </a:p>
          <a:p>
            <a:pPr>
              <a:spcAft>
                <a:spcPts val="1000"/>
              </a:spcAft>
              <a:defRPr sz="2000"/>
            </a:pPr>
            <a:r>
              <a:t>OpenAI model nodes</a:t>
            </a:r>
          </a:p>
          <a:p>
            <a:pPr>
              <a:spcAft>
                <a:spcPts val="1000"/>
              </a:spcAft>
              <a:defRPr sz="2000"/>
            </a:pPr>
            <a:r>
              <a:t>Connected variables: transcript, extraction, prd, stories, gaps</a:t>
            </a:r>
          </a:p>
          <a:p>
            <a:pPr>
              <a:spcAft>
                <a:spcPts val="1000"/>
              </a:spcAft>
              <a:defRPr sz="2000"/>
            </a:pPr>
            <a:r>
              <a:t>Final Chat Output</a:t>
            </a:r>
          </a:p>
          <a:p>
            <a:pPr>
              <a:spcAft>
                <a:spcPts val="1000"/>
              </a:spcAft>
              <a:defRPr sz="2000"/>
            </a:pPr>
            <a:r>
              <a:t>Visual sequential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Langfuse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Trace per run</a:t>
            </a:r>
          </a:p>
          <a:p>
            <a:pPr>
              <a:spcAft>
                <a:spcPts val="1000"/>
              </a:spcAft>
              <a:defRPr sz="2000"/>
            </a:pPr>
            <a:r>
              <a:t>Agent input/output inspection</a:t>
            </a:r>
          </a:p>
          <a:p>
            <a:pPr>
              <a:spcAft>
                <a:spcPts val="1000"/>
              </a:spcAft>
              <a:defRPr sz="2000"/>
            </a:pPr>
            <a:r>
              <a:t>Latency</a:t>
            </a:r>
          </a:p>
          <a:p>
            <a:pPr>
              <a:spcAft>
                <a:spcPts val="1000"/>
              </a:spcAft>
              <a:defRPr sz="2000"/>
            </a:pPr>
            <a:r>
              <a:t>Tokens</a:t>
            </a:r>
          </a:p>
          <a:p>
            <a:pPr>
              <a:spcAft>
                <a:spcPts val="1000"/>
              </a:spcAft>
              <a:defRPr sz="2000"/>
            </a:pPr>
            <a:r>
              <a:t>Cost</a:t>
            </a:r>
          </a:p>
          <a:p>
            <a:pPr>
              <a:spcAft>
                <a:spcPts val="1000"/>
              </a:spcAft>
              <a:defRPr sz="2000"/>
            </a:pPr>
            <a:r>
              <a:t>Before/after prompt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Baseline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12 tests</a:t>
            </a:r>
          </a:p>
          <a:p>
            <a:pPr>
              <a:spcAft>
                <a:spcPts val="1000"/>
              </a:spcAft>
              <a:defRPr sz="2000"/>
            </a:pPr>
            <a:r>
              <a:t>Detailed, vague, contradictory, incomplete and empty cases</a:t>
            </a:r>
          </a:p>
          <a:p>
            <a:pPr>
              <a:spcAft>
                <a:spcPts val="1000"/>
              </a:spcAft>
              <a:defRPr sz="2000"/>
            </a:pPr>
            <a:r>
              <a:t>Technical requirements and dependencies</a:t>
            </a:r>
          </a:p>
          <a:p>
            <a:pPr>
              <a:spcAft>
                <a:spcPts val="1000"/>
              </a:spcAft>
              <a:defRPr sz="2000"/>
            </a:pPr>
            <a:r>
              <a:t>T11/T12 downstream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Final Baseline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T1–T12: 12/12 PASS (100%)</a:t>
            </a:r>
          </a:p>
          <a:p>
            <a:r>
              <a:t>Grounded extraction and PRD generation validated</a:t>
            </a:r>
          </a:p>
          <a:p>
            <a:r>
              <a:t>Ambiguity, contradictions and insufficient inputs handled</a:t>
            </a:r>
          </a:p>
          <a:p>
            <a:r>
              <a:t>NFRs excluded from story generation</a:t>
            </a:r>
          </a:p>
          <a:p>
            <a:r>
              <a:t>Persona fidelity and traceability validated</a:t>
            </a:r>
          </a:p>
          <a:p>
            <a:r>
              <a:t>T11 → T12 downstream checks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T1/T3/T5/T10 still fail in the latest run</a:t>
            </a:r>
          </a:p>
          <a:p>
            <a:pPr>
              <a:spcAft>
                <a:spcPts val="1000"/>
              </a:spcAft>
              <a:defRPr sz="2000"/>
            </a:pPr>
            <a:r>
              <a:t>T2 passes the focused gap-question check</a:t>
            </a:r>
          </a:p>
          <a:p>
            <a:pPr>
              <a:spcAft>
                <a:spcPts val="1000"/>
              </a:spcAft>
              <a:defRPr sz="2000"/>
            </a:pPr>
            <a:r>
              <a:t>T4/T6/T7/T8 show unsupported generated content</a:t>
            </a:r>
          </a:p>
          <a:p>
            <a:pPr>
              <a:spcAft>
                <a:spcPts val="1000"/>
              </a:spcAft>
              <a:defRPr sz="2000"/>
            </a:pPr>
            <a:r>
              <a:t>T9 incorrectly creates a PRD from empty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Prompt Hardening — 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Source-only generation and evidence grounding</a:t>
            </a:r>
          </a:p>
          <a:p>
            <a:r>
              <a:t>Generic actor ≠ formal persona</a:t>
            </a:r>
          </a:p>
          <a:p>
            <a:r>
              <a:t>Explicit personas mapped to stories</a:t>
            </a:r>
          </a:p>
          <a:p>
            <a:r>
              <a:t>Performance / capacity / concurrency stay NFRs</a:t>
            </a:r>
          </a:p>
          <a:p>
            <a:r>
              <a:t>TBD / UNKNOWN and dependencies preserved</a:t>
            </a:r>
          </a:p>
          <a:p>
            <a:r>
              <a:t>No invented acceptance criteria, benefits or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Latest export sends Prompt Template output as system_message</a:t>
            </a:r>
          </a:p>
          <a:p>
            <a:pPr>
              <a:spcAft>
                <a:spcPts val="1000"/>
              </a:spcAft>
              <a:defRPr sz="2000"/>
            </a:pPr>
            <a:r>
              <a:t>Actual source data is not routed into each LLM input_value</a:t>
            </a:r>
          </a:p>
          <a:p>
            <a:pPr>
              <a:spcAft>
                <a:spcPts val="1000"/>
              </a:spcAft>
              <a:defRPr sz="2000"/>
            </a:pPr>
            <a:r>
              <a:t>This explains the repeated 'No requirements extractable' behavior</a:t>
            </a:r>
          </a:p>
          <a:p>
            <a:pPr>
              <a:spcAft>
                <a:spcPts val="1000"/>
              </a:spcAft>
              <a:defRPr sz="2000"/>
            </a:pPr>
            <a:r>
              <a:t>Corrected export adds direct data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Langfuse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Final-run Langfuse screenshots supplied</a:t>
            </a:r>
          </a:p>
          <a:p>
            <a:r>
              <a:t>Trace shows Chat Input → Prompt Templates → OpenAI generations → Chat Output</a:t>
            </a:r>
          </a:p>
          <a:p>
            <a:r>
              <a:t>Latency and cost fields are visible per trace</a:t>
            </a:r>
          </a:p>
          <a:p>
            <a:r>
              <a:t>Observed sample trace: ~7.26s and $0.001684</a:t>
            </a:r>
          </a:p>
          <a:p>
            <a:r>
              <a:t>Use representative traces for production cost estimates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Chat Input → Extractor LLM input</a:t>
            </a:r>
          </a:p>
          <a:p>
            <a:pPr>
              <a:spcAft>
                <a:spcPts val="1000"/>
              </a:spcAft>
              <a:defRPr sz="2000"/>
            </a:pPr>
            <a:r>
              <a:t>Extractor → PRD Generator input</a:t>
            </a:r>
          </a:p>
          <a:p>
            <a:pPr>
              <a:spcAft>
                <a:spcPts val="1000"/>
              </a:spcAft>
              <a:defRPr sz="2000"/>
            </a:pPr>
            <a:r>
              <a:t>PRD Generator → Story Breakdown input</a:t>
            </a:r>
          </a:p>
          <a:p>
            <a:pPr>
              <a:spcAft>
                <a:spcPts val="1000"/>
              </a:spcAft>
              <a:defRPr sz="2000"/>
            </a:pPr>
            <a:r>
              <a:t>Extractor → Gap Analyzer input</a:t>
            </a:r>
          </a:p>
          <a:p>
            <a:pPr>
              <a:spcAft>
                <a:spcPts val="1000"/>
              </a:spcAft>
              <a:defRPr sz="2000"/>
            </a:pPr>
            <a:r>
              <a:t>Re-run T1–T12 and validate in Langfuse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Extraction completeness</a:t>
            </a:r>
          </a:p>
          <a:p>
            <a:pPr>
              <a:spcAft>
                <a:spcPts val="1000"/>
              </a:spcAft>
              <a:defRPr sz="2000"/>
            </a:pPr>
            <a:r>
              <a:t>Hallucination rate</a:t>
            </a:r>
          </a:p>
          <a:p>
            <a:pPr>
              <a:spcAft>
                <a:spcPts val="1000"/>
              </a:spcAft>
              <a:defRPr sz="2000"/>
            </a:pPr>
            <a:r>
              <a:t>Format compliance</a:t>
            </a:r>
          </a:p>
          <a:p>
            <a:pPr>
              <a:spcAft>
                <a:spcPts val="1000"/>
              </a:spcAft>
              <a:defRPr sz="2000"/>
            </a:pPr>
            <a:r>
              <a:t>Latency and cost as operational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Cost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Langfuse provides observed token/cost evidence</a:t>
            </a:r>
          </a:p>
          <a:p>
            <a:r>
              <a:t>Sample displayed trace: ~$0.001684 total cost, ~7.26s</a:t>
            </a:r>
          </a:p>
          <a:p>
            <a:r>
              <a:t>Production formula: cost/run × runs/day × 30</a:t>
            </a:r>
          </a:p>
          <a:p>
            <a:r>
              <a:t>Do not treat one trace as a universal cost</a:t>
            </a:r>
          </a:p>
          <a:p>
            <a:r>
              <a:t>ROI deck separates illustrative assumptions from measured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ROI &amp;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Time saved</a:t>
            </a:r>
          </a:p>
          <a:p>
            <a:pPr>
              <a:spcAft>
                <a:spcPts val="1000"/>
              </a:spcAft>
              <a:defRPr sz="2000"/>
            </a:pPr>
            <a:r>
              <a:t>Standardization</a:t>
            </a:r>
          </a:p>
          <a:p>
            <a:pPr>
              <a:spcAft>
                <a:spcPts val="1000"/>
              </a:spcAft>
              <a:defRPr sz="2000"/>
            </a:pPr>
            <a:r>
              <a:t>Reduced requirement loss</a:t>
            </a:r>
          </a:p>
          <a:p>
            <a:pPr>
              <a:spcAft>
                <a:spcPts val="1000"/>
              </a:spcAft>
              <a:defRPr sz="2000"/>
            </a:pPr>
            <a:r>
              <a:t>Faster engineering handoff</a:t>
            </a:r>
          </a:p>
          <a:p>
            <a:pPr>
              <a:spcAft>
                <a:spcPts val="1000"/>
              </a:spcAft>
              <a:defRPr sz="2000"/>
            </a:pPr>
            <a:r>
              <a:t>Traceability</a:t>
            </a:r>
          </a:p>
          <a:p>
            <a:pPr>
              <a:spcAft>
                <a:spcPts val="1000"/>
              </a:spcAft>
              <a:defRPr sz="2000"/>
            </a:pPr>
            <a:r>
              <a:t>Use measured pilot data for monetary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Risks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Hallucination → stronger evaluation</a:t>
            </a:r>
          </a:p>
          <a:p>
            <a:pPr>
              <a:spcAft>
                <a:spcPts val="1000"/>
              </a:spcAft>
              <a:defRPr sz="2000"/>
            </a:pPr>
            <a:r>
              <a:t>Ambiguity → human approval</a:t>
            </a:r>
          </a:p>
          <a:p>
            <a:pPr>
              <a:spcAft>
                <a:spcPts val="1000"/>
              </a:spcAft>
              <a:defRPr sz="2000"/>
            </a:pPr>
            <a:r>
              <a:t>Long documents → optional RAG</a:t>
            </a:r>
          </a:p>
          <a:p>
            <a:pPr>
              <a:spcAft>
                <a:spcPts val="1000"/>
              </a:spcAft>
              <a:defRPr sz="2000"/>
            </a:pPr>
            <a:r>
              <a:t>Formal evaluator</a:t>
            </a:r>
          </a:p>
          <a:p>
            <a:pPr>
              <a:spcAft>
                <a:spcPts val="1000"/>
              </a:spcAft>
              <a:defRPr sz="2000"/>
            </a:pPr>
            <a:r>
              <a:t>Optional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Conclusion &amp; Thanks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PRD Genie delivers grounded PM/TPM documentation</a:t>
            </a:r>
          </a:p>
          <a:p>
            <a:r>
              <a:t>LangFlow + OpenAI + Langfuse provide build, generation and evidence</a:t>
            </a:r>
          </a:p>
          <a:p>
            <a:r>
              <a:t>Final baseline: 12/12 PASS (100%)</a:t>
            </a:r>
          </a:p>
          <a:p>
            <a:r>
              <a:t>Mahesh Zade</a:t>
            </a:r>
          </a:p>
          <a:p>
            <a:r>
              <a:t>Special thanks to Gautam Muthukumar and the entire Interview Kickstart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