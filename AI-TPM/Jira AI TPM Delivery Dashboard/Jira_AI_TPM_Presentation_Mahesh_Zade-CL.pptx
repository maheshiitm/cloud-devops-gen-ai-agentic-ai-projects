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0B2E"/>
                </a:solidFill>
                <a:latin typeface="Calibri"/>
              </a:defRPr>
            </a:pPr>
            <a:r>
              <a:rPr sz="1300" b="0" i="0" u="none" strike="noStrike">
                <a:solidFill>
                  <a:srgbClr val="100B2E"/>
                </a:solidFill>
                <a:latin typeface="Calibri"/>
              </a:rPr>
              <a:t>ATSL Sprint 1 — story points remaining</a:t>
            </a:r>
          </a:p>
        </c:rich>
      </c:tx>
      <c:layout/>
      <c:overlay val="0"/>
    </c:title>
    <c:autoTitleDeleted val="0"/>
    <c:plotArea>
      <c:layout/>
      <c:lineChart>
        <c:varyColors val="0"/>
        <c:ser>
          <c:idx val="0"/>
          <c:order val="0"/>
          <c:tx>
            <c:strRef>
              <c:f>Sheet1!$B$1</c:f>
              <c:strCache>
                <c:ptCount val="1"/>
                <c:pt idx="0">
                  <c:v>Ideal guideline</c:v>
                </c:pt>
              </c:strCache>
            </c:strRef>
          </c:tx>
          <c:spPr>
            <a:solidFill>
              <a:srgbClr val="D8DEF2"/>
            </a:solidFill>
            <a:ln w="38100" cap="flat">
              <a:solidFill>
                <a:srgbClr val="D8DEF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8DEF2"/>
              </a:solidFill>
              <a:ln w="9525" cap="flat">
                <a:solidFill>
                  <a:srgbClr val="D8DEF2"/>
                </a:solidFill>
                <a:prstDash val="solid"/>
                <a:round/>
              </a:ln>
              <a:effectLst/>
            </c:spPr>
          </c:marker>
          <c:cat>
            <c:multiLvlStrRef>
              <c:f>Sheet1!$A$2:$A$11</c:f>
              <c:multiLvlStrCache>
                <c:ptCount val="10"/>
                <c:lvl>
                  <c:pt idx="0">
                    <c:v>Day 1</c:v>
                  </c:pt>
                  <c:pt idx="1">
                    <c:v>Day 2</c:v>
                  </c:pt>
                  <c:pt idx="2">
                    <c:v>Day 3</c:v>
                  </c:pt>
                  <c:pt idx="3">
                    <c:v>Day 4</c:v>
                  </c:pt>
                  <c:pt idx="4">
                    <c:v>Day 5</c:v>
                  </c:pt>
                  <c:pt idx="5">
                    <c:v>Day 6</c:v>
                  </c:pt>
                  <c:pt idx="6">
                    <c:v>Day 7</c:v>
                  </c:pt>
                  <c:pt idx="7">
                    <c:v>Day 8</c:v>
                  </c:pt>
                  <c:pt idx="8">
                    <c:v>Day 9</c:v>
                  </c:pt>
                  <c:pt idx="9">
                    <c:v>Day 10</c:v>
                  </c:pt>
                </c:lvl>
              </c:multiLvlStrCache>
            </c:multiLvlStrRef>
          </c:cat>
          <c:val>
            <c:numRef>
              <c:f>Sheet1!$B$2:$B$11</c:f>
              <c:numCache>
                <c:formatCode>General</c:formatCode>
                <c:ptCount val="10"/>
                <c:pt idx="0">
                  <c:v>13</c:v>
                </c:pt>
                <c:pt idx="1">
                  <c:v>11.6</c:v>
                </c:pt>
                <c:pt idx="2">
                  <c:v>10.2</c:v>
                </c:pt>
                <c:pt idx="3">
                  <c:v>8.8</c:v>
                </c:pt>
                <c:pt idx="4">
                  <c:v>7.4</c:v>
                </c:pt>
                <c:pt idx="5">
                  <c:v>6</c:v>
                </c:pt>
                <c:pt idx="6">
                  <c:v>4.6</c:v>
                </c:pt>
                <c:pt idx="7">
                  <c:v>3.2</c:v>
                </c:pt>
                <c:pt idx="8">
                  <c:v>1.8</c:v>
                </c:pt>
                <c:pt idx="9">
                  <c:v>0</c:v>
                </c:pt>
              </c:numCache>
            </c:numRef>
          </c:val>
          <c:smooth val="0"/>
        </c:ser>
        <c:ser>
          <c:idx val="1"/>
          <c:order val="1"/>
          <c:tx>
            <c:strRef>
              <c:f>Sheet1!$C$1</c:f>
              <c:strCache>
                <c:ptCount val="1"/>
                <c:pt idx="0">
                  <c:v>Remaining (actual)</c:v>
                </c:pt>
              </c:strCache>
            </c:strRef>
          </c:tx>
          <c:spPr>
            <a:solidFill>
              <a:srgbClr val="1364F4"/>
            </a:solidFill>
            <a:ln w="38100" cap="flat">
              <a:solidFill>
                <a:srgbClr val="1364F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364F4"/>
              </a:solidFill>
              <a:ln w="9525" cap="flat">
                <a:solidFill>
                  <a:srgbClr val="1364F4"/>
                </a:solidFill>
                <a:prstDash val="solid"/>
                <a:round/>
              </a:ln>
              <a:effectLst/>
            </c:spPr>
          </c:marker>
          <c:cat>
            <c:multiLvlStrRef>
              <c:f>Sheet1!$A$2:$A$11</c:f>
              <c:multiLvlStrCache>
                <c:ptCount val="10"/>
                <c:lvl>
                  <c:pt idx="0">
                    <c:v>Day 1</c:v>
                  </c:pt>
                  <c:pt idx="1">
                    <c:v>Day 2</c:v>
                  </c:pt>
                  <c:pt idx="2">
                    <c:v>Day 3</c:v>
                  </c:pt>
                  <c:pt idx="3">
                    <c:v>Day 4</c:v>
                  </c:pt>
                  <c:pt idx="4">
                    <c:v>Day 5</c:v>
                  </c:pt>
                  <c:pt idx="5">
                    <c:v>Day 6</c:v>
                  </c:pt>
                  <c:pt idx="6">
                    <c:v>Day 7</c:v>
                  </c:pt>
                  <c:pt idx="7">
                    <c:v>Day 8</c:v>
                  </c:pt>
                  <c:pt idx="8">
                    <c:v>Day 9</c:v>
                  </c:pt>
                  <c:pt idx="9">
                    <c:v>Day 10</c:v>
                  </c:pt>
                </c:lvl>
              </c:multiLvlStrCache>
            </c:multiLvlStrRef>
          </c:cat>
          <c:val>
            <c:numRef>
              <c:f>Sheet1!$C$2:$C$11</c:f>
              <c:numCache>
                <c:formatCode>General</c:formatCode>
                <c:ptCount val="10"/>
                <c:pt idx="0">
                  <c:v>13</c:v>
                </c:pt>
                <c:pt idx="1">
                  <c:v>13</c:v>
                </c:pt>
                <c:pt idx="2">
                  <c:v>13</c:v>
                </c:pt>
                <c:pt idx="3">
                  <c:v>13</c:v>
                </c:pt>
                <c:pt idx="4">
                  <c:v>8</c:v>
                </c:pt>
                <c:pt idx="5">
                  <c:v>8</c:v>
                </c:pt>
                <c:pt idx="6">
                  <c:v>8</c:v>
                </c:pt>
                <c:pt idx="7">
                  <c:v>8</c:v>
                </c:pt>
                <c:pt idx="8">
                  <c:v>8</c:v>
                </c:pt>
                <c:pt idx="9">
                  <c:v>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180"/>
                </a:solidFill>
                <a:latin typeface="Arial"/>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12700" cap="flat">
              <a:solidFill>
                <a:srgbClr val="D8DE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180"/>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0B2E"/>
                </a:solidFill>
                <a:latin typeface="Calibri"/>
              </a:defRPr>
            </a:pPr>
            <a:r>
              <a:rPr sz="1300" b="0" i="0" u="none" strike="noStrike">
                <a:solidFill>
                  <a:srgbClr val="100B2E"/>
                </a:solidFill>
                <a:latin typeface="Calibri"/>
              </a:rPr>
              <a:t>Work item distribution across statuses</a:t>
            </a:r>
          </a:p>
        </c:rich>
      </c:tx>
      <c:layout/>
      <c:overlay val="0"/>
    </c:title>
    <c:autoTitleDeleted val="0"/>
    <c:plotArea>
      <c:layout/>
      <c:barChart>
        <c:barDir val="col"/>
        <c:grouping val="stacked"/>
        <c:varyColors val="0"/>
        <c:ser>
          <c:idx val="0"/>
          <c:order val="0"/>
          <c:tx>
            <c:strRef>
              <c:f>Sheet1!$B$1</c:f>
              <c:strCache>
                <c:ptCount val="1"/>
                <c:pt idx="0">
                  <c:v>To Do</c:v>
                </c:pt>
              </c:strCache>
            </c:strRef>
          </c:tx>
          <c:spPr>
            <a:solidFill>
              <a:srgbClr val="D8DEF2"/>
            </a:solidFill>
            <a:effectLst/>
          </c:spPr>
          <c:invertIfNegative val="0"/>
          <c:dLbls>
            <c:numFmt formatCode="#,##0" sourceLinked="0"/>
            <c:txPr>
              <a:bodyPr/>
              <a:lstStyle/>
              <a:p>
                <a:pPr>
                  <a:defRPr b="0" i="0" strike="noStrike" sz="1000" u="none">
                    <a:solidFill>
                      <a:srgbClr val="100B2E"/>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Week 1</c:v>
                  </c:pt>
                  <c:pt idx="1">
                    <c:v>Week 2</c:v>
                  </c:pt>
                  <c:pt idx="2">
                    <c:v>Week 3</c:v>
                  </c:pt>
                  <c:pt idx="3">
                    <c:v>Week 4</c:v>
                  </c:pt>
                </c:lvl>
              </c:multiLvlStrCache>
            </c:multiLvlStrRef>
          </c:cat>
          <c:val>
            <c:numRef>
              <c:f>Sheet1!$B$2:$B$5</c:f>
              <c:numCache>
                <c:formatCode>General</c:formatCode>
                <c:ptCount val="4"/>
                <c:pt idx="0">
                  <c:v>8</c:v>
                </c:pt>
                <c:pt idx="1">
                  <c:v>7</c:v>
                </c:pt>
                <c:pt idx="2">
                  <c:v>6</c:v>
                </c:pt>
                <c:pt idx="3">
                  <c:v>5</c:v>
                </c:pt>
              </c:numCache>
            </c:numRef>
          </c:val>
        </c:ser>
        <c:ser>
          <c:idx val="1"/>
          <c:order val="1"/>
          <c:tx>
            <c:strRef>
              <c:f>Sheet1!$C$1</c:f>
              <c:strCache>
                <c:ptCount val="1"/>
                <c:pt idx="0">
                  <c:v>In Progress</c:v>
                </c:pt>
              </c:strCache>
            </c:strRef>
          </c:tx>
          <c:spPr>
            <a:solidFill>
              <a:srgbClr val="1364F4"/>
            </a:solidFill>
            <a:effectLst/>
          </c:spPr>
          <c:invertIfNegative val="0"/>
          <c:dLbls>
            <c:numFmt formatCode="#,##0" sourceLinked="0"/>
            <c:txPr>
              <a:bodyPr/>
              <a:lstStyle/>
              <a:p>
                <a:pPr>
                  <a:defRPr b="0" i="0" strike="noStrike" sz="1000" u="none">
                    <a:solidFill>
                      <a:srgbClr val="100B2E"/>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Week 1</c:v>
                  </c:pt>
                  <c:pt idx="1">
                    <c:v>Week 2</c:v>
                  </c:pt>
                  <c:pt idx="2">
                    <c:v>Week 3</c:v>
                  </c:pt>
                  <c:pt idx="3">
                    <c:v>Week 4</c:v>
                  </c:pt>
                </c:lvl>
              </c:multiLvlStrCache>
            </c:multiLvlStrRef>
          </c:cat>
          <c:val>
            <c:numRef>
              <c:f>Sheet1!$C$2:$C$5</c:f>
              <c:numCache>
                <c:formatCode>General</c:formatCode>
                <c:ptCount val="4"/>
                <c:pt idx="0">
                  <c:v>1</c:v>
                </c:pt>
                <c:pt idx="1">
                  <c:v>2</c:v>
                </c:pt>
                <c:pt idx="2">
                  <c:v>3</c:v>
                </c:pt>
                <c:pt idx="3">
                  <c:v>3</c:v>
                </c:pt>
              </c:numCache>
            </c:numRef>
          </c:val>
        </c:ser>
        <c:ser>
          <c:idx val="2"/>
          <c:order val="2"/>
          <c:tx>
            <c:strRef>
              <c:f>Sheet1!$D$1</c:f>
              <c:strCache>
                <c:ptCount val="1"/>
                <c:pt idx="0">
                  <c:v>Done</c:v>
                </c:pt>
              </c:strCache>
            </c:strRef>
          </c:tx>
          <c:spPr>
            <a:solidFill>
              <a:srgbClr val="00B3A4"/>
            </a:solidFill>
            <a:effectLst/>
          </c:spPr>
          <c:invertIfNegative val="0"/>
          <c:dLbls>
            <c:numFmt formatCode="#,##0" sourceLinked="0"/>
            <c:txPr>
              <a:bodyPr/>
              <a:lstStyle/>
              <a:p>
                <a:pPr>
                  <a:defRPr b="0" i="0" strike="noStrike" sz="1000" u="none">
                    <a:solidFill>
                      <a:srgbClr val="100B2E"/>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Week 1</c:v>
                  </c:pt>
                  <c:pt idx="1">
                    <c:v>Week 2</c:v>
                  </c:pt>
                  <c:pt idx="2">
                    <c:v>Week 3</c:v>
                  </c:pt>
                  <c:pt idx="3">
                    <c:v>Week 4</c:v>
                  </c:pt>
                </c:lvl>
              </c:multiLvlStrCache>
            </c:multiLvlStrRef>
          </c:cat>
          <c:val>
            <c:numRef>
              <c:f>Sheet1!$D$2:$D$5</c:f>
              <c:numCache>
                <c:formatCode>General</c:formatCode>
                <c:ptCount val="4"/>
                <c:pt idx="0">
                  <c:v>1</c:v>
                </c:pt>
                <c:pt idx="1">
                  <c:v>1</c:v>
                </c:pt>
                <c:pt idx="2">
                  <c:v>1</c:v>
                </c:pt>
                <c:pt idx="3">
                  <c:v>2</c:v>
                </c:pt>
              </c:numCache>
            </c:numRef>
          </c:val>
        </c:ser>
        <c:dLbls>
          <c:numFmt formatCode="#,##0" sourceLinked="0"/>
          <c:txPr>
            <a:bodyPr/>
            <a:lstStyle/>
            <a:p>
              <a:pPr>
                <a:defRPr b="0" i="0" strike="noStrike" sz="1000" u="none">
                  <a:solidFill>
                    <a:srgbClr val="100B2E"/>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1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8DE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180"/>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00B2E"/>
                </a:solidFill>
                <a:latin typeface="Calibri"/>
              </a:defRPr>
            </a:pPr>
            <a:r>
              <a:rPr sz="1250" b="0" i="0" u="none" strike="noStrike">
                <a:solidFill>
                  <a:srgbClr val="100B2E"/>
                </a:solidFill>
                <a:latin typeface="Calibri"/>
              </a:rPr>
              <a:t>10 work items by status</a:t>
            </a:r>
          </a:p>
        </c:rich>
      </c:tx>
      <c:layout/>
      <c:overlay val="0"/>
    </c:title>
    <c:autoTitleDeleted val="0"/>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1364F4"/>
              </a:solidFill>
              <a:effectLst/>
            </c:spPr>
          </c:dPt>
          <c:dPt>
            <c:idx val="1"/>
            <c:bubble3D val="0"/>
            <c:spPr>
              <a:solidFill>
                <a:srgbClr val="FFB01F"/>
              </a:solidFill>
              <a:effectLst/>
            </c:spPr>
          </c:dPt>
          <c:dPt>
            <c:idx val="2"/>
            <c:bubble3D val="0"/>
            <c:spPr>
              <a:solidFill>
                <a:srgbClr val="16A34A"/>
              </a:solidFill>
              <a:effectLst/>
            </c:spPr>
          </c:dPt>
          <c:dLbls>
            <c:dLbl>
              <c:idx val="0"/>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To Do</c:v>
                </c:pt>
                <c:pt idx="1">
                  <c:v>In Progress</c:v>
                </c:pt>
                <c:pt idx="2">
                  <c:v>Done</c:v>
                </c:pt>
              </c:strCache>
            </c:strRef>
          </c:cat>
          <c:val>
            <c:numRef>
              <c:f>Sheet1!$B$2:$B$4</c:f>
              <c:numCache>
                <c:ptCount val="3"/>
                <c:pt idx="0">
                  <c:v>5</c:v>
                </c:pt>
                <c:pt idx="1">
                  <c:v>3</c:v>
                </c:pt>
                <c:pt idx="2">
                  <c:v>2</c:v>
                </c:pt>
              </c:numCache>
            </c:numRef>
          </c:val>
        </c:ser>
        <c:firstSliceAng val="0"/>
        <c:holeSize val="55"/>
      </c:doughnutChart>
      <c:spPr>
        <a:noFill/>
        <a:ln>
          <a:noFill/>
        </a:ln>
        <a:effectLst/>
      </c:spPr>
    </c:plotArea>
    <c:legend>
      <c:legendPos val="b"/>
      <c:overlay val="0"/>
      <c:txPr>
        <a:bodyPr/>
        <a:lstStyle/>
        <a:p>
          <a:pPr>
            <a:defRPr sz="1000">
              <a:solidFill>
                <a:srgbClr val="5B618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AI TPM / Jira delivery project prepared by Mahesh Zade.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for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Project, Delivery and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overview of the programme and its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problem and the product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operating model that every work item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of the two Jira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 work breakdown and the KAN-6 to KAN-8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ATSL stories, their points and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format and acceptance criteria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planning, commitment and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execution and flow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dependencies and the TPM sequence for handling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ATSL-5 risk, its mitigation and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Five-part escalation pattern used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JQL queries used and what each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saved filters and why each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Burndown interpretation and the sprint report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flow and what status distribution tells a TPM.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design principles and the five gadgets.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dashboard: 10 items, 5 To Do, 3 In Progress, 2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metric families a TPM should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Tailoring the same facts to four audiences.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Screenshot Evidence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 of the evidence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EVID-001: KAN-4 parent task and its subtasks. Cloud infrastructure parent work item KAN-4 with four subtasks (KAN-6 to KAN-9) and the Linked work items panel open, where the 'is blocked by' dependency is created. EVID-002: Kanban board for the DevOps team. Board for 'My Devops and Cloud IT Team' showing the To Do, In Progress, Waiting for Customer and Resolved columns with live work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EVID-003: KAN-8 security group task. KAN-8 'Configure EC2 security group' opened full screen. The Linked work items section records that it is blocked by the EC2 instance subtask. EVID-004: KAN-4 scope and requirements. Close-up of the KAN-4 description: provision EC2 and S3 for the Customer Stack application, with six explicit requirements listed as a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EVID-005: Confirmed blocking dependency. The dependency on KAN-8 confirmed in Jira: 'is blocked by' KAN-6 sub-task-1 Create AWS EC2 instance, with status and assignee visible. EVID-006: Board work distribution. Board view showing KAN-4 held in To Do while Task 1, Task 2 and Create AWS EC2 instance move through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EVID-007: Full-width board snapshot. Full-screen Kanban board confirming work-in-progress distribution across all four workflow columns of the KAN project. EVID-008: Labels and metadata on cards. The same board at full browser width, with the AWS, EC2, devops and infrastructure labels visible directly on the KAN-4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EVID-009: Editing the KAN-4 description. KAN-4 description in edit mode with the requirement checklist, alongside the subtask table showing 0% done at this point. EVID-010: Cross-project work list. The 'All work' list view across both projects, sorted by creation date, used to verify that every created item was captured.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EVID-011: Work list detail columns. Full-width work list showing assignee, reporter, priority, status, resolution and created/updated timestamps for each item. EVID-012: KAN-6 subtask activity trail. KAN-6 'sub-task-1 Create AWS EC2 instance' with its activity and comment trail, used as the running status record for the subtask.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EVID-013: Creating a board. The Jira Boards screen with the Create a board dialog open, offering a board on a new software project or a board from an existing project. EVID-014: Ranking the KAN backlog. JQL query project = KAN ORDER BY Rank ASC returning all nine KAN work items in ranked delivery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EVID-015: Saving the first filter. Saving the KAN query as the reusable filter 'AI TPM Scrum Practice', with viewer and editor permissions set. EVID-016: Board creation wizard. The board wizard requiring a board name, a project and a location before the board can be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EVID-017: Naming the practice board. Board name 'AI TPM Scrum Practice' entered in the wizard, with project and location still to be selected. EVID-018: Saved filter confirmed. The saved filter opened from the sidebar; the confirmation toast shows the filter was stored successfully and can be reused.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EVID-019: Scrum or Kanban decision. Choosing between a Scrum board (sprint-based, time-boxed commitment) and a Kanban board (continuous flow) for the practice project. EVID-020: No existing project matched. The board wizard returning 'No Matches' for an existing software project, which is what drove creation of a dedicated new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EVID-021: Board location selected. Board location set to the Mahesh Zade profile so the board could be created before the ATSL software project existed. EVID-022: Empty ATSL board. The newly created ATSL board: an empty ATSL Sprint 1 container and an empty backlog, ready for user stories to be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EVID-023: First user story created. ATSL-1 created: 'As a Cloud Support Manager, I want an AI assistant to classify customer support tickets' — written in proper user-story form. EVID-024: Saved filter output. The saved filter 'AI TPM Scrum Practice' returning the KAN work items with their current status, priority and due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EVID-025: Acceptance criteria for ATSL-2. ATSL-2 priority-prediction story with acceptance criteria: Critical/High/Medium/Low identification, a recommendation, manager review and a recorded prediction. EVID-026: Board from an existing project. The create-a-board dialog with 'Board from an existing project' selected, showing that a board can span one or more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EVID-027: Complete AI backlog. The full AI backlog: ATSL-1 classification, ATSL-2 priority prediction, ATSL-3 routing and ATSL-4 sentiment analysis. EVID-028: Creating the ATSL project. Creating the Scrum project 'AI TPM Scrum Lab' with project key ATSL and Mahesh Zade as project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EVID-029: Story fields and estimation. The story detail panel showing assignee, reporter, story points, priority and start/due date fields available for ATSL-1. EVID-030: Routing story criteria. ATSL-3 routing story selected, with acceptance criteria covering automatic routing to the correct team and audit logging of the routing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EVID-031: Sprint 1 board at start. The active ATSL Sprint 1 board with ATSL-1 in progress and ATSL-2 and ATSL-3 waiting in To Do. EVID-032: Sprint scope vs backlog. Backlog view with the sprint section populated and ATSL-4 sentiment analysis deliberately held outside the sprint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EVID-033: Committed sprint scope. Sprint 1 scope confirmed: three stories committed to ATSL Sprint 1, with sentiment analysis left in the backlog for a later sprint. EVID-034: Sprint burndown chart. The ATSL Sprint 1 burndown with the ideal guideline against remaining values, plus the event table recording the sprint start and completion of ATSL-1.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EVID-035: ATSL-2 moved to In Progress. ATSL-2 moved into the In Progress column on the sprint board, with its full acceptance criteria visible in the detail panel. EVID-036: Sprint report. The Sprint Report separating completed work (ATSL-1, Done, 5 points) from work not completed (ATSL-2 In Progress and ATSL-3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EVID-037: First story delivered. Sprint board with ATSL-1 in the Done column while the remaining two committed stories are still open. EVID-038: Project reports overview. The reports overview page: work items by status, by type and by assignee, plus the creation-trend and cycle-time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EVID-039: Structured blocker comment. A TPM blocker comment on ATSL-2 recording BLOCKER, Impact, Owner, Mitigation and Target — a status update with a decision attached, not a note. EVID-040: Starting the sprint. The Start Sprint dialog: ATSL Sprint 1, a two-week duration, explicit start and end dates and a sprint-goal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EVID-041: Sprint day one. The sprint board immediately after start, with all three committed stories sitting in To Do and nothing yet in flight. EVID-042: Velocity report. The velocity report comparing commitment against completed work; it stays empty until the first sprint is formally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EVID-043: In-progress query. JQL project = ATSL AND status = "In Progress" returning ATSL-2 as the single actively worked story. EVID-044: Mid-sprint flow. A mid-sprint flow snapshot with exactly one story in each of To Do, In Progress and Done — healthy, limited work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EVID-045: Cumulative flow diagram. The Cumulative Flow Diagram showing how the To Do, In Progress and Done bands accumulate across the sprint timeline. EVID-046: Outstanding work query. JQL project = ATSL AND status != Done listing the three stories that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EVID-047: Available Jira reports. Jira's report gallery — Burndown, Burnup, Sprint Report, Velocity, Cumulative Flow, Version, Epic and Control charts. EVID-048: Dashboard edit mode. The AI TPM Delivery Dashboard in edit mode, with a Filter Results gadget being pointed at a saved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EVID-049: Filter results listing. Saved filter output listing all nine KAN items with status, priority, resolution and timestamps. EVID-050: All ATSL work. JQL project = ATSL returning all four AI stories together with their priority and current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EVID-051: ATSL list detail. Full-width view of the ATSL work list, confirming assignee, reporter and status for each of the four stories. EVID-052: High-priority query. JQL project = ATSL AND priority in (Highest, High) isolating the two items that carry the highest delivery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EVID-053: Gadget catalogue. The Add a gadget panel listing the Jira dashboard gadgets available, from Activity Stream through to chart gadgets. EVID-054: Assigned to Me gadget. The 'Assigned to Me' gadget added to the dashboard, showing the nine work items personally owned by Mahesh Zade.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EVID-055: Dashboards before setup. The Jira Dashboards page showing only the default dashboard, before the TPM delivery dashboard was created. EVID-056: Finding Filter Results. Searching the gadget catalogue for the Filter Results gadget, which turns any saved filter into a dashboard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EVID-057: Creating the dashboard. The Create dashboard dialog where the AI TPM Delivery Dashboard was named and its viewer and editor permissions set. EVID-058: Blocked work query. JQL project = KAN AND workItemLinkType = "is blocked by" returning KAN-8, the blocked security-group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EVID-059: Negative result is evidence. The same blocked-by query run against ATSL returns no rows, confirming that this particular dependency lives in the KAN project. EVID-060: Personal workload query. JQL project = ATSL AND assignee = currentUser() returning the three stories owned directly by the TPM.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EVID-061: Master work list. All 28 work items across both projects, ordered by creation date — the master list behind the whole evidence package. EVID-062: Binding gadget to filter. The Filter Results gadget bound to the saved 'AI TPM Scrum Practice' filter, with Issue Type, Key, Summary and Priority selected as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EVID-063: Two gadgets live. The dashboard with Filter Results and Assigned to Me both rendering live Jira data side by side. EVID-064: Blocker re-confirmed. The blocked-by query re-run and confirmed: KAN-8 Configure EC2 security group is the single blocked item in the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EVID-065: Gadget configuration. Assigned to Me gadget configuration — result count and the Issue Type, Key, Summary and Priority columns to display. EVID-066: Blocker from All Work. The same blocker surfaced from the cross-project All Work view, showing the query works outside a single board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EVID-067: TPM - KAN Blockers filter. The saved filter 'TPM - KAN Blockers' returning KAN-8 — a reusable dependency view rather than a one-off search. EVID-068: Blockers on the dashboard. The Filter Results gadget re-pointed at the TPM - KAN Blockers filter so blocked work appears on the dashboard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EVID-069: Saving the blockers filter. Saving the blocked-by query under the name 'TPM - KAN Blockers' so it can feed both the dashboard and stakeholder reviews. EVID-070: Gadget maintenance menu. The gadget menu offering refresh, rename, copy, configure, move and delete — the controls used to keep the dashboard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EVID-071: Dashboard layout. Dashboard layout with the filter and assignment gadgets stacked in the left column, leaving space for the status chart. EVID-072: Blocked and assigned views. TPM - KAN Blockers and Assigned to Me shown together, giving a single answer to 'what is blocked and who owns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EVID-073: Pie chart gadget setup. Pie Chart gadget configuration: the source project or saved filter, plus the statistic type that determines what the chart measures. EVID-074: Reviewing gadget settings. Filter Results gadget configuration reviewed and saved before the dashboard was published to stakeholders.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EVID-075: Stakeholder read view. The dashboard in read mode — how a stakeholder sees it, with no configuration controls in the way. EVID-076: Gadget highlight colours. Gadget highlight colour options used to visually separate risk, blocker and workload sections of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EVID-077: Adding the status chart. Searching for the Pie Chart gadget to add a status distribution view to the delivery dashboard. EVID-078: Chart source not yet set. The Pie Chart gadget before a project or saved filter is chosen — the chart cannot render without a data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EVID-079: Statistic type set to Status. Pie Chart statistic type switched to Status so the chart reports delivery state rather than assignee distribution. EVID-080: Final AI TPM Delivery Dashboard. The completed dashboard: Status pie chart (10 items — 5 To Do, 3 In Progress, 2 Done), TPM - High Priority Open Work and TPM - AI Risks both surfacing risk ATSL-5, and Assigned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TPM Interview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How do you manage a blocked story? Q2: How do you prioritise work? Q3: How do you handle an API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How do you run a sprint? Q5: How do you report status to executives? Q6: What is the difference between a risk and an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Q7: How do you manage scope creep? Q8: What makes a good acceptance criterion? Q9: How do you manage AI product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Q10: How do you handle cross-team dependencies? Q11: How do you measure sprint health? Q12: What would you improve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STAR-format interview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submission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Prepared by Mahesh Zade.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21-1.jpe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jpe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image" Target="../media/image-27-2.jpe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image" Target="../media/image-28-2.jpe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jpe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image" Target="../media/image-30-2.jpe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image" Target="../media/image-31-2.jpe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image" Target="../media/image-32-2.jpe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image" Target="../media/image-33-2.jpe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image" Target="../media/image-34-2.jpe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image" Target="../media/image-35-2.jpe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image" Target="../media/image-36-2.jpe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image" Target="../media/image-37-2.jpe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image" Target="../media/image-38-2.jpe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image" Target="../media/image-39-2.jpe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image" Target="../media/image-40-2.jpe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image" Target="../media/image-41-2.jpe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image" Target="../media/image-42-2.jpe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image" Target="../media/image-43-2.jpe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image" Target="../media/image-44-2.jpe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image" Target="../media/image-45-2.jpe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image" Target="../media/image-46-2.jpe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image" Target="../media/image-47-2.jpe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image" Target="../media/image-48-2.jpe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image" Target="../media/image-49-2.jpe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image" Target="../media/image-50-2.jpe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eg"/><Relationship Id="rId2" Type="http://schemas.openxmlformats.org/officeDocument/2006/relationships/image" Target="../media/image-51-2.jpe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eg"/><Relationship Id="rId2" Type="http://schemas.openxmlformats.org/officeDocument/2006/relationships/image" Target="../media/image-52-2.jpe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eg"/><Relationship Id="rId2" Type="http://schemas.openxmlformats.org/officeDocument/2006/relationships/image" Target="../media/image-53-2.jpe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eg"/><Relationship Id="rId2" Type="http://schemas.openxmlformats.org/officeDocument/2006/relationships/image" Target="../media/image-54-2.jpe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eg"/><Relationship Id="rId2" Type="http://schemas.openxmlformats.org/officeDocument/2006/relationships/image" Target="../media/image-55-2.jpe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eg"/><Relationship Id="rId2" Type="http://schemas.openxmlformats.org/officeDocument/2006/relationships/image" Target="../media/image-56-2.jpe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image" Target="../media/image-57-2.jpe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image" Target="../media/image-58-2.jpe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eg"/><Relationship Id="rId2" Type="http://schemas.openxmlformats.org/officeDocument/2006/relationships/image" Target="../media/image-59-2.jpe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eg"/><Relationship Id="rId2" Type="http://schemas.openxmlformats.org/officeDocument/2006/relationships/image" Target="../media/image-60-2.jpe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eg"/><Relationship Id="rId2" Type="http://schemas.openxmlformats.org/officeDocument/2006/relationships/image" Target="../media/image-61-2.jpe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eg"/><Relationship Id="rId2" Type="http://schemas.openxmlformats.org/officeDocument/2006/relationships/image" Target="../media/image-62-2.jpe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image" Target="../media/image-63-2.jpe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eg"/><Relationship Id="rId2" Type="http://schemas.openxmlformats.org/officeDocument/2006/relationships/image" Target="../media/image-64-2.jpe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eg"/><Relationship Id="rId2" Type="http://schemas.openxmlformats.org/officeDocument/2006/relationships/image" Target="../media/image-65-2.jpe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0B2E"/>
        </a:solidFill>
      </p:bgPr>
    </p:bg>
    <p:spTree>
      <p:nvGrpSpPr>
        <p:cNvPr id="1" name=""/>
        <p:cNvGrpSpPr/>
        <p:nvPr/>
      </p:nvGrpSpPr>
      <p:grpSpPr>
        <a:xfrm>
          <a:off x="0" y="0"/>
          <a:ext cx="0" cy="0"/>
          <a:chOff x="0" y="0"/>
          <a:chExt cx="0" cy="0"/>
        </a:xfrm>
      </p:grpSpPr>
      <p:sp>
        <p:nvSpPr>
          <p:cNvPr id="2" name="Shape 0"/>
          <p:cNvSpPr/>
          <p:nvPr/>
        </p:nvSpPr>
        <p:spPr>
          <a:xfrm>
            <a:off x="9509760" y="-1005840"/>
            <a:ext cx="4206240" cy="4206240"/>
          </a:xfrm>
          <a:prstGeom prst="ellipse">
            <a:avLst/>
          </a:prstGeom>
          <a:solidFill>
            <a:srgbClr val="8036F0">
              <a:alpha val="38000"/>
            </a:srgbClr>
          </a:solidFill>
          <a:ln w="12700">
            <a:solidFill>
              <a:srgbClr val="8036F0">
                <a:alpha val="0"/>
              </a:srgbClr>
            </a:solidFill>
            <a:prstDash val="solid"/>
          </a:ln>
        </p:spPr>
      </p:sp>
      <p:sp>
        <p:nvSpPr>
          <p:cNvPr id="3" name="Shape 1"/>
          <p:cNvSpPr/>
          <p:nvPr/>
        </p:nvSpPr>
        <p:spPr>
          <a:xfrm>
            <a:off x="10607040" y="2926080"/>
            <a:ext cx="3108960" cy="3108960"/>
          </a:xfrm>
          <a:prstGeom prst="ellipse">
            <a:avLst/>
          </a:prstGeom>
          <a:solidFill>
            <a:srgbClr val="1364F4">
              <a:alpha val="45000"/>
            </a:srgbClr>
          </a:solidFill>
          <a:ln w="12700">
            <a:solidFill>
              <a:srgbClr val="1364F4">
                <a:alpha val="0"/>
              </a:srgbClr>
            </a:solidFill>
            <a:prstDash val="solid"/>
          </a:ln>
        </p:spPr>
      </p:sp>
      <p:sp>
        <p:nvSpPr>
          <p:cNvPr id="4" name="Shape 2"/>
          <p:cNvSpPr/>
          <p:nvPr/>
        </p:nvSpPr>
        <p:spPr>
          <a:xfrm>
            <a:off x="11247120" y="5394960"/>
            <a:ext cx="2377440" cy="2377440"/>
          </a:xfrm>
          <a:prstGeom prst="ellipse">
            <a:avLst/>
          </a:prstGeom>
          <a:solidFill>
            <a:srgbClr val="00B3A4">
              <a:alpha val="40000"/>
            </a:srgbClr>
          </a:solidFill>
          <a:ln w="12700">
            <a:solidFill>
              <a:srgbClr val="00B3A4">
                <a:alpha val="0"/>
              </a:srgbClr>
            </a:solidFill>
            <a:prstDash val="solid"/>
          </a:ln>
        </p:spPr>
      </p:sp>
      <p:sp>
        <p:nvSpPr>
          <p:cNvPr id="5" name="Shape 3"/>
          <p:cNvSpPr/>
          <p:nvPr/>
        </p:nvSpPr>
        <p:spPr>
          <a:xfrm>
            <a:off x="9692640" y="6035040"/>
            <a:ext cx="1828800" cy="1828800"/>
          </a:xfrm>
          <a:prstGeom prst="ellipse">
            <a:avLst/>
          </a:prstGeom>
          <a:solidFill>
            <a:srgbClr val="F4436C">
              <a:alpha val="38000"/>
            </a:srgbClr>
          </a:solidFill>
          <a:ln w="12700">
            <a:solidFill>
              <a:srgbClr val="F4436C">
                <a:alpha val="0"/>
              </a:srgbClr>
            </a:solidFill>
            <a:prstDash val="solid"/>
          </a:ln>
        </p:spPr>
      </p:sp>
      <p:sp>
        <p:nvSpPr>
          <p:cNvPr id="6" name="Shape 4"/>
          <p:cNvSpPr/>
          <p:nvPr/>
        </p:nvSpPr>
        <p:spPr>
          <a:xfrm>
            <a:off x="-822960" y="5120640"/>
            <a:ext cx="2560320" cy="2560320"/>
          </a:xfrm>
          <a:prstGeom prst="ellipse">
            <a:avLst/>
          </a:prstGeom>
          <a:solidFill>
            <a:srgbClr val="FFB01F">
              <a:alpha val="28000"/>
            </a:srgbClr>
          </a:solidFill>
          <a:ln w="12700">
            <a:solidFill>
              <a:srgbClr val="FFB01F">
                <a:alpha val="0"/>
              </a:srgbClr>
            </a:solidFill>
            <a:prstDash val="solid"/>
          </a:ln>
        </p:spPr>
      </p:sp>
      <p:sp>
        <p:nvSpPr>
          <p:cNvPr id="7" name="Shape 5"/>
          <p:cNvSpPr/>
          <p:nvPr/>
        </p:nvSpPr>
        <p:spPr>
          <a:xfrm>
            <a:off x="-1097280" y="-822960"/>
            <a:ext cx="2377440" cy="2377440"/>
          </a:xfrm>
          <a:prstGeom prst="ellipse">
            <a:avLst/>
          </a:prstGeom>
          <a:solidFill>
            <a:srgbClr val="1364F4">
              <a:alpha val="26000"/>
            </a:srgbClr>
          </a:solidFill>
          <a:ln w="12700">
            <a:solidFill>
              <a:srgbClr val="1364F4">
                <a:alpha val="0"/>
              </a:srgbClr>
            </a:solidFill>
            <a:prstDash val="solid"/>
          </a:ln>
        </p:spPr>
      </p:sp>
      <p:sp>
        <p:nvSpPr>
          <p:cNvPr id="8" name="Shape 6"/>
          <p:cNvSpPr/>
          <p:nvPr/>
        </p:nvSpPr>
        <p:spPr>
          <a:xfrm>
            <a:off x="502920" y="1234440"/>
            <a:ext cx="3200400" cy="365760"/>
          </a:xfrm>
          <a:prstGeom prst="roundRect">
            <a:avLst>
              <a:gd name="adj" fmla="val 50000"/>
            </a:avLst>
          </a:prstGeom>
          <a:solidFill>
            <a:srgbClr val="00B3A4"/>
          </a:solidFill>
          <a:ln w="12700">
            <a:solidFill>
              <a:srgbClr val="00B3A4"/>
            </a:solidFill>
            <a:prstDash val="solid"/>
          </a:ln>
        </p:spPr>
      </p:sp>
      <p:sp>
        <p:nvSpPr>
          <p:cNvPr id="9" name="Text 7"/>
          <p:cNvSpPr txBox="1"/>
          <p:nvPr/>
        </p:nvSpPr>
        <p:spPr>
          <a:xfrm>
            <a:off x="502920" y="1234440"/>
            <a:ext cx="3200400" cy="365760"/>
          </a:xfrm>
          <a:prstGeom prst="rect">
            <a:avLst/>
          </a:prstGeom>
          <a:noFill/>
          <a:ln/>
        </p:spPr>
        <p:txBody>
          <a:bodyPr wrap="square" lIns="0" tIns="0" rIns="0" bIns="0" rtlCol="0" anchor="ctr"/>
          <a:lstStyle/>
          <a:p>
            <a:pPr algn="ctr" indent="0" marL="0">
              <a:buNone/>
            </a:pPr>
            <a:r>
              <a:rPr lang="en-US" sz="1100" b="1" spc="100" kern="0" dirty="0">
                <a:solidFill>
                  <a:srgbClr val="100B2E"/>
                </a:solidFill>
                <a:latin typeface="Calibri" pitchFamily="34" charset="0"/>
                <a:ea typeface="Calibri" pitchFamily="34" charset="-122"/>
                <a:cs typeface="Calibri" pitchFamily="34" charset="-120"/>
              </a:rPr>
              <a:t>JIRA TPM PRACTICAL PROJECT</a:t>
            </a:r>
            <a:endParaRPr lang="en-US" sz="1100" dirty="0"/>
          </a:p>
        </p:txBody>
      </p:sp>
      <p:sp>
        <p:nvSpPr>
          <p:cNvPr id="10" name="Text 8"/>
          <p:cNvSpPr txBox="1"/>
          <p:nvPr/>
        </p:nvSpPr>
        <p:spPr>
          <a:xfrm>
            <a:off x="502920" y="1783080"/>
            <a:ext cx="7680960" cy="173736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libri" pitchFamily="34" charset="0"/>
                <a:ea typeface="Calibri" pitchFamily="34" charset="-122"/>
                <a:cs typeface="Calibri" pitchFamily="34" charset="-120"/>
              </a:rPr>
              <a:t>AI-Powered Customer</a:t>
            </a:r>
            <a:endParaRPr lang="en-US" sz="4600" dirty="0"/>
          </a:p>
          <a:p>
            <a:pPr indent="0" marL="0">
              <a:lnSpc>
                <a:spcPts val="5000"/>
              </a:lnSpc>
              <a:buNone/>
            </a:pPr>
            <a:r>
              <a:rPr lang="en-US" sz="4600" b="1" dirty="0">
                <a:solidFill>
                  <a:srgbClr val="FFFFFF"/>
                </a:solidFill>
                <a:latin typeface="Calibri" pitchFamily="34" charset="0"/>
                <a:ea typeface="Calibri" pitchFamily="34" charset="-122"/>
                <a:cs typeface="Calibri" pitchFamily="34" charset="-120"/>
              </a:rPr>
              <a:t>Support Platform</a:t>
            </a:r>
            <a:endParaRPr lang="en-US" sz="4600" dirty="0"/>
          </a:p>
        </p:txBody>
      </p:sp>
      <p:sp>
        <p:nvSpPr>
          <p:cNvPr id="11" name="Text 9"/>
          <p:cNvSpPr txBox="1"/>
          <p:nvPr/>
        </p:nvSpPr>
        <p:spPr>
          <a:xfrm>
            <a:off x="502920" y="3611880"/>
            <a:ext cx="6949440" cy="868680"/>
          </a:xfrm>
          <a:prstGeom prst="rect">
            <a:avLst/>
          </a:prstGeom>
          <a:noFill/>
          <a:ln/>
        </p:spPr>
        <p:txBody>
          <a:bodyPr wrap="square" lIns="0" tIns="0" rIns="0" bIns="0" rtlCol="0" anchor="ctr"/>
          <a:lstStyle/>
          <a:p>
            <a:pPr indent="0" marL="0">
              <a:lnSpc>
                <a:spcPts val="2200"/>
              </a:lnSpc>
              <a:buNone/>
            </a:pPr>
            <a:r>
              <a:rPr lang="en-US" sz="1450" dirty="0">
                <a:solidFill>
                  <a:srgbClr val="C7CDEA"/>
                </a:solidFill>
                <a:latin typeface="Calibri" pitchFamily="34" charset="0"/>
                <a:ea typeface="Calibri" pitchFamily="34" charset="-122"/>
                <a:cs typeface="Calibri" pitchFamily="34" charset="-120"/>
              </a:rPr>
              <a:t>End-to-end Technical Program Management in Jira Cloud — backlog, sprint execution, dependencies, risk, JQL, reporting and executive dashboarding, evidenced by 80 screenshots.</a:t>
            </a:r>
            <a:endParaRPr lang="en-US" sz="1450" dirty="0"/>
          </a:p>
        </p:txBody>
      </p:sp>
      <p:sp>
        <p:nvSpPr>
          <p:cNvPr id="12" name="Shape 10"/>
          <p:cNvSpPr/>
          <p:nvPr/>
        </p:nvSpPr>
        <p:spPr>
          <a:xfrm>
            <a:off x="502920" y="4754880"/>
            <a:ext cx="3931920" cy="960120"/>
          </a:xfrm>
          <a:prstGeom prst="roundRect">
            <a:avLst>
              <a:gd name="adj" fmla="val 11429"/>
            </a:avLst>
          </a:prstGeom>
          <a:solidFill>
            <a:srgbClr val="FFFFFF">
              <a:alpha val="12000"/>
            </a:srgbClr>
          </a:solidFill>
          <a:ln w="12700">
            <a:solidFill>
              <a:srgbClr val="4B4394"/>
            </a:solidFill>
            <a:prstDash val="solid"/>
          </a:ln>
        </p:spPr>
      </p:sp>
      <p:sp>
        <p:nvSpPr>
          <p:cNvPr id="13" name="Text 11"/>
          <p:cNvSpPr txBox="1"/>
          <p:nvPr/>
        </p:nvSpPr>
        <p:spPr>
          <a:xfrm>
            <a:off x="731520" y="4754880"/>
            <a:ext cx="3566160" cy="960120"/>
          </a:xfrm>
          <a:prstGeom prst="rect">
            <a:avLst/>
          </a:prstGeom>
          <a:noFill/>
          <a:ln/>
        </p:spPr>
        <p:txBody>
          <a:bodyPr wrap="square" lIns="0" tIns="0" rIns="0" bIns="0" rtlCol="0" anchor="ctr"/>
          <a:lstStyle/>
          <a:p>
            <a:pPr indent="0" marL="0">
              <a:lnSpc>
                <a:spcPts val="2400"/>
              </a:lnSpc>
              <a:buNone/>
            </a:pPr>
            <a:r>
              <a:rPr lang="en-US" sz="1050" dirty="0">
                <a:solidFill>
                  <a:srgbClr val="9AA3C8"/>
                </a:solidFill>
                <a:latin typeface="Calibri" pitchFamily="34" charset="0"/>
                <a:ea typeface="Calibri" pitchFamily="34" charset="-122"/>
                <a:cs typeface="Calibri" pitchFamily="34" charset="-120"/>
              </a:rPr>
              <a:t>Prepared by
</a:t>
            </a:r>
            <a:pPr indent="0" marL="0">
              <a:lnSpc>
                <a:spcPts val="2400"/>
              </a:lnSpc>
              <a:buNone/>
            </a:pPr>
            <a:r>
              <a:rPr lang="en-US" sz="2000" b="1" dirty="0">
                <a:solidFill>
                  <a:srgbClr val="FFFFFF"/>
                </a:solidFill>
                <a:latin typeface="Calibri" pitchFamily="34" charset="0"/>
                <a:ea typeface="Calibri" pitchFamily="34" charset="-122"/>
                <a:cs typeface="Calibri" pitchFamily="34" charset="-120"/>
              </a:rPr>
              <a:t>Mahesh Zade</a:t>
            </a:r>
            <a:endParaRPr lang="en-US" sz="1050" dirty="0"/>
          </a:p>
        </p:txBody>
      </p:sp>
      <p:sp>
        <p:nvSpPr>
          <p:cNvPr id="14" name="Shape 12"/>
          <p:cNvSpPr/>
          <p:nvPr/>
        </p:nvSpPr>
        <p:spPr>
          <a:xfrm>
            <a:off x="4709160" y="4754880"/>
            <a:ext cx="2331720" cy="960120"/>
          </a:xfrm>
          <a:prstGeom prst="roundRect">
            <a:avLst>
              <a:gd name="adj" fmla="val 11429"/>
            </a:avLst>
          </a:prstGeom>
          <a:solidFill>
            <a:srgbClr val="FFFFFF">
              <a:alpha val="12000"/>
            </a:srgbClr>
          </a:solidFill>
          <a:ln w="12700">
            <a:solidFill>
              <a:srgbClr val="4B4394"/>
            </a:solidFill>
            <a:prstDash val="solid"/>
          </a:ln>
        </p:spPr>
      </p:sp>
      <p:sp>
        <p:nvSpPr>
          <p:cNvPr id="15" name="Text 13"/>
          <p:cNvSpPr txBox="1"/>
          <p:nvPr/>
        </p:nvSpPr>
        <p:spPr>
          <a:xfrm>
            <a:off x="4910328" y="4754880"/>
            <a:ext cx="2011680" cy="960120"/>
          </a:xfrm>
          <a:prstGeom prst="rect">
            <a:avLst/>
          </a:prstGeom>
          <a:noFill/>
          <a:ln/>
        </p:spPr>
        <p:txBody>
          <a:bodyPr wrap="square" lIns="0" tIns="0" rIns="0" bIns="0" rtlCol="0" anchor="ctr"/>
          <a:lstStyle/>
          <a:p>
            <a:pPr indent="0" marL="0">
              <a:lnSpc>
                <a:spcPts val="1900"/>
              </a:lnSpc>
              <a:buNone/>
            </a:pPr>
            <a:r>
              <a:rPr lang="en-US" sz="1700" b="1" dirty="0">
                <a:solidFill>
                  <a:srgbClr val="00B3A4"/>
                </a:solidFill>
                <a:latin typeface="Calibri" pitchFamily="34" charset="0"/>
                <a:ea typeface="Calibri" pitchFamily="34" charset="-122"/>
                <a:cs typeface="Calibri" pitchFamily="34" charset="-120"/>
              </a:rPr>
              <a:t>ATSL
</a:t>
            </a:r>
            <a:pPr indent="0" marL="0">
              <a:lnSpc>
                <a:spcPts val="1900"/>
              </a:lnSpc>
              <a:buNone/>
            </a:pPr>
            <a:r>
              <a:rPr lang="en-US" sz="1050" dirty="0">
                <a:solidFill>
                  <a:srgbClr val="C7CDEA"/>
                </a:solidFill>
                <a:latin typeface="Calibri" pitchFamily="34" charset="0"/>
                <a:ea typeface="Calibri" pitchFamily="34" charset="-122"/>
                <a:cs typeface="Calibri" pitchFamily="34" charset="-120"/>
              </a:rPr>
              <a:t>AI TPM Scrum Lab</a:t>
            </a:r>
            <a:endParaRPr lang="en-US" sz="1700" dirty="0"/>
          </a:p>
        </p:txBody>
      </p:sp>
      <p:sp>
        <p:nvSpPr>
          <p:cNvPr id="16" name="Shape 14"/>
          <p:cNvSpPr/>
          <p:nvPr/>
        </p:nvSpPr>
        <p:spPr>
          <a:xfrm>
            <a:off x="7223760" y="4754880"/>
            <a:ext cx="2331720" cy="960120"/>
          </a:xfrm>
          <a:prstGeom prst="roundRect">
            <a:avLst>
              <a:gd name="adj" fmla="val 11429"/>
            </a:avLst>
          </a:prstGeom>
          <a:solidFill>
            <a:srgbClr val="FFFFFF">
              <a:alpha val="12000"/>
            </a:srgbClr>
          </a:solidFill>
          <a:ln w="12700">
            <a:solidFill>
              <a:srgbClr val="4B4394"/>
            </a:solidFill>
            <a:prstDash val="solid"/>
          </a:ln>
        </p:spPr>
      </p:sp>
      <p:sp>
        <p:nvSpPr>
          <p:cNvPr id="17" name="Text 15"/>
          <p:cNvSpPr txBox="1"/>
          <p:nvPr/>
        </p:nvSpPr>
        <p:spPr>
          <a:xfrm>
            <a:off x="7424928" y="4754880"/>
            <a:ext cx="2011680" cy="960120"/>
          </a:xfrm>
          <a:prstGeom prst="rect">
            <a:avLst/>
          </a:prstGeom>
          <a:noFill/>
          <a:ln/>
        </p:spPr>
        <p:txBody>
          <a:bodyPr wrap="square" lIns="0" tIns="0" rIns="0" bIns="0" rtlCol="0" anchor="ctr"/>
          <a:lstStyle/>
          <a:p>
            <a:pPr indent="0" marL="0">
              <a:lnSpc>
                <a:spcPts val="1900"/>
              </a:lnSpc>
              <a:buNone/>
            </a:pPr>
            <a:r>
              <a:rPr lang="en-US" sz="1700" b="1" dirty="0">
                <a:solidFill>
                  <a:srgbClr val="FFB01F"/>
                </a:solidFill>
                <a:latin typeface="Calibri" pitchFamily="34" charset="0"/>
                <a:ea typeface="Calibri" pitchFamily="34" charset="-122"/>
                <a:cs typeface="Calibri" pitchFamily="34" charset="-120"/>
              </a:rPr>
              <a:t>KAN
</a:t>
            </a:r>
            <a:pPr indent="0" marL="0">
              <a:lnSpc>
                <a:spcPts val="1900"/>
              </a:lnSpc>
              <a:buNone/>
            </a:pPr>
            <a:r>
              <a:rPr lang="en-US" sz="1050" dirty="0">
                <a:solidFill>
                  <a:srgbClr val="C7CDEA"/>
                </a:solidFill>
                <a:latin typeface="Calibri" pitchFamily="34" charset="0"/>
                <a:ea typeface="Calibri" pitchFamily="34" charset="-122"/>
                <a:cs typeface="Calibri" pitchFamily="34" charset="-120"/>
              </a:rPr>
              <a:t>DevOps &amp; Cloud IT</a:t>
            </a:r>
            <a:endParaRPr lang="en-US" sz="1700" dirty="0"/>
          </a:p>
        </p:txBody>
      </p:sp>
      <p:sp>
        <p:nvSpPr>
          <p:cNvPr id="18" name="Text 16"/>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9AA3C8"/>
                </a:solidFill>
                <a:latin typeface="Calibri" pitchFamily="34" charset="0"/>
                <a:ea typeface="Calibri" pitchFamily="34" charset="-122"/>
                <a:cs typeface="Calibri" pitchFamily="34" charset="-120"/>
              </a:rPr>
              <a:t>Mahesh Zade  •  AI TPM / Jira Delivery Project</a:t>
            </a:r>
            <a:endParaRPr lang="en-US" sz="1000" dirty="0"/>
          </a:p>
        </p:txBody>
      </p:sp>
      <p:sp>
        <p:nvSpPr>
          <p:cNvPr id="19" name="Shape 17"/>
          <p:cNvSpPr/>
          <p:nvPr/>
        </p:nvSpPr>
        <p:spPr>
          <a:xfrm>
            <a:off x="11375136" y="6382512"/>
            <a:ext cx="310896" cy="310896"/>
          </a:xfrm>
          <a:prstGeom prst="ellipse">
            <a:avLst/>
          </a:prstGeom>
          <a:solidFill>
            <a:srgbClr val="1364F4"/>
          </a:solidFill>
          <a:ln w="12700">
            <a:solidFill>
              <a:srgbClr val="1364F4"/>
            </a:solidFill>
            <a:prstDash val="solid"/>
          </a:ln>
        </p:spPr>
      </p:sp>
      <p:sp>
        <p:nvSpPr>
          <p:cNvPr id="20" name="Text 18"/>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37160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CONTENTS</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What this deck covers</a:t>
            </a:r>
            <a:endParaRPr lang="en-US" sz="3100" dirty="0"/>
          </a:p>
        </p:txBody>
      </p:sp>
      <p:sp>
        <p:nvSpPr>
          <p:cNvPr id="5" name="Shape 3"/>
          <p:cNvSpPr/>
          <p:nvPr/>
        </p:nvSpPr>
        <p:spPr>
          <a:xfrm>
            <a:off x="502920" y="1600200"/>
            <a:ext cx="3544824" cy="1943100"/>
          </a:xfrm>
          <a:prstGeom prst="roundRect">
            <a:avLst>
              <a:gd name="adj" fmla="val 2824"/>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6" name="Shape 4"/>
          <p:cNvSpPr/>
          <p:nvPr/>
        </p:nvSpPr>
        <p:spPr>
          <a:xfrm>
            <a:off x="740664" y="1837944"/>
            <a:ext cx="420624" cy="420624"/>
          </a:xfrm>
          <a:prstGeom prst="ellipse">
            <a:avLst/>
          </a:prstGeom>
          <a:solidFill>
            <a:srgbClr val="1364F4"/>
          </a:solidFill>
          <a:ln w="12700">
            <a:solidFill>
              <a:srgbClr val="1364F4"/>
            </a:solidFill>
            <a:prstDash val="solid"/>
          </a:ln>
        </p:spPr>
      </p:sp>
      <p:sp>
        <p:nvSpPr>
          <p:cNvPr id="7" name="Text 5"/>
          <p:cNvSpPr txBox="1"/>
          <p:nvPr/>
        </p:nvSpPr>
        <p:spPr>
          <a:xfrm>
            <a:off x="740664" y="1837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740664" y="2350008"/>
            <a:ext cx="306933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Delivery Model</a:t>
            </a:r>
            <a:endParaRPr lang="en-US" sz="1500" dirty="0"/>
          </a:p>
        </p:txBody>
      </p:sp>
      <p:sp>
        <p:nvSpPr>
          <p:cNvPr id="9" name="Text 7"/>
          <p:cNvSpPr txBox="1"/>
          <p:nvPr/>
        </p:nvSpPr>
        <p:spPr>
          <a:xfrm>
            <a:off x="740664" y="2752344"/>
            <a:ext cx="3069336" cy="57150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Project context, Jira operating model and how the ATSL and KAN environments were set up and run.</a:t>
            </a:r>
            <a:endParaRPr lang="en-US" sz="1200" dirty="0"/>
          </a:p>
        </p:txBody>
      </p:sp>
      <p:sp>
        <p:nvSpPr>
          <p:cNvPr id="10" name="Shape 8"/>
          <p:cNvSpPr/>
          <p:nvPr/>
        </p:nvSpPr>
        <p:spPr>
          <a:xfrm>
            <a:off x="4322064" y="1600200"/>
            <a:ext cx="3544824" cy="1943100"/>
          </a:xfrm>
          <a:prstGeom prst="roundRect">
            <a:avLst>
              <a:gd name="adj" fmla="val 2824"/>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11" name="Shape 9"/>
          <p:cNvSpPr/>
          <p:nvPr/>
        </p:nvSpPr>
        <p:spPr>
          <a:xfrm>
            <a:off x="4559808" y="1837944"/>
            <a:ext cx="420624" cy="420624"/>
          </a:xfrm>
          <a:prstGeom prst="ellipse">
            <a:avLst/>
          </a:prstGeom>
          <a:solidFill>
            <a:srgbClr val="00B3A4"/>
          </a:solidFill>
          <a:ln w="12700">
            <a:solidFill>
              <a:srgbClr val="00B3A4"/>
            </a:solidFill>
            <a:prstDash val="solid"/>
          </a:ln>
        </p:spPr>
      </p:sp>
      <p:sp>
        <p:nvSpPr>
          <p:cNvPr id="12" name="Text 10"/>
          <p:cNvSpPr txBox="1"/>
          <p:nvPr/>
        </p:nvSpPr>
        <p:spPr>
          <a:xfrm>
            <a:off x="4559808" y="1837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4559808" y="2350008"/>
            <a:ext cx="306933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Backlog to Sprint</a:t>
            </a:r>
            <a:endParaRPr lang="en-US" sz="1500" dirty="0"/>
          </a:p>
        </p:txBody>
      </p:sp>
      <p:sp>
        <p:nvSpPr>
          <p:cNvPr id="14" name="Text 12"/>
          <p:cNvSpPr txBox="1"/>
          <p:nvPr/>
        </p:nvSpPr>
        <p:spPr>
          <a:xfrm>
            <a:off x="4559808" y="2752344"/>
            <a:ext cx="3069336" cy="57150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User stories, acceptance criteria, story points, sprint planning and sprint execution.</a:t>
            </a:r>
            <a:endParaRPr lang="en-US" sz="1200" dirty="0"/>
          </a:p>
        </p:txBody>
      </p:sp>
      <p:sp>
        <p:nvSpPr>
          <p:cNvPr id="15" name="Shape 13"/>
          <p:cNvSpPr/>
          <p:nvPr/>
        </p:nvSpPr>
        <p:spPr>
          <a:xfrm>
            <a:off x="8141208" y="1600200"/>
            <a:ext cx="3544824" cy="1943100"/>
          </a:xfrm>
          <a:prstGeom prst="roundRect">
            <a:avLst>
              <a:gd name="adj" fmla="val 2824"/>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16" name="Shape 14"/>
          <p:cNvSpPr/>
          <p:nvPr/>
        </p:nvSpPr>
        <p:spPr>
          <a:xfrm>
            <a:off x="8378952" y="1837944"/>
            <a:ext cx="420624" cy="420624"/>
          </a:xfrm>
          <a:prstGeom prst="ellipse">
            <a:avLst/>
          </a:prstGeom>
          <a:solidFill>
            <a:srgbClr val="F4436C"/>
          </a:solidFill>
          <a:ln w="12700">
            <a:solidFill>
              <a:srgbClr val="F4436C"/>
            </a:solidFill>
            <a:prstDash val="solid"/>
          </a:ln>
        </p:spPr>
      </p:sp>
      <p:sp>
        <p:nvSpPr>
          <p:cNvPr id="17" name="Text 15"/>
          <p:cNvSpPr txBox="1"/>
          <p:nvPr/>
        </p:nvSpPr>
        <p:spPr>
          <a:xfrm>
            <a:off x="8378952" y="1837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8378952" y="2350008"/>
            <a:ext cx="306933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Dependencies &amp; Risk</a:t>
            </a:r>
            <a:endParaRPr lang="en-US" sz="1500" dirty="0"/>
          </a:p>
        </p:txBody>
      </p:sp>
      <p:sp>
        <p:nvSpPr>
          <p:cNvPr id="19" name="Text 17"/>
          <p:cNvSpPr txBox="1"/>
          <p:nvPr/>
        </p:nvSpPr>
        <p:spPr>
          <a:xfrm>
            <a:off x="8378952" y="2752344"/>
            <a:ext cx="3069336" cy="57150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Blocking links, the ATSL-5 delivery risk, mitigation, escalation and checkpoints.</a:t>
            </a:r>
            <a:endParaRPr lang="en-US" sz="1200" dirty="0"/>
          </a:p>
        </p:txBody>
      </p:sp>
      <p:sp>
        <p:nvSpPr>
          <p:cNvPr id="20" name="Shape 18"/>
          <p:cNvSpPr/>
          <p:nvPr/>
        </p:nvSpPr>
        <p:spPr>
          <a:xfrm>
            <a:off x="502920" y="3817620"/>
            <a:ext cx="3544824" cy="1943100"/>
          </a:xfrm>
          <a:prstGeom prst="roundRect">
            <a:avLst>
              <a:gd name="adj" fmla="val 2824"/>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21" name="Shape 19"/>
          <p:cNvSpPr/>
          <p:nvPr/>
        </p:nvSpPr>
        <p:spPr>
          <a:xfrm>
            <a:off x="740664" y="4055364"/>
            <a:ext cx="420624" cy="420624"/>
          </a:xfrm>
          <a:prstGeom prst="ellipse">
            <a:avLst/>
          </a:prstGeom>
          <a:solidFill>
            <a:srgbClr val="8036F0"/>
          </a:solidFill>
          <a:ln w="12700">
            <a:solidFill>
              <a:srgbClr val="8036F0"/>
            </a:solidFill>
            <a:prstDash val="solid"/>
          </a:ln>
        </p:spPr>
      </p:sp>
      <p:sp>
        <p:nvSpPr>
          <p:cNvPr id="22" name="Text 20"/>
          <p:cNvSpPr txBox="1"/>
          <p:nvPr/>
        </p:nvSpPr>
        <p:spPr>
          <a:xfrm>
            <a:off x="740664" y="40553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740664" y="4567428"/>
            <a:ext cx="306933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JQL &amp; Reporting</a:t>
            </a:r>
            <a:endParaRPr lang="en-US" sz="1500" dirty="0"/>
          </a:p>
        </p:txBody>
      </p:sp>
      <p:sp>
        <p:nvSpPr>
          <p:cNvPr id="24" name="Text 22"/>
          <p:cNvSpPr txBox="1"/>
          <p:nvPr/>
        </p:nvSpPr>
        <p:spPr>
          <a:xfrm>
            <a:off x="740664" y="4969764"/>
            <a:ext cx="3069336" cy="57150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Queries, saved filters, burndown, sprint report, cumulative flow and status analysis.</a:t>
            </a:r>
            <a:endParaRPr lang="en-US" sz="1200" dirty="0"/>
          </a:p>
        </p:txBody>
      </p:sp>
      <p:sp>
        <p:nvSpPr>
          <p:cNvPr id="25" name="Shape 23"/>
          <p:cNvSpPr/>
          <p:nvPr/>
        </p:nvSpPr>
        <p:spPr>
          <a:xfrm>
            <a:off x="4322064" y="3817620"/>
            <a:ext cx="3544824" cy="1943100"/>
          </a:xfrm>
          <a:prstGeom prst="roundRect">
            <a:avLst>
              <a:gd name="adj" fmla="val 2824"/>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26" name="Shape 24"/>
          <p:cNvSpPr/>
          <p:nvPr/>
        </p:nvSpPr>
        <p:spPr>
          <a:xfrm>
            <a:off x="4559808" y="4055364"/>
            <a:ext cx="420624" cy="420624"/>
          </a:xfrm>
          <a:prstGeom prst="ellipse">
            <a:avLst/>
          </a:prstGeom>
          <a:solidFill>
            <a:srgbClr val="FFB01F"/>
          </a:solidFill>
          <a:ln w="12700">
            <a:solidFill>
              <a:srgbClr val="FFB01F"/>
            </a:solidFill>
            <a:prstDash val="solid"/>
          </a:ln>
        </p:spPr>
      </p:sp>
      <p:sp>
        <p:nvSpPr>
          <p:cNvPr id="27" name="Text 25"/>
          <p:cNvSpPr txBox="1"/>
          <p:nvPr/>
        </p:nvSpPr>
        <p:spPr>
          <a:xfrm>
            <a:off x="4559808" y="40553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4559808" y="4567428"/>
            <a:ext cx="306933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Screenshot Evidence</a:t>
            </a:r>
            <a:endParaRPr lang="en-US" sz="1500" dirty="0"/>
          </a:p>
        </p:txBody>
      </p:sp>
      <p:sp>
        <p:nvSpPr>
          <p:cNvPr id="29" name="Text 27"/>
          <p:cNvSpPr txBox="1"/>
          <p:nvPr/>
        </p:nvSpPr>
        <p:spPr>
          <a:xfrm>
            <a:off x="4559808" y="4969764"/>
            <a:ext cx="3069336" cy="57150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All 80 Jira screenshots, arranged in delivery order with a written description for each.</a:t>
            </a:r>
            <a:endParaRPr lang="en-US" sz="1200" dirty="0"/>
          </a:p>
        </p:txBody>
      </p:sp>
      <p:sp>
        <p:nvSpPr>
          <p:cNvPr id="30" name="Shape 28"/>
          <p:cNvSpPr/>
          <p:nvPr/>
        </p:nvSpPr>
        <p:spPr>
          <a:xfrm>
            <a:off x="8141208" y="3817620"/>
            <a:ext cx="3544824" cy="1943100"/>
          </a:xfrm>
          <a:prstGeom prst="roundRect">
            <a:avLst>
              <a:gd name="adj" fmla="val 2824"/>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31" name="Shape 29"/>
          <p:cNvSpPr/>
          <p:nvPr/>
        </p:nvSpPr>
        <p:spPr>
          <a:xfrm>
            <a:off x="8378952" y="4055364"/>
            <a:ext cx="420624" cy="420624"/>
          </a:xfrm>
          <a:prstGeom prst="ellipse">
            <a:avLst/>
          </a:prstGeom>
          <a:solidFill>
            <a:srgbClr val="16A34A"/>
          </a:solidFill>
          <a:ln w="12700">
            <a:solidFill>
              <a:srgbClr val="16A34A"/>
            </a:solidFill>
            <a:prstDash val="solid"/>
          </a:ln>
        </p:spPr>
      </p:sp>
      <p:sp>
        <p:nvSpPr>
          <p:cNvPr id="32" name="Text 30"/>
          <p:cNvSpPr txBox="1"/>
          <p:nvPr/>
        </p:nvSpPr>
        <p:spPr>
          <a:xfrm>
            <a:off x="8378952" y="40553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8378952" y="4567428"/>
            <a:ext cx="306933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TPM Interview Q&amp;A</a:t>
            </a:r>
            <a:endParaRPr lang="en-US" sz="1500" dirty="0"/>
          </a:p>
        </p:txBody>
      </p:sp>
      <p:sp>
        <p:nvSpPr>
          <p:cNvPr id="34" name="Text 32"/>
          <p:cNvSpPr txBox="1"/>
          <p:nvPr/>
        </p:nvSpPr>
        <p:spPr>
          <a:xfrm>
            <a:off x="8378952" y="4969764"/>
            <a:ext cx="3069336" cy="57150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Twelve TPM interview questions with model answers, plus two STAR delivery stories.</a:t>
            </a:r>
            <a:endParaRPr lang="en-US" sz="1200" dirty="0"/>
          </a:p>
        </p:txBody>
      </p:sp>
      <p:sp>
        <p:nvSpPr>
          <p:cNvPr id="35" name="Text 33"/>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36" name="Shape 34"/>
          <p:cNvSpPr/>
          <p:nvPr/>
        </p:nvSpPr>
        <p:spPr>
          <a:xfrm>
            <a:off x="11375136" y="6382512"/>
            <a:ext cx="310896" cy="310896"/>
          </a:xfrm>
          <a:prstGeom prst="ellipse">
            <a:avLst/>
          </a:prstGeom>
          <a:solidFill>
            <a:srgbClr val="EAEEFB"/>
          </a:solidFill>
          <a:ln w="12700">
            <a:solidFill>
              <a:srgbClr val="EAEEFB"/>
            </a:solidFill>
            <a:prstDash val="solid"/>
          </a:ln>
        </p:spPr>
      </p:sp>
      <p:sp>
        <p:nvSpPr>
          <p:cNvPr id="37" name="Text 35"/>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0B2E"/>
        </a:solidFill>
      </p:bgPr>
    </p:bg>
    <p:spTree>
      <p:nvGrpSpPr>
        <p:cNvPr id="1" name=""/>
        <p:cNvGrpSpPr/>
        <p:nvPr/>
      </p:nvGrpSpPr>
      <p:grpSpPr>
        <a:xfrm>
          <a:off x="0" y="0"/>
          <a:ext cx="0" cy="0"/>
          <a:chOff x="0" y="0"/>
          <a:chExt cx="0" cy="0"/>
        </a:xfrm>
      </p:grpSpPr>
      <p:sp>
        <p:nvSpPr>
          <p:cNvPr id="2" name="Shape 0"/>
          <p:cNvSpPr/>
          <p:nvPr/>
        </p:nvSpPr>
        <p:spPr>
          <a:xfrm>
            <a:off x="9144000" y="-1280160"/>
            <a:ext cx="4754880" cy="4754880"/>
          </a:xfrm>
          <a:prstGeom prst="ellipse">
            <a:avLst/>
          </a:prstGeom>
          <a:solidFill>
            <a:srgbClr val="1364F4">
              <a:alpha val="38000"/>
            </a:srgbClr>
          </a:solidFill>
          <a:ln w="12700">
            <a:solidFill>
              <a:srgbClr val="1364F4">
                <a:alpha val="0"/>
              </a:srgbClr>
            </a:solidFill>
            <a:prstDash val="solid"/>
          </a:ln>
        </p:spPr>
      </p:sp>
      <p:sp>
        <p:nvSpPr>
          <p:cNvPr id="3" name="Shape 1"/>
          <p:cNvSpPr/>
          <p:nvPr/>
        </p:nvSpPr>
        <p:spPr>
          <a:xfrm>
            <a:off x="10058400" y="3657600"/>
            <a:ext cx="3108960" cy="3108960"/>
          </a:xfrm>
          <a:prstGeom prst="ellipse">
            <a:avLst/>
          </a:prstGeom>
          <a:solidFill>
            <a:srgbClr val="8036F0">
              <a:alpha val="32000"/>
            </a:srgbClr>
          </a:solidFill>
          <a:ln w="12700">
            <a:solidFill>
              <a:srgbClr val="8036F0">
                <a:alpha val="0"/>
              </a:srgbClr>
            </a:solidFill>
            <a:prstDash val="solid"/>
          </a:ln>
        </p:spPr>
      </p:sp>
      <p:sp>
        <p:nvSpPr>
          <p:cNvPr id="4" name="Shape 2"/>
          <p:cNvSpPr/>
          <p:nvPr/>
        </p:nvSpPr>
        <p:spPr>
          <a:xfrm>
            <a:off x="-914400" y="4480560"/>
            <a:ext cx="2743200" cy="2743200"/>
          </a:xfrm>
          <a:prstGeom prst="ellipse">
            <a:avLst/>
          </a:prstGeom>
          <a:solidFill>
            <a:srgbClr val="00B3A4">
              <a:alpha val="26000"/>
            </a:srgbClr>
          </a:solidFill>
          <a:ln w="12700">
            <a:solidFill>
              <a:srgbClr val="00B3A4">
                <a:alpha val="0"/>
              </a:srgbClr>
            </a:solidFill>
            <a:prstDash val="solid"/>
          </a:ln>
        </p:spPr>
      </p:sp>
      <p:sp>
        <p:nvSpPr>
          <p:cNvPr id="5" name="Text 3"/>
          <p:cNvSpPr txBox="1"/>
          <p:nvPr/>
        </p:nvSpPr>
        <p:spPr>
          <a:xfrm>
            <a:off x="502920" y="2240280"/>
            <a:ext cx="7315200" cy="365760"/>
          </a:xfrm>
          <a:prstGeom prst="rect">
            <a:avLst/>
          </a:prstGeom>
          <a:noFill/>
          <a:ln/>
        </p:spPr>
        <p:txBody>
          <a:bodyPr wrap="square" lIns="0" tIns="0" rIns="0" bIns="0" rtlCol="0" anchor="ctr"/>
          <a:lstStyle/>
          <a:p>
            <a:pPr indent="0" marL="0">
              <a:buNone/>
            </a:pPr>
            <a:r>
              <a:rPr lang="en-US" sz="1300" b="1" spc="250" kern="0" dirty="0">
                <a:solidFill>
                  <a:srgbClr val="1364F4"/>
                </a:solidFill>
                <a:latin typeface="Calibri" pitchFamily="34" charset="0"/>
                <a:ea typeface="Calibri" pitchFamily="34" charset="-122"/>
                <a:cs typeface="Calibri" pitchFamily="34" charset="-120"/>
              </a:rPr>
              <a:t>PART 1</a:t>
            </a:r>
            <a:endParaRPr lang="en-US" sz="1300" dirty="0"/>
          </a:p>
        </p:txBody>
      </p:sp>
      <p:sp>
        <p:nvSpPr>
          <p:cNvPr id="6" name="Text 4"/>
          <p:cNvSpPr txBox="1"/>
          <p:nvPr/>
        </p:nvSpPr>
        <p:spPr>
          <a:xfrm>
            <a:off x="502920" y="2651760"/>
            <a:ext cx="8412480" cy="11887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Project, Delivery and Reporting</a:t>
            </a:r>
            <a:endParaRPr lang="en-US" sz="4000" dirty="0"/>
          </a:p>
        </p:txBody>
      </p:sp>
      <p:sp>
        <p:nvSpPr>
          <p:cNvPr id="7" name="Text 5"/>
          <p:cNvSpPr txBox="1"/>
          <p:nvPr/>
        </p:nvSpPr>
        <p:spPr>
          <a:xfrm>
            <a:off x="502920" y="3886200"/>
            <a:ext cx="7498080" cy="731520"/>
          </a:xfrm>
          <a:prstGeom prst="rect">
            <a:avLst/>
          </a:prstGeom>
          <a:noFill/>
          <a:ln/>
        </p:spPr>
        <p:txBody>
          <a:bodyPr wrap="square" lIns="0" tIns="0" rIns="0" bIns="0" rtlCol="0" anchor="ctr"/>
          <a:lstStyle/>
          <a:p>
            <a:pPr indent="0" marL="0">
              <a:lnSpc>
                <a:spcPts val="2100"/>
              </a:lnSpc>
              <a:buNone/>
            </a:pPr>
            <a:r>
              <a:rPr lang="en-US" sz="1400" dirty="0">
                <a:solidFill>
                  <a:srgbClr val="B6BEE4"/>
                </a:solidFill>
                <a:latin typeface="Calibri" pitchFamily="34" charset="0"/>
                <a:ea typeface="Calibri" pitchFamily="34" charset="-122"/>
                <a:cs typeface="Calibri" pitchFamily="34" charset="-120"/>
              </a:rPr>
              <a:t>How the AI support-triage programme was planned, executed, risk-managed and reported inside Jira Cloud.</a:t>
            </a:r>
            <a:endParaRPr lang="en-US" sz="1400" dirty="0"/>
          </a:p>
        </p:txBody>
      </p:sp>
      <p:sp>
        <p:nvSpPr>
          <p:cNvPr id="8" name="Text 6"/>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9AA3C8"/>
                </a:solidFill>
                <a:latin typeface="Calibri" pitchFamily="34" charset="0"/>
                <a:ea typeface="Calibri" pitchFamily="34" charset="-122"/>
                <a:cs typeface="Calibri" pitchFamily="34" charset="-120"/>
              </a:rPr>
              <a:t>Mahesh Zade  •  AI TPM / Jira Delivery Project</a:t>
            </a:r>
            <a:endParaRPr lang="en-US" sz="1000" dirty="0"/>
          </a:p>
        </p:txBody>
      </p:sp>
      <p:sp>
        <p:nvSpPr>
          <p:cNvPr id="9" name="Shape 7"/>
          <p:cNvSpPr/>
          <p:nvPr/>
        </p:nvSpPr>
        <p:spPr>
          <a:xfrm>
            <a:off x="11375136" y="6382512"/>
            <a:ext cx="310896" cy="310896"/>
          </a:xfrm>
          <a:prstGeom prst="ellipse">
            <a:avLst/>
          </a:prstGeom>
          <a:solidFill>
            <a:srgbClr val="1364F4"/>
          </a:solidFill>
          <a:ln w="12700">
            <a:solidFill>
              <a:srgbClr val="1364F4"/>
            </a:solidFill>
            <a:prstDash val="solid"/>
          </a:ln>
        </p:spPr>
      </p:sp>
      <p:sp>
        <p:nvSpPr>
          <p:cNvPr id="10" name="Text 8"/>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889150"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88915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OVERVIEW</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Executive project overview</a:t>
            </a:r>
            <a:endParaRPr lang="en-US" sz="3100" dirty="0"/>
          </a:p>
        </p:txBody>
      </p:sp>
      <p:sp>
        <p:nvSpPr>
          <p:cNvPr id="5" name="Text 3"/>
          <p:cNvSpPr txBox="1"/>
          <p:nvPr/>
        </p:nvSpPr>
        <p:spPr>
          <a:xfrm>
            <a:off x="502920" y="1572768"/>
            <a:ext cx="11183112" cy="502920"/>
          </a:xfrm>
          <a:prstGeom prst="rect">
            <a:avLst/>
          </a:prstGeom>
          <a:noFill/>
          <a:ln/>
        </p:spPr>
        <p:txBody>
          <a:bodyPr wrap="square" lIns="0" tIns="0" rIns="0" bIns="0" rtlCol="0" anchor="ctr"/>
          <a:lstStyle/>
          <a:p>
            <a:pPr indent="0" marL="0">
              <a:lnSpc>
                <a:spcPts val="2000"/>
              </a:lnSpc>
              <a:buNone/>
            </a:pPr>
            <a:r>
              <a:rPr lang="en-US" sz="1400" dirty="0">
                <a:solidFill>
                  <a:srgbClr val="5B6180"/>
                </a:solidFill>
                <a:latin typeface="Calibri" pitchFamily="34" charset="0"/>
                <a:ea typeface="Calibri" pitchFamily="34" charset="-122"/>
                <a:cs typeface="Calibri" pitchFamily="34" charset="-120"/>
              </a:rPr>
              <a:t>A single TPM owned an AI support-triage programme end to end in Jira Cloud: two projects, ten tracked work items, one live delivery risk and an executive dashboard built on saved JQL filters.</a:t>
            </a:r>
            <a:endParaRPr lang="en-US" sz="1400" dirty="0"/>
          </a:p>
        </p:txBody>
      </p:sp>
      <p:sp>
        <p:nvSpPr>
          <p:cNvPr id="6" name="Shape 4"/>
          <p:cNvSpPr/>
          <p:nvPr/>
        </p:nvSpPr>
        <p:spPr>
          <a:xfrm>
            <a:off x="502920" y="2240280"/>
            <a:ext cx="2031797" cy="1371600"/>
          </a:xfrm>
          <a:prstGeom prst="roundRect">
            <a:avLst>
              <a:gd name="adj" fmla="val 5333"/>
            </a:avLst>
          </a:prstGeom>
          <a:solidFill>
            <a:srgbClr val="1364F4">
              <a:alpha val="10000"/>
            </a:srgbClr>
          </a:solidFill>
          <a:ln w="12700">
            <a:solidFill>
              <a:srgbClr val="1364F4">
                <a:alpha val="40000"/>
              </a:srgbClr>
            </a:solidFill>
            <a:prstDash val="solid"/>
          </a:ln>
        </p:spPr>
      </p:sp>
      <p:sp>
        <p:nvSpPr>
          <p:cNvPr id="7" name="Text 5"/>
          <p:cNvSpPr txBox="1"/>
          <p:nvPr/>
        </p:nvSpPr>
        <p:spPr>
          <a:xfrm>
            <a:off x="502920" y="2404872"/>
            <a:ext cx="2031797" cy="713232"/>
          </a:xfrm>
          <a:prstGeom prst="rect">
            <a:avLst/>
          </a:prstGeom>
          <a:noFill/>
          <a:ln/>
        </p:spPr>
        <p:txBody>
          <a:bodyPr wrap="square" lIns="0" tIns="0" rIns="0" bIns="0" rtlCol="0" anchor="ctr"/>
          <a:lstStyle/>
          <a:p>
            <a:pPr algn="ctr" indent="0" marL="0">
              <a:buNone/>
            </a:pPr>
            <a:r>
              <a:rPr lang="en-US" sz="4000" b="1" dirty="0">
                <a:solidFill>
                  <a:srgbClr val="1364F4"/>
                </a:solidFill>
                <a:latin typeface="Calibri" pitchFamily="34" charset="0"/>
                <a:ea typeface="Calibri" pitchFamily="34" charset="-122"/>
                <a:cs typeface="Calibri" pitchFamily="34" charset="-120"/>
              </a:rPr>
              <a:t>10</a:t>
            </a:r>
            <a:endParaRPr lang="en-US" sz="4000" dirty="0"/>
          </a:p>
        </p:txBody>
      </p:sp>
      <p:sp>
        <p:nvSpPr>
          <p:cNvPr id="8" name="Text 6"/>
          <p:cNvSpPr txBox="1"/>
          <p:nvPr/>
        </p:nvSpPr>
        <p:spPr>
          <a:xfrm>
            <a:off x="612648" y="3035808"/>
            <a:ext cx="1812341" cy="493776"/>
          </a:xfrm>
          <a:prstGeom prst="rect">
            <a:avLst/>
          </a:prstGeom>
          <a:noFill/>
          <a:ln/>
        </p:spPr>
        <p:txBody>
          <a:bodyPr wrap="square" lIns="0" tIns="0" rIns="0" bIns="0" rtlCol="0" anchor="t"/>
          <a:lstStyle/>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work items tracked</a:t>
            </a:r>
            <a:endParaRPr lang="en-US" sz="1150" dirty="0"/>
          </a:p>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across both projects</a:t>
            </a:r>
            <a:endParaRPr lang="en-US" sz="1150" dirty="0"/>
          </a:p>
        </p:txBody>
      </p:sp>
      <p:sp>
        <p:nvSpPr>
          <p:cNvPr id="9" name="Shape 7"/>
          <p:cNvSpPr/>
          <p:nvPr/>
        </p:nvSpPr>
        <p:spPr>
          <a:xfrm>
            <a:off x="2790749" y="2240280"/>
            <a:ext cx="2031797" cy="1371600"/>
          </a:xfrm>
          <a:prstGeom prst="roundRect">
            <a:avLst>
              <a:gd name="adj" fmla="val 5333"/>
            </a:avLst>
          </a:prstGeom>
          <a:solidFill>
            <a:srgbClr val="00B3A4">
              <a:alpha val="10000"/>
            </a:srgbClr>
          </a:solidFill>
          <a:ln w="12700">
            <a:solidFill>
              <a:srgbClr val="00B3A4">
                <a:alpha val="40000"/>
              </a:srgbClr>
            </a:solidFill>
            <a:prstDash val="solid"/>
          </a:ln>
        </p:spPr>
      </p:sp>
      <p:sp>
        <p:nvSpPr>
          <p:cNvPr id="10" name="Text 8"/>
          <p:cNvSpPr txBox="1"/>
          <p:nvPr/>
        </p:nvSpPr>
        <p:spPr>
          <a:xfrm>
            <a:off x="2790749" y="2404872"/>
            <a:ext cx="2031797" cy="713232"/>
          </a:xfrm>
          <a:prstGeom prst="rect">
            <a:avLst/>
          </a:prstGeom>
          <a:noFill/>
          <a:ln/>
        </p:spPr>
        <p:txBody>
          <a:bodyPr wrap="square" lIns="0" tIns="0" rIns="0" bIns="0" rtlCol="0" anchor="ctr"/>
          <a:lstStyle/>
          <a:p>
            <a:pPr algn="ctr" indent="0" marL="0">
              <a:buNone/>
            </a:pPr>
            <a:r>
              <a:rPr lang="en-US" sz="4000" b="1" dirty="0">
                <a:solidFill>
                  <a:srgbClr val="00B3A4"/>
                </a:solidFill>
                <a:latin typeface="Calibri" pitchFamily="34" charset="0"/>
                <a:ea typeface="Calibri" pitchFamily="34" charset="-122"/>
                <a:cs typeface="Calibri" pitchFamily="34" charset="-120"/>
              </a:rPr>
              <a:t>2</a:t>
            </a:r>
            <a:endParaRPr lang="en-US" sz="4000" dirty="0"/>
          </a:p>
        </p:txBody>
      </p:sp>
      <p:sp>
        <p:nvSpPr>
          <p:cNvPr id="11" name="Text 9"/>
          <p:cNvSpPr txBox="1"/>
          <p:nvPr/>
        </p:nvSpPr>
        <p:spPr>
          <a:xfrm>
            <a:off x="2900477" y="3035808"/>
            <a:ext cx="1812341" cy="493776"/>
          </a:xfrm>
          <a:prstGeom prst="rect">
            <a:avLst/>
          </a:prstGeom>
          <a:noFill/>
          <a:ln/>
        </p:spPr>
        <p:txBody>
          <a:bodyPr wrap="square" lIns="0" tIns="0" rIns="0" bIns="0" rtlCol="0" anchor="t"/>
          <a:lstStyle/>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Jira projects:</a:t>
            </a:r>
            <a:endParaRPr lang="en-US" sz="1150" dirty="0"/>
          </a:p>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ATSL and KAN</a:t>
            </a:r>
            <a:endParaRPr lang="en-US" sz="1150" dirty="0"/>
          </a:p>
        </p:txBody>
      </p:sp>
      <p:sp>
        <p:nvSpPr>
          <p:cNvPr id="12" name="Shape 10"/>
          <p:cNvSpPr/>
          <p:nvPr/>
        </p:nvSpPr>
        <p:spPr>
          <a:xfrm>
            <a:off x="5078578" y="2240280"/>
            <a:ext cx="2031797" cy="1371600"/>
          </a:xfrm>
          <a:prstGeom prst="roundRect">
            <a:avLst>
              <a:gd name="adj" fmla="val 5333"/>
            </a:avLst>
          </a:prstGeom>
          <a:solidFill>
            <a:srgbClr val="F4436C">
              <a:alpha val="10000"/>
            </a:srgbClr>
          </a:solidFill>
          <a:ln w="12700">
            <a:solidFill>
              <a:srgbClr val="F4436C">
                <a:alpha val="40000"/>
              </a:srgbClr>
            </a:solidFill>
            <a:prstDash val="solid"/>
          </a:ln>
        </p:spPr>
      </p:sp>
      <p:sp>
        <p:nvSpPr>
          <p:cNvPr id="13" name="Text 11"/>
          <p:cNvSpPr txBox="1"/>
          <p:nvPr/>
        </p:nvSpPr>
        <p:spPr>
          <a:xfrm>
            <a:off x="5078578" y="2404872"/>
            <a:ext cx="2031797" cy="713232"/>
          </a:xfrm>
          <a:prstGeom prst="rect">
            <a:avLst/>
          </a:prstGeom>
          <a:noFill/>
          <a:ln/>
        </p:spPr>
        <p:txBody>
          <a:bodyPr wrap="square" lIns="0" tIns="0" rIns="0" bIns="0" rtlCol="0" anchor="ctr"/>
          <a:lstStyle/>
          <a:p>
            <a:pPr algn="ctr" indent="0" marL="0">
              <a:buNone/>
            </a:pPr>
            <a:r>
              <a:rPr lang="en-US" sz="4000" b="1" dirty="0">
                <a:solidFill>
                  <a:srgbClr val="F4436C"/>
                </a:solidFill>
                <a:latin typeface="Calibri" pitchFamily="34" charset="0"/>
                <a:ea typeface="Calibri" pitchFamily="34" charset="-122"/>
                <a:cs typeface="Calibri" pitchFamily="34" charset="-120"/>
              </a:rPr>
              <a:t>13</a:t>
            </a:r>
            <a:endParaRPr lang="en-US" sz="4000" dirty="0"/>
          </a:p>
        </p:txBody>
      </p:sp>
      <p:sp>
        <p:nvSpPr>
          <p:cNvPr id="14" name="Text 12"/>
          <p:cNvSpPr txBox="1"/>
          <p:nvPr/>
        </p:nvSpPr>
        <p:spPr>
          <a:xfrm>
            <a:off x="5188306" y="3035808"/>
            <a:ext cx="1812341" cy="493776"/>
          </a:xfrm>
          <a:prstGeom prst="rect">
            <a:avLst/>
          </a:prstGeom>
          <a:noFill/>
          <a:ln/>
        </p:spPr>
        <p:txBody>
          <a:bodyPr wrap="square" lIns="0" tIns="0" rIns="0" bIns="0" rtlCol="0" anchor="t"/>
          <a:lstStyle/>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story points committed</a:t>
            </a:r>
            <a:endParaRPr lang="en-US" sz="1150" dirty="0"/>
          </a:p>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to Sprint 1</a:t>
            </a:r>
            <a:endParaRPr lang="en-US" sz="1150" dirty="0"/>
          </a:p>
        </p:txBody>
      </p:sp>
      <p:sp>
        <p:nvSpPr>
          <p:cNvPr id="15" name="Shape 13"/>
          <p:cNvSpPr/>
          <p:nvPr/>
        </p:nvSpPr>
        <p:spPr>
          <a:xfrm>
            <a:off x="7366406" y="2240280"/>
            <a:ext cx="2031797" cy="1371600"/>
          </a:xfrm>
          <a:prstGeom prst="roundRect">
            <a:avLst>
              <a:gd name="adj" fmla="val 5333"/>
            </a:avLst>
          </a:prstGeom>
          <a:solidFill>
            <a:srgbClr val="8036F0">
              <a:alpha val="10000"/>
            </a:srgbClr>
          </a:solidFill>
          <a:ln w="12700">
            <a:solidFill>
              <a:srgbClr val="8036F0">
                <a:alpha val="40000"/>
              </a:srgbClr>
            </a:solidFill>
            <a:prstDash val="solid"/>
          </a:ln>
        </p:spPr>
      </p:sp>
      <p:sp>
        <p:nvSpPr>
          <p:cNvPr id="16" name="Text 14"/>
          <p:cNvSpPr txBox="1"/>
          <p:nvPr/>
        </p:nvSpPr>
        <p:spPr>
          <a:xfrm>
            <a:off x="7366406" y="2404872"/>
            <a:ext cx="2031797" cy="713232"/>
          </a:xfrm>
          <a:prstGeom prst="rect">
            <a:avLst/>
          </a:prstGeom>
          <a:noFill/>
          <a:ln/>
        </p:spPr>
        <p:txBody>
          <a:bodyPr wrap="square" lIns="0" tIns="0" rIns="0" bIns="0" rtlCol="0" anchor="ctr"/>
          <a:lstStyle/>
          <a:p>
            <a:pPr algn="ctr" indent="0" marL="0">
              <a:buNone/>
            </a:pPr>
            <a:r>
              <a:rPr lang="en-US" sz="4000" b="1" dirty="0">
                <a:solidFill>
                  <a:srgbClr val="8036F0"/>
                </a:solidFill>
                <a:latin typeface="Calibri" pitchFamily="34" charset="0"/>
                <a:ea typeface="Calibri" pitchFamily="34" charset="-122"/>
                <a:cs typeface="Calibri" pitchFamily="34" charset="-120"/>
              </a:rPr>
              <a:t>80</a:t>
            </a:r>
            <a:endParaRPr lang="en-US" sz="4000" dirty="0"/>
          </a:p>
        </p:txBody>
      </p:sp>
      <p:sp>
        <p:nvSpPr>
          <p:cNvPr id="17" name="Text 15"/>
          <p:cNvSpPr txBox="1"/>
          <p:nvPr/>
        </p:nvSpPr>
        <p:spPr>
          <a:xfrm>
            <a:off x="7476134" y="3035808"/>
            <a:ext cx="1812341" cy="493776"/>
          </a:xfrm>
          <a:prstGeom prst="rect">
            <a:avLst/>
          </a:prstGeom>
          <a:noFill/>
          <a:ln/>
        </p:spPr>
        <p:txBody>
          <a:bodyPr wrap="square" lIns="0" tIns="0" rIns="0" bIns="0" rtlCol="0" anchor="t"/>
          <a:lstStyle/>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screenshots captured</a:t>
            </a:r>
            <a:endParaRPr lang="en-US" sz="1150" dirty="0"/>
          </a:p>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as delivery evidence</a:t>
            </a:r>
            <a:endParaRPr lang="en-US" sz="1150" dirty="0"/>
          </a:p>
        </p:txBody>
      </p:sp>
      <p:sp>
        <p:nvSpPr>
          <p:cNvPr id="18" name="Shape 16"/>
          <p:cNvSpPr/>
          <p:nvPr/>
        </p:nvSpPr>
        <p:spPr>
          <a:xfrm>
            <a:off x="9654235" y="2240280"/>
            <a:ext cx="2031797" cy="1371600"/>
          </a:xfrm>
          <a:prstGeom prst="roundRect">
            <a:avLst>
              <a:gd name="adj" fmla="val 5333"/>
            </a:avLst>
          </a:prstGeom>
          <a:solidFill>
            <a:srgbClr val="F4436C">
              <a:alpha val="10000"/>
            </a:srgbClr>
          </a:solidFill>
          <a:ln w="12700">
            <a:solidFill>
              <a:srgbClr val="F4436C">
                <a:alpha val="40000"/>
              </a:srgbClr>
            </a:solidFill>
            <a:prstDash val="solid"/>
          </a:ln>
        </p:spPr>
      </p:sp>
      <p:sp>
        <p:nvSpPr>
          <p:cNvPr id="19" name="Text 17"/>
          <p:cNvSpPr txBox="1"/>
          <p:nvPr/>
        </p:nvSpPr>
        <p:spPr>
          <a:xfrm>
            <a:off x="9654235" y="2404872"/>
            <a:ext cx="2031797" cy="713232"/>
          </a:xfrm>
          <a:prstGeom prst="rect">
            <a:avLst/>
          </a:prstGeom>
          <a:noFill/>
          <a:ln/>
        </p:spPr>
        <p:txBody>
          <a:bodyPr wrap="square" lIns="0" tIns="0" rIns="0" bIns="0" rtlCol="0" anchor="ctr"/>
          <a:lstStyle/>
          <a:p>
            <a:pPr algn="ctr" indent="0" marL="0">
              <a:buNone/>
            </a:pPr>
            <a:r>
              <a:rPr lang="en-US" sz="4000" b="1" dirty="0">
                <a:solidFill>
                  <a:srgbClr val="F4436C"/>
                </a:solidFill>
                <a:latin typeface="Calibri" pitchFamily="34" charset="0"/>
                <a:ea typeface="Calibri" pitchFamily="34" charset="-122"/>
                <a:cs typeface="Calibri" pitchFamily="34" charset="-120"/>
              </a:rPr>
              <a:t>1</a:t>
            </a:r>
            <a:endParaRPr lang="en-US" sz="4000" dirty="0"/>
          </a:p>
        </p:txBody>
      </p:sp>
      <p:sp>
        <p:nvSpPr>
          <p:cNvPr id="20" name="Text 18"/>
          <p:cNvSpPr txBox="1"/>
          <p:nvPr/>
        </p:nvSpPr>
        <p:spPr>
          <a:xfrm>
            <a:off x="9763963" y="3035808"/>
            <a:ext cx="1812341" cy="493776"/>
          </a:xfrm>
          <a:prstGeom prst="rect">
            <a:avLst/>
          </a:prstGeom>
          <a:noFill/>
          <a:ln/>
        </p:spPr>
        <p:txBody>
          <a:bodyPr wrap="square" lIns="0" tIns="0" rIns="0" bIns="0" rtlCol="0" anchor="t"/>
          <a:lstStyle/>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escalated delivery risk</a:t>
            </a:r>
            <a:endParaRPr lang="en-US" sz="1150" dirty="0"/>
          </a:p>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(ATSL-5)</a:t>
            </a:r>
            <a:endParaRPr lang="en-US" sz="1150" dirty="0"/>
          </a:p>
        </p:txBody>
      </p:sp>
      <p:sp>
        <p:nvSpPr>
          <p:cNvPr id="21" name="Shape 19"/>
          <p:cNvSpPr/>
          <p:nvPr/>
        </p:nvSpPr>
        <p:spPr>
          <a:xfrm>
            <a:off x="502920" y="3840480"/>
            <a:ext cx="11183112" cy="438912"/>
          </a:xfrm>
          <a:prstGeom prst="roundRect">
            <a:avLst>
              <a:gd name="adj" fmla="val 16667"/>
            </a:avLst>
          </a:prstGeom>
          <a:solidFill>
            <a:srgbClr val="F3F5FD"/>
          </a:solidFill>
          <a:ln w="12700">
            <a:solidFill>
              <a:srgbClr val="F3F5FD"/>
            </a:solidFill>
            <a:prstDash val="solid"/>
          </a:ln>
        </p:spPr>
      </p:sp>
      <p:sp>
        <p:nvSpPr>
          <p:cNvPr id="22" name="Shape 20"/>
          <p:cNvSpPr/>
          <p:nvPr/>
        </p:nvSpPr>
        <p:spPr>
          <a:xfrm>
            <a:off x="704088" y="3904488"/>
            <a:ext cx="310896" cy="310896"/>
          </a:xfrm>
          <a:prstGeom prst="ellipse">
            <a:avLst/>
          </a:prstGeom>
          <a:solidFill>
            <a:srgbClr val="1364F4"/>
          </a:solidFill>
          <a:ln w="12700">
            <a:solidFill>
              <a:srgbClr val="1364F4"/>
            </a:solidFill>
            <a:prstDash val="solid"/>
          </a:ln>
        </p:spPr>
      </p:sp>
      <p:sp>
        <p:nvSpPr>
          <p:cNvPr id="23" name="Text 21"/>
          <p:cNvSpPr txBox="1"/>
          <p:nvPr/>
        </p:nvSpPr>
        <p:spPr>
          <a:xfrm>
            <a:off x="704088" y="3904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Text 22"/>
          <p:cNvSpPr txBox="1"/>
          <p:nvPr/>
        </p:nvSpPr>
        <p:spPr>
          <a:xfrm>
            <a:off x="1124712" y="3886200"/>
            <a:ext cx="10341864" cy="347472"/>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Objective.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Demonstrate practical TPM ownership from backlog through to executive reporting.</a:t>
            </a:r>
            <a:endParaRPr lang="en-US" sz="1300" dirty="0"/>
          </a:p>
        </p:txBody>
      </p:sp>
      <p:sp>
        <p:nvSpPr>
          <p:cNvPr id="25" name="Shape 23"/>
          <p:cNvSpPr/>
          <p:nvPr/>
        </p:nvSpPr>
        <p:spPr>
          <a:xfrm>
            <a:off x="502920" y="4407408"/>
            <a:ext cx="11183112" cy="438912"/>
          </a:xfrm>
          <a:prstGeom prst="roundRect">
            <a:avLst>
              <a:gd name="adj" fmla="val 16667"/>
            </a:avLst>
          </a:prstGeom>
          <a:solidFill>
            <a:srgbClr val="F3F5FD"/>
          </a:solidFill>
          <a:ln w="12700">
            <a:solidFill>
              <a:srgbClr val="F3F5FD"/>
            </a:solidFill>
            <a:prstDash val="solid"/>
          </a:ln>
        </p:spPr>
      </p:sp>
      <p:sp>
        <p:nvSpPr>
          <p:cNvPr id="26" name="Shape 24"/>
          <p:cNvSpPr/>
          <p:nvPr/>
        </p:nvSpPr>
        <p:spPr>
          <a:xfrm>
            <a:off x="704088" y="4471416"/>
            <a:ext cx="310896" cy="310896"/>
          </a:xfrm>
          <a:prstGeom prst="ellipse">
            <a:avLst/>
          </a:prstGeom>
          <a:solidFill>
            <a:srgbClr val="00B3A4"/>
          </a:solidFill>
          <a:ln w="12700">
            <a:solidFill>
              <a:srgbClr val="00B3A4"/>
            </a:solidFill>
            <a:prstDash val="solid"/>
          </a:ln>
        </p:spPr>
      </p:sp>
      <p:sp>
        <p:nvSpPr>
          <p:cNvPr id="27" name="Text 25"/>
          <p:cNvSpPr txBox="1"/>
          <p:nvPr/>
        </p:nvSpPr>
        <p:spPr>
          <a:xfrm>
            <a:off x="704088" y="44714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Text 26"/>
          <p:cNvSpPr txBox="1"/>
          <p:nvPr/>
        </p:nvSpPr>
        <p:spPr>
          <a:xfrm>
            <a:off x="1124712" y="4453128"/>
            <a:ext cx="10341864" cy="347472"/>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Primary environment.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AI TPM Scrum Lab (ATSL) — a Scrum project for AI capability delivery.</a:t>
            </a:r>
            <a:endParaRPr lang="en-US" sz="1300" dirty="0"/>
          </a:p>
        </p:txBody>
      </p:sp>
      <p:sp>
        <p:nvSpPr>
          <p:cNvPr id="29" name="Shape 27"/>
          <p:cNvSpPr/>
          <p:nvPr/>
        </p:nvSpPr>
        <p:spPr>
          <a:xfrm>
            <a:off x="502920" y="4974336"/>
            <a:ext cx="11183112" cy="438912"/>
          </a:xfrm>
          <a:prstGeom prst="roundRect">
            <a:avLst>
              <a:gd name="adj" fmla="val 16667"/>
            </a:avLst>
          </a:prstGeom>
          <a:solidFill>
            <a:srgbClr val="F3F5FD"/>
          </a:solidFill>
          <a:ln w="12700">
            <a:solidFill>
              <a:srgbClr val="F3F5FD"/>
            </a:solidFill>
            <a:prstDash val="solid"/>
          </a:ln>
        </p:spPr>
      </p:sp>
      <p:sp>
        <p:nvSpPr>
          <p:cNvPr id="30" name="Shape 28"/>
          <p:cNvSpPr/>
          <p:nvPr/>
        </p:nvSpPr>
        <p:spPr>
          <a:xfrm>
            <a:off x="704088" y="5038344"/>
            <a:ext cx="310896" cy="310896"/>
          </a:xfrm>
          <a:prstGeom prst="ellipse">
            <a:avLst/>
          </a:prstGeom>
          <a:solidFill>
            <a:srgbClr val="F4436C"/>
          </a:solidFill>
          <a:ln w="12700">
            <a:solidFill>
              <a:srgbClr val="F4436C"/>
            </a:solidFill>
            <a:prstDash val="solid"/>
          </a:ln>
        </p:spPr>
      </p:sp>
      <p:sp>
        <p:nvSpPr>
          <p:cNvPr id="31" name="Text 29"/>
          <p:cNvSpPr txBox="1"/>
          <p:nvPr/>
        </p:nvSpPr>
        <p:spPr>
          <a:xfrm>
            <a:off x="704088" y="50383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30"/>
          <p:cNvSpPr txBox="1"/>
          <p:nvPr/>
        </p:nvSpPr>
        <p:spPr>
          <a:xfrm>
            <a:off x="1124712" y="5020056"/>
            <a:ext cx="10341864" cy="347472"/>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Supporting environment.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My DevOps and Cloud IT Team (KAN) — Kanban flow for cloud infrastructure.</a:t>
            </a:r>
            <a:endParaRPr lang="en-US" sz="1300" dirty="0"/>
          </a:p>
        </p:txBody>
      </p:sp>
      <p:sp>
        <p:nvSpPr>
          <p:cNvPr id="33" name="Shape 31"/>
          <p:cNvSpPr/>
          <p:nvPr/>
        </p:nvSpPr>
        <p:spPr>
          <a:xfrm>
            <a:off x="502920" y="5541264"/>
            <a:ext cx="11183112" cy="438912"/>
          </a:xfrm>
          <a:prstGeom prst="roundRect">
            <a:avLst>
              <a:gd name="adj" fmla="val 16667"/>
            </a:avLst>
          </a:prstGeom>
          <a:solidFill>
            <a:srgbClr val="F3F5FD"/>
          </a:solidFill>
          <a:ln w="12700">
            <a:solidFill>
              <a:srgbClr val="F3F5FD"/>
            </a:solidFill>
            <a:prstDash val="solid"/>
          </a:ln>
        </p:spPr>
      </p:sp>
      <p:sp>
        <p:nvSpPr>
          <p:cNvPr id="34" name="Shape 32"/>
          <p:cNvSpPr/>
          <p:nvPr/>
        </p:nvSpPr>
        <p:spPr>
          <a:xfrm>
            <a:off x="704088" y="5605272"/>
            <a:ext cx="310896" cy="310896"/>
          </a:xfrm>
          <a:prstGeom prst="ellipse">
            <a:avLst/>
          </a:prstGeom>
          <a:solidFill>
            <a:srgbClr val="8036F0"/>
          </a:solidFill>
          <a:ln w="12700">
            <a:solidFill>
              <a:srgbClr val="8036F0"/>
            </a:solidFill>
            <a:prstDash val="solid"/>
          </a:ln>
        </p:spPr>
      </p:sp>
      <p:sp>
        <p:nvSpPr>
          <p:cNvPr id="35" name="Text 33"/>
          <p:cNvSpPr txBox="1"/>
          <p:nvPr/>
        </p:nvSpPr>
        <p:spPr>
          <a:xfrm>
            <a:off x="704088" y="5605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6" name="Text 34"/>
          <p:cNvSpPr txBox="1"/>
          <p:nvPr/>
        </p:nvSpPr>
        <p:spPr>
          <a:xfrm>
            <a:off x="1124712" y="5586984"/>
            <a:ext cx="10341864" cy="347472"/>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Evidence standard.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Every claim in this deck maps to a numbered Jira screenshot in Part 2.</a:t>
            </a:r>
            <a:endParaRPr lang="en-US" sz="1300" dirty="0"/>
          </a:p>
        </p:txBody>
      </p:sp>
      <p:sp>
        <p:nvSpPr>
          <p:cNvPr id="37" name="Text 3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38" name="Shape 36"/>
          <p:cNvSpPr/>
          <p:nvPr/>
        </p:nvSpPr>
        <p:spPr>
          <a:xfrm>
            <a:off x="11375136" y="6382512"/>
            <a:ext cx="310896" cy="310896"/>
          </a:xfrm>
          <a:prstGeom prst="ellipse">
            <a:avLst/>
          </a:prstGeom>
          <a:solidFill>
            <a:srgbClr val="EAEEFB"/>
          </a:solidFill>
          <a:ln w="12700">
            <a:solidFill>
              <a:srgbClr val="EAEEFB"/>
            </a:solidFill>
            <a:prstDash val="solid"/>
          </a:ln>
        </p:spPr>
      </p:sp>
      <p:sp>
        <p:nvSpPr>
          <p:cNvPr id="39" name="Text 3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CONTEXT</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Business problem and product context</a:t>
            </a:r>
            <a:endParaRPr lang="en-US" sz="3100" dirty="0"/>
          </a:p>
        </p:txBody>
      </p:sp>
      <p:sp>
        <p:nvSpPr>
          <p:cNvPr id="5" name="Shape 3"/>
          <p:cNvSpPr/>
          <p:nvPr/>
        </p:nvSpPr>
        <p:spPr>
          <a:xfrm>
            <a:off x="502920" y="1645920"/>
            <a:ext cx="5454396" cy="2834640"/>
          </a:xfrm>
          <a:prstGeom prst="roundRect">
            <a:avLst>
              <a:gd name="adj" fmla="val 2581"/>
            </a:avLst>
          </a:prstGeom>
          <a:solidFill>
            <a:srgbClr val="FFFFFF"/>
          </a:solidFill>
          <a:ln w="12700">
            <a:solidFill>
              <a:srgbClr val="D8DEF2"/>
            </a:solidFill>
            <a:prstDash val="solid"/>
          </a:ln>
          <a:effectLst>
            <a:outerShdw sx="100000" sy="100000" kx="0" ky="0" algn="bl" rotWithShape="0" blurRad="101600" dist="19050" dir="5400000">
              <a:srgbClr val="8A93C0">
                <a:alpha val="16000"/>
              </a:srgbClr>
            </a:outerShdw>
          </a:effectLst>
        </p:spPr>
      </p:sp>
      <p:sp>
        <p:nvSpPr>
          <p:cNvPr id="6" name="Shape 4"/>
          <p:cNvSpPr/>
          <p:nvPr/>
        </p:nvSpPr>
        <p:spPr>
          <a:xfrm>
            <a:off x="740664" y="1883664"/>
            <a:ext cx="4978908" cy="402336"/>
          </a:xfrm>
          <a:prstGeom prst="roundRect">
            <a:avLst>
              <a:gd name="adj" fmla="val 18182"/>
            </a:avLst>
          </a:prstGeom>
          <a:solidFill>
            <a:srgbClr val="1364F4"/>
          </a:solidFill>
          <a:ln w="12700">
            <a:solidFill>
              <a:srgbClr val="1364F4"/>
            </a:solidFill>
            <a:prstDash val="solid"/>
          </a:ln>
        </p:spPr>
      </p:sp>
      <p:sp>
        <p:nvSpPr>
          <p:cNvPr id="7" name="Text 5"/>
          <p:cNvSpPr txBox="1"/>
          <p:nvPr/>
        </p:nvSpPr>
        <p:spPr>
          <a:xfrm>
            <a:off x="740664" y="1883664"/>
            <a:ext cx="497890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problem</a:t>
            </a:r>
            <a:endParaRPr lang="en-US" sz="1400" dirty="0"/>
          </a:p>
        </p:txBody>
      </p:sp>
      <p:sp>
        <p:nvSpPr>
          <p:cNvPr id="8" name="Text 6"/>
          <p:cNvSpPr txBox="1"/>
          <p:nvPr/>
        </p:nvSpPr>
        <p:spPr>
          <a:xfrm>
            <a:off x="813816" y="2432304"/>
            <a:ext cx="4832604" cy="1810512"/>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Cloud support teams receive high ticket volume that must be classified before it can be actioned.</a:t>
            </a:r>
            <a:endParaRPr lang="en-US" sz="1250" dirty="0"/>
          </a:p>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Priority is assigned inconsistently, so critical issues are not always handled first.</a:t>
            </a:r>
            <a:endParaRPr lang="en-US" sz="1250" dirty="0"/>
          </a:p>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Tickets reach the wrong team, adding a routing hop and delaying resolution.</a:t>
            </a:r>
            <a:endParaRPr lang="en-US" sz="1250" dirty="0"/>
          </a:p>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Customer sentiment is invisible until a complaint escalates.</a:t>
            </a:r>
            <a:endParaRPr lang="en-US" sz="1250" dirty="0"/>
          </a:p>
        </p:txBody>
      </p:sp>
      <p:sp>
        <p:nvSpPr>
          <p:cNvPr id="9" name="Shape 7"/>
          <p:cNvSpPr/>
          <p:nvPr/>
        </p:nvSpPr>
        <p:spPr>
          <a:xfrm>
            <a:off x="6231636" y="1645920"/>
            <a:ext cx="5454396" cy="2834640"/>
          </a:xfrm>
          <a:prstGeom prst="roundRect">
            <a:avLst>
              <a:gd name="adj" fmla="val 2581"/>
            </a:avLst>
          </a:prstGeom>
          <a:solidFill>
            <a:srgbClr val="FFFFFF"/>
          </a:solidFill>
          <a:ln w="12700">
            <a:solidFill>
              <a:srgbClr val="D8DEF2"/>
            </a:solidFill>
            <a:prstDash val="solid"/>
          </a:ln>
          <a:effectLst>
            <a:outerShdw sx="100000" sy="100000" kx="0" ky="0" algn="bl" rotWithShape="0" blurRad="101600" dist="19050" dir="5400000">
              <a:srgbClr val="8A93C0">
                <a:alpha val="16000"/>
              </a:srgbClr>
            </a:outerShdw>
          </a:effectLst>
        </p:spPr>
      </p:sp>
      <p:sp>
        <p:nvSpPr>
          <p:cNvPr id="10" name="Shape 8"/>
          <p:cNvSpPr/>
          <p:nvPr/>
        </p:nvSpPr>
        <p:spPr>
          <a:xfrm>
            <a:off x="6469380" y="1883664"/>
            <a:ext cx="4978908" cy="402336"/>
          </a:xfrm>
          <a:prstGeom prst="roundRect">
            <a:avLst>
              <a:gd name="adj" fmla="val 18182"/>
            </a:avLst>
          </a:prstGeom>
          <a:solidFill>
            <a:srgbClr val="F4436C"/>
          </a:solidFill>
          <a:ln w="12700">
            <a:solidFill>
              <a:srgbClr val="F4436C"/>
            </a:solidFill>
            <a:prstDash val="solid"/>
          </a:ln>
        </p:spPr>
      </p:sp>
      <p:sp>
        <p:nvSpPr>
          <p:cNvPr id="11" name="Text 9"/>
          <p:cNvSpPr txBox="1"/>
          <p:nvPr/>
        </p:nvSpPr>
        <p:spPr>
          <a:xfrm>
            <a:off x="6469380" y="1883664"/>
            <a:ext cx="497890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delivery response</a:t>
            </a:r>
            <a:endParaRPr lang="en-US" sz="1400" dirty="0"/>
          </a:p>
        </p:txBody>
      </p:sp>
      <p:sp>
        <p:nvSpPr>
          <p:cNvPr id="12" name="Text 10"/>
          <p:cNvSpPr txBox="1"/>
          <p:nvPr/>
        </p:nvSpPr>
        <p:spPr>
          <a:xfrm>
            <a:off x="6542532" y="2432304"/>
            <a:ext cx="4832604" cy="1810512"/>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AI classification of incoming tickets by category (ATSL-1).</a:t>
            </a:r>
            <a:endParaRPr lang="en-US" sz="1250" dirty="0"/>
          </a:p>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AI priority prediction with a manager review step (ATSL-2).</a:t>
            </a:r>
            <a:endParaRPr lang="en-US" sz="1250" dirty="0"/>
          </a:p>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Automatic routing to the correct support team with an audit log (ATSL-3).</a:t>
            </a:r>
            <a:endParaRPr lang="en-US" sz="1250" dirty="0"/>
          </a:p>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Sentiment analysis held back as a deliberate scope decision (ATSL-4).</a:t>
            </a:r>
            <a:endParaRPr lang="en-US" sz="1250" dirty="0"/>
          </a:p>
        </p:txBody>
      </p:sp>
      <p:sp>
        <p:nvSpPr>
          <p:cNvPr id="13" name="Shape 11"/>
          <p:cNvSpPr/>
          <p:nvPr/>
        </p:nvSpPr>
        <p:spPr>
          <a:xfrm>
            <a:off x="502920" y="4709160"/>
            <a:ext cx="11183112" cy="1051560"/>
          </a:xfrm>
          <a:prstGeom prst="roundRect">
            <a:avLst>
              <a:gd name="adj" fmla="val 6957"/>
            </a:avLst>
          </a:prstGeom>
          <a:solidFill>
            <a:srgbClr val="00B3A4">
              <a:alpha val="10000"/>
            </a:srgbClr>
          </a:solidFill>
          <a:ln w="12700">
            <a:solidFill>
              <a:srgbClr val="00B3A4">
                <a:alpha val="45000"/>
              </a:srgbClr>
            </a:solidFill>
            <a:prstDash val="solid"/>
          </a:ln>
        </p:spPr>
      </p:sp>
      <p:sp>
        <p:nvSpPr>
          <p:cNvPr id="14" name="Text 12"/>
          <p:cNvSpPr txBox="1"/>
          <p:nvPr/>
        </p:nvSpPr>
        <p:spPr>
          <a:xfrm>
            <a:off x="777240" y="4709160"/>
            <a:ext cx="10634472" cy="1051560"/>
          </a:xfrm>
          <a:prstGeom prst="rect">
            <a:avLst/>
          </a:prstGeom>
          <a:noFill/>
          <a:ln/>
        </p:spPr>
        <p:txBody>
          <a:bodyPr wrap="square" lIns="0" tIns="0" rIns="0" bIns="0" rtlCol="0" anchor="ctr"/>
          <a:lstStyle/>
          <a:p>
            <a:pPr indent="0" marL="0">
              <a:lnSpc>
                <a:spcPts val="1900"/>
              </a:lnSpc>
              <a:buNone/>
            </a:pPr>
            <a:r>
              <a:rPr lang="en-US" sz="1400" b="1" dirty="0">
                <a:solidFill>
                  <a:srgbClr val="100B2E"/>
                </a:solidFill>
                <a:latin typeface="Calibri" pitchFamily="34" charset="0"/>
                <a:ea typeface="Calibri" pitchFamily="34" charset="-122"/>
                <a:cs typeface="Calibri" pitchFamily="34" charset="-120"/>
              </a:rPr>
              <a:t>What success means here.  </a:t>
            </a:r>
            <a:pPr indent="0" marL="0">
              <a:lnSpc>
                <a:spcPts val="1900"/>
              </a:lnSpc>
              <a:buNone/>
            </a:pPr>
            <a:r>
              <a:rPr lang="en-US" sz="1300" dirty="0">
                <a:solidFill>
                  <a:srgbClr val="5B6180"/>
                </a:solidFill>
                <a:latin typeface="Calibri" pitchFamily="34" charset="0"/>
                <a:ea typeface="Calibri" pitchFamily="34" charset="-122"/>
                <a:cs typeface="Calibri" pitchFamily="34" charset="-120"/>
              </a:rPr>
              <a:t>Transparent scope, an accountable owner on every item, measurable progress against a sprint goal, and delivery risk that is visible and managed rather than discovered late.</a:t>
            </a:r>
            <a:endParaRPr lang="en-US" sz="1400" dirty="0"/>
          </a:p>
        </p:txBody>
      </p:sp>
      <p:sp>
        <p:nvSpPr>
          <p:cNvPr id="15" name="Text 13"/>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16" name="Shape 14"/>
          <p:cNvSpPr/>
          <p:nvPr/>
        </p:nvSpPr>
        <p:spPr>
          <a:xfrm>
            <a:off x="11375136" y="6382512"/>
            <a:ext cx="310896" cy="310896"/>
          </a:xfrm>
          <a:prstGeom prst="ellipse">
            <a:avLst/>
          </a:prstGeom>
          <a:solidFill>
            <a:srgbClr val="EAEEFB"/>
          </a:solidFill>
          <a:ln w="12700">
            <a:solidFill>
              <a:srgbClr val="EAEEFB"/>
            </a:solidFill>
            <a:prstDash val="solid"/>
          </a:ln>
        </p:spPr>
      </p:sp>
      <p:sp>
        <p:nvSpPr>
          <p:cNvPr id="17" name="Text 15"/>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09928"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1709928"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METHOD</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The Jira operating model</a:t>
            </a:r>
            <a:endParaRPr lang="en-US" sz="3100" dirty="0"/>
          </a:p>
        </p:txBody>
      </p:sp>
      <p:sp>
        <p:nvSpPr>
          <p:cNvPr id="5" name="Text 3"/>
          <p:cNvSpPr txBox="1"/>
          <p:nvPr/>
        </p:nvSpPr>
        <p:spPr>
          <a:xfrm>
            <a:off x="502920" y="1572768"/>
            <a:ext cx="11183112" cy="365760"/>
          </a:xfrm>
          <a:prstGeom prst="rect">
            <a:avLst/>
          </a:prstGeom>
          <a:noFill/>
          <a:ln/>
        </p:spPr>
        <p:txBody>
          <a:bodyPr wrap="square" lIns="0" tIns="0" rIns="0" bIns="0" rtlCol="0" anchor="ctr"/>
          <a:lstStyle/>
          <a:p>
            <a:pPr indent="0" marL="0">
              <a:buNone/>
            </a:pPr>
            <a:r>
              <a:rPr lang="en-US" sz="1350" dirty="0">
                <a:solidFill>
                  <a:srgbClr val="5B6180"/>
                </a:solidFill>
                <a:latin typeface="Calibri" pitchFamily="34" charset="0"/>
                <a:ea typeface="Calibri" pitchFamily="34" charset="-122"/>
                <a:cs typeface="Calibri" pitchFamily="34" charset="-120"/>
              </a:rPr>
              <a:t>Every work item follows the same path, so status in Jira always means the same thing to Product, Engineering and the executive audience.</a:t>
            </a:r>
            <a:endParaRPr lang="en-US" sz="1350" dirty="0"/>
          </a:p>
        </p:txBody>
      </p:sp>
      <p:sp>
        <p:nvSpPr>
          <p:cNvPr id="6" name="Shape 4"/>
          <p:cNvSpPr/>
          <p:nvPr/>
        </p:nvSpPr>
        <p:spPr>
          <a:xfrm>
            <a:off x="502920" y="2057400"/>
            <a:ext cx="1772412" cy="868680"/>
          </a:xfrm>
          <a:prstGeom prst="roundRect">
            <a:avLst>
              <a:gd name="adj" fmla="val 8421"/>
            </a:avLst>
          </a:prstGeom>
          <a:solidFill>
            <a:srgbClr val="1364F4"/>
          </a:solidFill>
          <a:ln w="12700">
            <a:solidFill>
              <a:srgbClr val="1364F4"/>
            </a:solidFill>
            <a:prstDash val="solid"/>
          </a:ln>
        </p:spPr>
      </p:sp>
      <p:sp>
        <p:nvSpPr>
          <p:cNvPr id="7" name="Text 5"/>
          <p:cNvSpPr txBox="1"/>
          <p:nvPr/>
        </p:nvSpPr>
        <p:spPr>
          <a:xfrm>
            <a:off x="612648" y="2057400"/>
            <a:ext cx="1315212" cy="86868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Epic /</a:t>
            </a:r>
            <a:endParaRPr lang="en-US" sz="1250" dirty="0"/>
          </a:p>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Parent</a:t>
            </a:r>
            <a:endParaRPr lang="en-US" sz="1250" dirty="0"/>
          </a:p>
        </p:txBody>
      </p:sp>
      <p:sp>
        <p:nvSpPr>
          <p:cNvPr id="8" name="Shape 6"/>
          <p:cNvSpPr/>
          <p:nvPr/>
        </p:nvSpPr>
        <p:spPr>
          <a:xfrm>
            <a:off x="2385060" y="2057400"/>
            <a:ext cx="1772412" cy="868680"/>
          </a:xfrm>
          <a:prstGeom prst="chevron">
            <a:avLst>
              <a:gd name="adj" fmla="val 8421"/>
            </a:avLst>
          </a:prstGeom>
          <a:solidFill>
            <a:srgbClr val="00B3A4"/>
          </a:solidFill>
          <a:ln w="12700">
            <a:solidFill>
              <a:srgbClr val="00B3A4"/>
            </a:solidFill>
            <a:prstDash val="solid"/>
          </a:ln>
        </p:spPr>
      </p:sp>
      <p:sp>
        <p:nvSpPr>
          <p:cNvPr id="9" name="Text 7"/>
          <p:cNvSpPr txBox="1"/>
          <p:nvPr/>
        </p:nvSpPr>
        <p:spPr>
          <a:xfrm>
            <a:off x="2695956" y="2057400"/>
            <a:ext cx="1315212" cy="86868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User</a:t>
            </a:r>
            <a:endParaRPr lang="en-US" sz="1250" dirty="0"/>
          </a:p>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Story</a:t>
            </a:r>
            <a:endParaRPr lang="en-US" sz="1250" dirty="0"/>
          </a:p>
        </p:txBody>
      </p:sp>
      <p:sp>
        <p:nvSpPr>
          <p:cNvPr id="10" name="Shape 8"/>
          <p:cNvSpPr/>
          <p:nvPr/>
        </p:nvSpPr>
        <p:spPr>
          <a:xfrm>
            <a:off x="4267200" y="2057400"/>
            <a:ext cx="1772412" cy="868680"/>
          </a:xfrm>
          <a:prstGeom prst="chevron">
            <a:avLst>
              <a:gd name="adj" fmla="val 8421"/>
            </a:avLst>
          </a:prstGeom>
          <a:solidFill>
            <a:srgbClr val="F4436C"/>
          </a:solidFill>
          <a:ln w="12700">
            <a:solidFill>
              <a:srgbClr val="F4436C"/>
            </a:solidFill>
            <a:prstDash val="solid"/>
          </a:ln>
        </p:spPr>
      </p:sp>
      <p:sp>
        <p:nvSpPr>
          <p:cNvPr id="11" name="Text 9"/>
          <p:cNvSpPr txBox="1"/>
          <p:nvPr/>
        </p:nvSpPr>
        <p:spPr>
          <a:xfrm>
            <a:off x="4578096" y="2057400"/>
            <a:ext cx="1315212" cy="86868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Acceptance</a:t>
            </a:r>
            <a:endParaRPr lang="en-US" sz="1250" dirty="0"/>
          </a:p>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Criteria</a:t>
            </a:r>
            <a:endParaRPr lang="en-US" sz="1250" dirty="0"/>
          </a:p>
        </p:txBody>
      </p:sp>
      <p:sp>
        <p:nvSpPr>
          <p:cNvPr id="12" name="Shape 10"/>
          <p:cNvSpPr/>
          <p:nvPr/>
        </p:nvSpPr>
        <p:spPr>
          <a:xfrm>
            <a:off x="6149340" y="2057400"/>
            <a:ext cx="1772412" cy="868680"/>
          </a:xfrm>
          <a:prstGeom prst="chevron">
            <a:avLst>
              <a:gd name="adj" fmla="val 8421"/>
            </a:avLst>
          </a:prstGeom>
          <a:solidFill>
            <a:srgbClr val="8036F0"/>
          </a:solidFill>
          <a:ln w="12700">
            <a:solidFill>
              <a:srgbClr val="8036F0"/>
            </a:solidFill>
            <a:prstDash val="solid"/>
          </a:ln>
        </p:spPr>
      </p:sp>
      <p:sp>
        <p:nvSpPr>
          <p:cNvPr id="13" name="Text 11"/>
          <p:cNvSpPr txBox="1"/>
          <p:nvPr/>
        </p:nvSpPr>
        <p:spPr>
          <a:xfrm>
            <a:off x="6460236" y="2057400"/>
            <a:ext cx="1315212" cy="86868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Subtasks</a:t>
            </a:r>
            <a:endParaRPr lang="en-US" sz="1250" dirty="0"/>
          </a:p>
        </p:txBody>
      </p:sp>
      <p:sp>
        <p:nvSpPr>
          <p:cNvPr id="14" name="Shape 12"/>
          <p:cNvSpPr/>
          <p:nvPr/>
        </p:nvSpPr>
        <p:spPr>
          <a:xfrm>
            <a:off x="8031480" y="2057400"/>
            <a:ext cx="1772412" cy="868680"/>
          </a:xfrm>
          <a:prstGeom prst="chevron">
            <a:avLst>
              <a:gd name="adj" fmla="val 8421"/>
            </a:avLst>
          </a:prstGeom>
          <a:solidFill>
            <a:srgbClr val="FFB01F"/>
          </a:solidFill>
          <a:ln w="12700">
            <a:solidFill>
              <a:srgbClr val="FFB01F"/>
            </a:solidFill>
            <a:prstDash val="solid"/>
          </a:ln>
        </p:spPr>
      </p:sp>
      <p:sp>
        <p:nvSpPr>
          <p:cNvPr id="15" name="Text 13"/>
          <p:cNvSpPr txBox="1"/>
          <p:nvPr/>
        </p:nvSpPr>
        <p:spPr>
          <a:xfrm>
            <a:off x="8342376" y="2057400"/>
            <a:ext cx="1315212" cy="86868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Sprint</a:t>
            </a:r>
            <a:endParaRPr lang="en-US" sz="1250" dirty="0"/>
          </a:p>
        </p:txBody>
      </p:sp>
      <p:sp>
        <p:nvSpPr>
          <p:cNvPr id="16" name="Shape 14"/>
          <p:cNvSpPr/>
          <p:nvPr/>
        </p:nvSpPr>
        <p:spPr>
          <a:xfrm>
            <a:off x="9913620" y="2057400"/>
            <a:ext cx="1772412" cy="868680"/>
          </a:xfrm>
          <a:prstGeom prst="chevron">
            <a:avLst>
              <a:gd name="adj" fmla="val 8421"/>
            </a:avLst>
          </a:prstGeom>
          <a:solidFill>
            <a:srgbClr val="16A34A"/>
          </a:solidFill>
          <a:ln w="12700">
            <a:solidFill>
              <a:srgbClr val="16A34A"/>
            </a:solidFill>
            <a:prstDash val="solid"/>
          </a:ln>
        </p:spPr>
      </p:sp>
      <p:sp>
        <p:nvSpPr>
          <p:cNvPr id="17" name="Text 15"/>
          <p:cNvSpPr txBox="1"/>
          <p:nvPr/>
        </p:nvSpPr>
        <p:spPr>
          <a:xfrm>
            <a:off x="10224516" y="2057400"/>
            <a:ext cx="1315212" cy="86868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Delivery</a:t>
            </a:r>
            <a:endParaRPr lang="en-US" sz="1250" dirty="0"/>
          </a:p>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Evidence</a:t>
            </a:r>
            <a:endParaRPr lang="en-US" sz="1250" dirty="0"/>
          </a:p>
        </p:txBody>
      </p:sp>
      <p:sp>
        <p:nvSpPr>
          <p:cNvPr id="18" name="Shape 16"/>
          <p:cNvSpPr/>
          <p:nvPr/>
        </p:nvSpPr>
        <p:spPr>
          <a:xfrm>
            <a:off x="502920" y="3246120"/>
            <a:ext cx="2603754" cy="2487168"/>
          </a:xfrm>
          <a:prstGeom prst="roundRect">
            <a:avLst>
              <a:gd name="adj" fmla="val 2206"/>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19" name="Shape 17"/>
          <p:cNvSpPr/>
          <p:nvPr/>
        </p:nvSpPr>
        <p:spPr>
          <a:xfrm>
            <a:off x="740664" y="3483864"/>
            <a:ext cx="420624" cy="420624"/>
          </a:xfrm>
          <a:prstGeom prst="ellipse">
            <a:avLst/>
          </a:prstGeom>
          <a:solidFill>
            <a:srgbClr val="1364F4"/>
          </a:solidFill>
          <a:ln w="12700">
            <a:solidFill>
              <a:srgbClr val="1364F4"/>
            </a:solidFill>
            <a:prstDash val="solid"/>
          </a:ln>
        </p:spPr>
      </p:sp>
      <p:sp>
        <p:nvSpPr>
          <p:cNvPr id="20" name="Text 18"/>
          <p:cNvSpPr txBox="1"/>
          <p:nvPr/>
        </p:nvSpPr>
        <p:spPr>
          <a:xfrm>
            <a:off x="740664" y="34838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21" name="Text 19"/>
          <p:cNvSpPr txBox="1"/>
          <p:nvPr/>
        </p:nvSpPr>
        <p:spPr>
          <a:xfrm>
            <a:off x="740664" y="3995928"/>
            <a:ext cx="212826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Status flow</a:t>
            </a:r>
            <a:endParaRPr lang="en-US" sz="1500" dirty="0"/>
          </a:p>
        </p:txBody>
      </p:sp>
      <p:sp>
        <p:nvSpPr>
          <p:cNvPr id="22" name="Text 20"/>
          <p:cNvSpPr txBox="1"/>
          <p:nvPr/>
        </p:nvSpPr>
        <p:spPr>
          <a:xfrm>
            <a:off x="740664" y="4398264"/>
            <a:ext cx="2128266" cy="1115568"/>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To Do → In Progress → Done. Three states only, so the board stays readable and the cumulative flow diagram stays meaningful.</a:t>
            </a:r>
            <a:endParaRPr lang="en-US" sz="1200" dirty="0"/>
          </a:p>
        </p:txBody>
      </p:sp>
      <p:sp>
        <p:nvSpPr>
          <p:cNvPr id="23" name="Shape 21"/>
          <p:cNvSpPr/>
          <p:nvPr/>
        </p:nvSpPr>
        <p:spPr>
          <a:xfrm>
            <a:off x="3362706" y="3246120"/>
            <a:ext cx="2603754" cy="2487168"/>
          </a:xfrm>
          <a:prstGeom prst="roundRect">
            <a:avLst>
              <a:gd name="adj" fmla="val 2206"/>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24" name="Shape 22"/>
          <p:cNvSpPr/>
          <p:nvPr/>
        </p:nvSpPr>
        <p:spPr>
          <a:xfrm>
            <a:off x="3600450" y="3483864"/>
            <a:ext cx="420624" cy="420624"/>
          </a:xfrm>
          <a:prstGeom prst="ellipse">
            <a:avLst/>
          </a:prstGeom>
          <a:solidFill>
            <a:srgbClr val="00B3A4"/>
          </a:solidFill>
          <a:ln w="12700">
            <a:solidFill>
              <a:srgbClr val="00B3A4"/>
            </a:solidFill>
            <a:prstDash val="solid"/>
          </a:ln>
        </p:spPr>
      </p:sp>
      <p:sp>
        <p:nvSpPr>
          <p:cNvPr id="25" name="Text 23"/>
          <p:cNvSpPr txBox="1"/>
          <p:nvPr/>
        </p:nvSpPr>
        <p:spPr>
          <a:xfrm>
            <a:off x="3600450" y="34838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26" name="Text 24"/>
          <p:cNvSpPr txBox="1"/>
          <p:nvPr/>
        </p:nvSpPr>
        <p:spPr>
          <a:xfrm>
            <a:off x="3600450" y="3995928"/>
            <a:ext cx="212826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Explicit links</a:t>
            </a:r>
            <a:endParaRPr lang="en-US" sz="1500" dirty="0"/>
          </a:p>
        </p:txBody>
      </p:sp>
      <p:sp>
        <p:nvSpPr>
          <p:cNvPr id="27" name="Text 25"/>
          <p:cNvSpPr txBox="1"/>
          <p:nvPr/>
        </p:nvSpPr>
        <p:spPr>
          <a:xfrm>
            <a:off x="3600450" y="4398264"/>
            <a:ext cx="2128266" cy="1115568"/>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Dependencies are recorded with the 'is blocked by' link type, never left buried in a comment thread.</a:t>
            </a:r>
            <a:endParaRPr lang="en-US" sz="1200" dirty="0"/>
          </a:p>
        </p:txBody>
      </p:sp>
      <p:sp>
        <p:nvSpPr>
          <p:cNvPr id="28" name="Shape 26"/>
          <p:cNvSpPr/>
          <p:nvPr/>
        </p:nvSpPr>
        <p:spPr>
          <a:xfrm>
            <a:off x="6222492" y="3246120"/>
            <a:ext cx="2603754" cy="2487168"/>
          </a:xfrm>
          <a:prstGeom prst="roundRect">
            <a:avLst>
              <a:gd name="adj" fmla="val 2206"/>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29" name="Shape 27"/>
          <p:cNvSpPr/>
          <p:nvPr/>
        </p:nvSpPr>
        <p:spPr>
          <a:xfrm>
            <a:off x="6460236" y="3483864"/>
            <a:ext cx="420624" cy="420624"/>
          </a:xfrm>
          <a:prstGeom prst="ellipse">
            <a:avLst/>
          </a:prstGeom>
          <a:solidFill>
            <a:srgbClr val="F4436C"/>
          </a:solidFill>
          <a:ln w="12700">
            <a:solidFill>
              <a:srgbClr val="F4436C"/>
            </a:solidFill>
            <a:prstDash val="solid"/>
          </a:ln>
        </p:spPr>
      </p:sp>
      <p:sp>
        <p:nvSpPr>
          <p:cNvPr id="30" name="Text 28"/>
          <p:cNvSpPr txBox="1"/>
          <p:nvPr/>
        </p:nvSpPr>
        <p:spPr>
          <a:xfrm>
            <a:off x="6460236" y="34838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31" name="Text 29"/>
          <p:cNvSpPr txBox="1"/>
          <p:nvPr/>
        </p:nvSpPr>
        <p:spPr>
          <a:xfrm>
            <a:off x="6460236" y="3995928"/>
            <a:ext cx="212826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Owned risk</a:t>
            </a:r>
            <a:endParaRPr lang="en-US" sz="1500" dirty="0"/>
          </a:p>
        </p:txBody>
      </p:sp>
      <p:sp>
        <p:nvSpPr>
          <p:cNvPr id="32" name="Text 30"/>
          <p:cNvSpPr txBox="1"/>
          <p:nvPr/>
        </p:nvSpPr>
        <p:spPr>
          <a:xfrm>
            <a:off x="6460236" y="4398264"/>
            <a:ext cx="2128266" cy="1115568"/>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Every risk carries an owner, an impact statement, a mitigation and a dated checkpoint.</a:t>
            </a:r>
            <a:endParaRPr lang="en-US" sz="1200" dirty="0"/>
          </a:p>
        </p:txBody>
      </p:sp>
      <p:sp>
        <p:nvSpPr>
          <p:cNvPr id="33" name="Shape 31"/>
          <p:cNvSpPr/>
          <p:nvPr/>
        </p:nvSpPr>
        <p:spPr>
          <a:xfrm>
            <a:off x="9082278" y="3246120"/>
            <a:ext cx="2603754" cy="2487168"/>
          </a:xfrm>
          <a:prstGeom prst="roundRect">
            <a:avLst>
              <a:gd name="adj" fmla="val 2206"/>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34" name="Shape 32"/>
          <p:cNvSpPr/>
          <p:nvPr/>
        </p:nvSpPr>
        <p:spPr>
          <a:xfrm>
            <a:off x="9320022" y="3483864"/>
            <a:ext cx="420624" cy="420624"/>
          </a:xfrm>
          <a:prstGeom prst="ellipse">
            <a:avLst/>
          </a:prstGeom>
          <a:solidFill>
            <a:srgbClr val="8036F0"/>
          </a:solidFill>
          <a:ln w="12700">
            <a:solidFill>
              <a:srgbClr val="8036F0"/>
            </a:solidFill>
            <a:prstDash val="solid"/>
          </a:ln>
        </p:spPr>
      </p:sp>
      <p:sp>
        <p:nvSpPr>
          <p:cNvPr id="35" name="Text 33"/>
          <p:cNvSpPr txBox="1"/>
          <p:nvPr/>
        </p:nvSpPr>
        <p:spPr>
          <a:xfrm>
            <a:off x="9320022" y="34838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36" name="Text 34"/>
          <p:cNvSpPr txBox="1"/>
          <p:nvPr/>
        </p:nvSpPr>
        <p:spPr>
          <a:xfrm>
            <a:off x="9320022" y="3995928"/>
            <a:ext cx="212826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Live reporting</a:t>
            </a:r>
            <a:endParaRPr lang="en-US" sz="1500" dirty="0"/>
          </a:p>
        </p:txBody>
      </p:sp>
      <p:sp>
        <p:nvSpPr>
          <p:cNvPr id="37" name="Text 35"/>
          <p:cNvSpPr txBox="1"/>
          <p:nvPr/>
        </p:nvSpPr>
        <p:spPr>
          <a:xfrm>
            <a:off x="9320022" y="4398264"/>
            <a:ext cx="2128266" cy="1115568"/>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Saved JQL filters feed dashboard gadgets, so the stakeholder view refreshes itself.</a:t>
            </a:r>
            <a:endParaRPr lang="en-US" sz="1200" dirty="0"/>
          </a:p>
        </p:txBody>
      </p:sp>
      <p:sp>
        <p:nvSpPr>
          <p:cNvPr id="38" name="Text 36"/>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39" name="Shape 37"/>
          <p:cNvSpPr/>
          <p:nvPr/>
        </p:nvSpPr>
        <p:spPr>
          <a:xfrm>
            <a:off x="11375136" y="6382512"/>
            <a:ext cx="310896" cy="310896"/>
          </a:xfrm>
          <a:prstGeom prst="ellipse">
            <a:avLst/>
          </a:prstGeom>
          <a:solidFill>
            <a:srgbClr val="EAEEFB"/>
          </a:solidFill>
          <a:ln w="12700">
            <a:solidFill>
              <a:srgbClr val="EAEEFB"/>
            </a:solidFill>
            <a:prstDash val="solid"/>
          </a:ln>
        </p:spPr>
      </p:sp>
      <p:sp>
        <p:nvSpPr>
          <p:cNvPr id="40" name="Text 38"/>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247595" cy="292608"/>
          </a:xfrm>
          <a:prstGeom prst="roundRect">
            <a:avLst>
              <a:gd name="adj" fmla="val 50000"/>
            </a:avLst>
          </a:prstGeom>
          <a:solidFill>
            <a:srgbClr val="FFB01F"/>
          </a:solidFill>
          <a:ln w="12700">
            <a:solidFill>
              <a:srgbClr val="FFB01F"/>
            </a:solidFill>
            <a:prstDash val="solid"/>
          </a:ln>
        </p:spPr>
      </p:sp>
      <p:sp>
        <p:nvSpPr>
          <p:cNvPr id="3" name="Text 1"/>
          <p:cNvSpPr txBox="1"/>
          <p:nvPr/>
        </p:nvSpPr>
        <p:spPr>
          <a:xfrm>
            <a:off x="502920" y="384048"/>
            <a:ext cx="2247595"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ENVIRONMENTS</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Two Jira environments, one delivery story</a:t>
            </a:r>
            <a:endParaRPr lang="en-US" sz="3100" dirty="0"/>
          </a:p>
        </p:txBody>
      </p:sp>
      <p:sp>
        <p:nvSpPr>
          <p:cNvPr id="5" name="Shape 3"/>
          <p:cNvSpPr/>
          <p:nvPr/>
        </p:nvSpPr>
        <p:spPr>
          <a:xfrm>
            <a:off x="502920" y="1645920"/>
            <a:ext cx="5454396" cy="3063240"/>
          </a:xfrm>
          <a:prstGeom prst="roundRect">
            <a:avLst>
              <a:gd name="adj" fmla="val 2388"/>
            </a:avLst>
          </a:prstGeom>
          <a:solidFill>
            <a:srgbClr val="FFFFFF"/>
          </a:solidFill>
          <a:ln w="12700">
            <a:solidFill>
              <a:srgbClr val="D8DEF2"/>
            </a:solidFill>
            <a:prstDash val="solid"/>
          </a:ln>
          <a:effectLst>
            <a:outerShdw sx="100000" sy="100000" kx="0" ky="0" algn="bl" rotWithShape="0" blurRad="101600" dist="19050" dir="5400000">
              <a:srgbClr val="8A93C0">
                <a:alpha val="16000"/>
              </a:srgbClr>
            </a:outerShdw>
          </a:effectLst>
        </p:spPr>
      </p:sp>
      <p:sp>
        <p:nvSpPr>
          <p:cNvPr id="6" name="Shape 4"/>
          <p:cNvSpPr/>
          <p:nvPr/>
        </p:nvSpPr>
        <p:spPr>
          <a:xfrm>
            <a:off x="740664" y="1883664"/>
            <a:ext cx="4978908" cy="402336"/>
          </a:xfrm>
          <a:prstGeom prst="roundRect">
            <a:avLst>
              <a:gd name="adj" fmla="val 18182"/>
            </a:avLst>
          </a:prstGeom>
          <a:solidFill>
            <a:srgbClr val="1364F4"/>
          </a:solidFill>
          <a:ln w="12700">
            <a:solidFill>
              <a:srgbClr val="1364F4"/>
            </a:solidFill>
            <a:prstDash val="solid"/>
          </a:ln>
        </p:spPr>
      </p:sp>
      <p:sp>
        <p:nvSpPr>
          <p:cNvPr id="7" name="Text 5"/>
          <p:cNvSpPr txBox="1"/>
          <p:nvPr/>
        </p:nvSpPr>
        <p:spPr>
          <a:xfrm>
            <a:off x="740664" y="1883664"/>
            <a:ext cx="497890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ATSL — AI TPM Scrum Lab (Scrum)</a:t>
            </a:r>
            <a:endParaRPr lang="en-US" sz="1400" dirty="0"/>
          </a:p>
        </p:txBody>
      </p:sp>
      <p:sp>
        <p:nvSpPr>
          <p:cNvPr id="8" name="Text 6"/>
          <p:cNvSpPr txBox="1"/>
          <p:nvPr/>
        </p:nvSpPr>
        <p:spPr>
          <a:xfrm>
            <a:off x="813816" y="2432304"/>
            <a:ext cx="4832604" cy="2039112"/>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Sprint-based delivery of AI capabilities, created with project key ATSL and lead Mahesh Zade.</a:t>
            </a:r>
            <a:endParaRPr lang="en-US" sz="1250" dirty="0"/>
          </a:p>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Four user stories, story points, a two-week ATSL Sprint 1 and a formal sprint goal.</a:t>
            </a:r>
            <a:endParaRPr lang="en-US" sz="1250" dirty="0"/>
          </a:p>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Burndown, sprint report, velocity and cumulative flow reporting available.</a:t>
            </a:r>
            <a:endParaRPr lang="en-US" sz="1250" dirty="0"/>
          </a:p>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Home of the escalated delivery risk ATSL-5.</a:t>
            </a:r>
            <a:endParaRPr lang="en-US" sz="1250" dirty="0"/>
          </a:p>
        </p:txBody>
      </p:sp>
      <p:sp>
        <p:nvSpPr>
          <p:cNvPr id="9" name="Shape 7"/>
          <p:cNvSpPr/>
          <p:nvPr/>
        </p:nvSpPr>
        <p:spPr>
          <a:xfrm>
            <a:off x="6231636" y="1645920"/>
            <a:ext cx="5454396" cy="3063240"/>
          </a:xfrm>
          <a:prstGeom prst="roundRect">
            <a:avLst>
              <a:gd name="adj" fmla="val 2388"/>
            </a:avLst>
          </a:prstGeom>
          <a:solidFill>
            <a:srgbClr val="FFFFFF"/>
          </a:solidFill>
          <a:ln w="12700">
            <a:solidFill>
              <a:srgbClr val="D8DEF2"/>
            </a:solidFill>
            <a:prstDash val="solid"/>
          </a:ln>
          <a:effectLst>
            <a:outerShdw sx="100000" sy="100000" kx="0" ky="0" algn="bl" rotWithShape="0" blurRad="101600" dist="19050" dir="5400000">
              <a:srgbClr val="8A93C0">
                <a:alpha val="16000"/>
              </a:srgbClr>
            </a:outerShdw>
          </a:effectLst>
        </p:spPr>
      </p:sp>
      <p:sp>
        <p:nvSpPr>
          <p:cNvPr id="10" name="Shape 8"/>
          <p:cNvSpPr/>
          <p:nvPr/>
        </p:nvSpPr>
        <p:spPr>
          <a:xfrm>
            <a:off x="6469380" y="1883664"/>
            <a:ext cx="4978908" cy="402336"/>
          </a:xfrm>
          <a:prstGeom prst="roundRect">
            <a:avLst>
              <a:gd name="adj" fmla="val 18182"/>
            </a:avLst>
          </a:prstGeom>
          <a:solidFill>
            <a:srgbClr val="F4436C"/>
          </a:solidFill>
          <a:ln w="12700">
            <a:solidFill>
              <a:srgbClr val="F4436C"/>
            </a:solidFill>
            <a:prstDash val="solid"/>
          </a:ln>
        </p:spPr>
      </p:sp>
      <p:sp>
        <p:nvSpPr>
          <p:cNvPr id="11" name="Text 9"/>
          <p:cNvSpPr txBox="1"/>
          <p:nvPr/>
        </p:nvSpPr>
        <p:spPr>
          <a:xfrm>
            <a:off x="6469380" y="1883664"/>
            <a:ext cx="497890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KAN — DevOps and Cloud IT Team (Kanban)</a:t>
            </a:r>
            <a:endParaRPr lang="en-US" sz="1400" dirty="0"/>
          </a:p>
        </p:txBody>
      </p:sp>
      <p:sp>
        <p:nvSpPr>
          <p:cNvPr id="12" name="Text 10"/>
          <p:cNvSpPr txBox="1"/>
          <p:nvPr/>
        </p:nvSpPr>
        <p:spPr>
          <a:xfrm>
            <a:off x="6542532" y="2432304"/>
            <a:ext cx="4832604" cy="2039112"/>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Continuous flow for cloud infrastructure work: To Do, In Progress, Waiting for Customer, Resolved.</a:t>
            </a:r>
            <a:endParaRPr lang="en-US" sz="1250" dirty="0"/>
          </a:p>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KAN-4 parent item provisions EC2 and S3 for the Customer Stack application.</a:t>
            </a:r>
            <a:endParaRPr lang="en-US" sz="1250" dirty="0"/>
          </a:p>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Subtasks KAN-6 to KAN-9 break the work down to implementable units.</a:t>
            </a:r>
            <a:endParaRPr lang="en-US" sz="1250" dirty="0"/>
          </a:p>
          <a:p>
            <a:pPr marL="342900" indent="-342900">
              <a:lnSpc>
                <a:spcPts val="1700"/>
              </a:lnSpc>
              <a:spcAft>
                <a:spcPts val="900"/>
              </a:spcAft>
              <a:buSzPct val="100000"/>
              <a:buChar char="•"/>
            </a:pPr>
            <a:r>
              <a:rPr lang="en-US" sz="1250" dirty="0">
                <a:solidFill>
                  <a:srgbClr val="5B6180"/>
                </a:solidFill>
                <a:latin typeface="Calibri" pitchFamily="34" charset="0"/>
                <a:ea typeface="Calibri" pitchFamily="34" charset="-122"/>
                <a:cs typeface="Calibri" pitchFamily="34" charset="-120"/>
              </a:rPr>
              <a:t>Home of the blocked item KAN-8, configured security group.</a:t>
            </a:r>
            <a:endParaRPr lang="en-US" sz="1250" dirty="0"/>
          </a:p>
        </p:txBody>
      </p:sp>
      <p:sp>
        <p:nvSpPr>
          <p:cNvPr id="13" name="Shape 11"/>
          <p:cNvSpPr/>
          <p:nvPr/>
        </p:nvSpPr>
        <p:spPr>
          <a:xfrm>
            <a:off x="502920" y="4937760"/>
            <a:ext cx="11183112" cy="822960"/>
          </a:xfrm>
          <a:prstGeom prst="roundRect">
            <a:avLst>
              <a:gd name="adj" fmla="val 8889"/>
            </a:avLst>
          </a:prstGeom>
          <a:solidFill>
            <a:srgbClr val="F3F5FD"/>
          </a:solidFill>
          <a:ln w="12700">
            <a:solidFill>
              <a:srgbClr val="D8DEF2"/>
            </a:solidFill>
            <a:prstDash val="solid"/>
          </a:ln>
        </p:spPr>
      </p:sp>
      <p:sp>
        <p:nvSpPr>
          <p:cNvPr id="14" name="Text 12"/>
          <p:cNvSpPr txBox="1"/>
          <p:nvPr/>
        </p:nvSpPr>
        <p:spPr>
          <a:xfrm>
            <a:off x="777240" y="4937760"/>
            <a:ext cx="10634472" cy="822960"/>
          </a:xfrm>
          <a:prstGeom prst="rect">
            <a:avLst/>
          </a:prstGeom>
          <a:noFill/>
          <a:ln/>
        </p:spPr>
        <p:txBody>
          <a:bodyPr wrap="square" lIns="0" tIns="0" rIns="0" bIns="0" rtlCol="0" anchor="ctr"/>
          <a:lstStyle/>
          <a:p>
            <a:pPr indent="0" marL="0">
              <a:lnSpc>
                <a:spcPts val="1800"/>
              </a:lnSpc>
              <a:buNone/>
            </a:pPr>
            <a:r>
              <a:rPr lang="en-US" sz="1350" b="1" dirty="0">
                <a:solidFill>
                  <a:srgbClr val="100B2E"/>
                </a:solidFill>
                <a:latin typeface="Calibri" pitchFamily="34" charset="0"/>
                <a:ea typeface="Calibri" pitchFamily="34" charset="-122"/>
                <a:cs typeface="Calibri" pitchFamily="34" charset="-120"/>
              </a:rPr>
              <a:t>Why two environments?  </a:t>
            </a:r>
            <a:pPr indent="0" marL="0">
              <a:lnSpc>
                <a:spcPts val="1800"/>
              </a:lnSpc>
              <a:buNone/>
            </a:pPr>
            <a:r>
              <a:rPr lang="en-US" sz="1250" dirty="0">
                <a:solidFill>
                  <a:srgbClr val="5B6180"/>
                </a:solidFill>
                <a:latin typeface="Calibri" pitchFamily="34" charset="0"/>
                <a:ea typeface="Calibri" pitchFamily="34" charset="-122"/>
                <a:cs typeface="Calibri" pitchFamily="34" charset="-120"/>
              </a:rPr>
              <a:t>A TPM rarely owns one methodology. Running Scrum and Kanban side by side shows that dependency, risk and reporting practice transfer across both — the mechanics differ, the accountability does not.</a:t>
            </a:r>
            <a:endParaRPr lang="en-US" sz="1350" dirty="0"/>
          </a:p>
        </p:txBody>
      </p:sp>
      <p:sp>
        <p:nvSpPr>
          <p:cNvPr id="15" name="Text 13"/>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16" name="Shape 14"/>
          <p:cNvSpPr/>
          <p:nvPr/>
        </p:nvSpPr>
        <p:spPr>
          <a:xfrm>
            <a:off x="11375136" y="6382512"/>
            <a:ext cx="310896" cy="310896"/>
          </a:xfrm>
          <a:prstGeom prst="ellipse">
            <a:avLst/>
          </a:prstGeom>
          <a:solidFill>
            <a:srgbClr val="EAEEFB"/>
          </a:solidFill>
          <a:ln w="12700">
            <a:solidFill>
              <a:srgbClr val="EAEEFB"/>
            </a:solidFill>
            <a:prstDash val="solid"/>
          </a:ln>
        </p:spPr>
      </p:sp>
      <p:sp>
        <p:nvSpPr>
          <p:cNvPr id="17" name="Text 15"/>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41094"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441094"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KAN</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Cloud and DevOps work breakdown</a:t>
            </a:r>
            <a:endParaRPr lang="en-US" sz="3100" dirty="0"/>
          </a:p>
        </p:txBody>
      </p:sp>
      <p:sp>
        <p:nvSpPr>
          <p:cNvPr id="5" name="Shape 3"/>
          <p:cNvSpPr/>
          <p:nvPr/>
        </p:nvSpPr>
        <p:spPr>
          <a:xfrm>
            <a:off x="502920" y="1600200"/>
            <a:ext cx="3657600" cy="960120"/>
          </a:xfrm>
          <a:prstGeom prst="roundRect">
            <a:avLst>
              <a:gd name="adj" fmla="val 7619"/>
            </a:avLst>
          </a:prstGeom>
          <a:solidFill>
            <a:srgbClr val="2A1A6E"/>
          </a:solidFill>
          <a:ln w="12700">
            <a:solidFill>
              <a:srgbClr val="2A1A6E"/>
            </a:solidFill>
            <a:prstDash val="solid"/>
          </a:ln>
        </p:spPr>
      </p:sp>
      <p:sp>
        <p:nvSpPr>
          <p:cNvPr id="6" name="Text 4"/>
          <p:cNvSpPr txBox="1"/>
          <p:nvPr/>
        </p:nvSpPr>
        <p:spPr>
          <a:xfrm>
            <a:off x="722376" y="1600200"/>
            <a:ext cx="3246120" cy="960120"/>
          </a:xfrm>
          <a:prstGeom prst="rect">
            <a:avLst/>
          </a:prstGeom>
          <a:noFill/>
          <a:ln/>
        </p:spPr>
        <p:txBody>
          <a:bodyPr wrap="square" lIns="0" tIns="0" rIns="0" bIns="0" rtlCol="0" anchor="ctr"/>
          <a:lstStyle/>
          <a:p>
            <a:pPr indent="0" marL="0">
              <a:lnSpc>
                <a:spcPts val="1700"/>
              </a:lnSpc>
              <a:buNone/>
            </a:pPr>
            <a:r>
              <a:rPr lang="en-US" sz="1100" dirty="0">
                <a:solidFill>
                  <a:srgbClr val="A8B0DC"/>
                </a:solidFill>
                <a:latin typeface="Calibri" pitchFamily="34" charset="0"/>
                <a:ea typeface="Calibri" pitchFamily="34" charset="-122"/>
                <a:cs typeface="Calibri" pitchFamily="34" charset="-120"/>
              </a:rPr>
              <a:t>KAN-4  ·  Parent work item
</a:t>
            </a:r>
            <a:pPr indent="0" marL="0">
              <a:lnSpc>
                <a:spcPts val="1700"/>
              </a:lnSpc>
              <a:buNone/>
            </a:pPr>
            <a:r>
              <a:rPr lang="en-US" sz="1300" b="1" dirty="0">
                <a:solidFill>
                  <a:srgbClr val="FFFFFF"/>
                </a:solidFill>
                <a:latin typeface="Calibri" pitchFamily="34" charset="0"/>
                <a:ea typeface="Calibri" pitchFamily="34" charset="-122"/>
                <a:cs typeface="Calibri" pitchFamily="34" charset="-120"/>
              </a:rPr>
              <a:t>Provision EC2 and S3 for the Customer Stack application</a:t>
            </a:r>
            <a:endParaRPr lang="en-US" sz="1100" dirty="0"/>
          </a:p>
        </p:txBody>
      </p:sp>
      <p:sp>
        <p:nvSpPr>
          <p:cNvPr id="7" name="Shape 5"/>
          <p:cNvSpPr/>
          <p:nvPr/>
        </p:nvSpPr>
        <p:spPr>
          <a:xfrm>
            <a:off x="4572000" y="1600200"/>
            <a:ext cx="7114032" cy="512064"/>
          </a:xfrm>
          <a:prstGeom prst="roundRect">
            <a:avLst>
              <a:gd name="adj" fmla="val 10714"/>
            </a:avLst>
          </a:prstGeom>
          <a:solidFill>
            <a:srgbClr val="F3F5FD"/>
          </a:solidFill>
          <a:ln w="12700">
            <a:solidFill>
              <a:srgbClr val="D8DEF2"/>
            </a:solidFill>
            <a:prstDash val="solid"/>
          </a:ln>
        </p:spPr>
      </p:sp>
      <p:sp>
        <p:nvSpPr>
          <p:cNvPr id="8" name="Text 6"/>
          <p:cNvSpPr txBox="1"/>
          <p:nvPr/>
        </p:nvSpPr>
        <p:spPr>
          <a:xfrm>
            <a:off x="4754880" y="1600200"/>
            <a:ext cx="914400" cy="512064"/>
          </a:xfrm>
          <a:prstGeom prst="rect">
            <a:avLst/>
          </a:prstGeom>
          <a:noFill/>
          <a:ln/>
        </p:spPr>
        <p:txBody>
          <a:bodyPr wrap="square" lIns="0" tIns="0" rIns="0" bIns="0" rtlCol="0" anchor="ctr"/>
          <a:lstStyle/>
          <a:p>
            <a:pPr indent="0" marL="0">
              <a:buNone/>
            </a:pPr>
            <a:r>
              <a:rPr lang="en-US" sz="1300" b="1" dirty="0">
                <a:solidFill>
                  <a:srgbClr val="1364F4"/>
                </a:solidFill>
                <a:latin typeface="Calibri" pitchFamily="34" charset="0"/>
                <a:ea typeface="Calibri" pitchFamily="34" charset="-122"/>
                <a:cs typeface="Calibri" pitchFamily="34" charset="-120"/>
              </a:rPr>
              <a:t>KAN-6</a:t>
            </a:r>
            <a:endParaRPr lang="en-US" sz="1300" dirty="0"/>
          </a:p>
        </p:txBody>
      </p:sp>
      <p:sp>
        <p:nvSpPr>
          <p:cNvPr id="9" name="Text 7"/>
          <p:cNvSpPr txBox="1"/>
          <p:nvPr/>
        </p:nvSpPr>
        <p:spPr>
          <a:xfrm>
            <a:off x="5669280" y="1600200"/>
            <a:ext cx="3749040" cy="512064"/>
          </a:xfrm>
          <a:prstGeom prst="rect">
            <a:avLst/>
          </a:prstGeom>
          <a:noFill/>
          <a:ln/>
        </p:spPr>
        <p:txBody>
          <a:bodyPr wrap="square" lIns="0" tIns="0" rIns="0" bIns="0" rtlCol="0" anchor="ctr"/>
          <a:lstStyle/>
          <a:p>
            <a:pPr indent="0" marL="0">
              <a:buNone/>
            </a:pPr>
            <a:r>
              <a:rPr lang="en-US" sz="1250" dirty="0">
                <a:solidFill>
                  <a:srgbClr val="100B2E"/>
                </a:solidFill>
                <a:latin typeface="Calibri" pitchFamily="34" charset="0"/>
                <a:ea typeface="Calibri" pitchFamily="34" charset="-122"/>
                <a:cs typeface="Calibri" pitchFamily="34" charset="-120"/>
              </a:rPr>
              <a:t>Create AWS EC2 instance</a:t>
            </a:r>
            <a:endParaRPr lang="en-US" sz="1250" dirty="0"/>
          </a:p>
        </p:txBody>
      </p:sp>
      <p:sp>
        <p:nvSpPr>
          <p:cNvPr id="10" name="Shape 8"/>
          <p:cNvSpPr/>
          <p:nvPr/>
        </p:nvSpPr>
        <p:spPr>
          <a:xfrm>
            <a:off x="9601200" y="1700784"/>
            <a:ext cx="1920240" cy="310896"/>
          </a:xfrm>
          <a:prstGeom prst="roundRect">
            <a:avLst>
              <a:gd name="adj" fmla="val 50000"/>
            </a:avLst>
          </a:prstGeom>
          <a:solidFill>
            <a:srgbClr val="1364F4">
              <a:alpha val="15000"/>
            </a:srgbClr>
          </a:solidFill>
          <a:ln w="12700">
            <a:solidFill>
              <a:srgbClr val="1364F4">
                <a:alpha val="50000"/>
              </a:srgbClr>
            </a:solidFill>
            <a:prstDash val="solid"/>
          </a:ln>
        </p:spPr>
      </p:sp>
      <p:sp>
        <p:nvSpPr>
          <p:cNvPr id="11" name="Text 9"/>
          <p:cNvSpPr txBox="1"/>
          <p:nvPr/>
        </p:nvSpPr>
        <p:spPr>
          <a:xfrm>
            <a:off x="9601200" y="1700784"/>
            <a:ext cx="1920240" cy="310896"/>
          </a:xfrm>
          <a:prstGeom prst="rect">
            <a:avLst/>
          </a:prstGeom>
          <a:noFill/>
          <a:ln/>
        </p:spPr>
        <p:txBody>
          <a:bodyPr wrap="square" lIns="0" tIns="0" rIns="0" bIns="0" rtlCol="0" anchor="ctr"/>
          <a:lstStyle/>
          <a:p>
            <a:pPr algn="ctr" indent="0" marL="0">
              <a:buNone/>
            </a:pPr>
            <a:r>
              <a:rPr lang="en-US" sz="1050" b="1" dirty="0">
                <a:solidFill>
                  <a:srgbClr val="1364F4"/>
                </a:solidFill>
                <a:latin typeface="Calibri" pitchFamily="34" charset="0"/>
                <a:ea typeface="Calibri" pitchFamily="34" charset="-122"/>
                <a:cs typeface="Calibri" pitchFamily="34" charset="-120"/>
              </a:rPr>
              <a:t>In Progress</a:t>
            </a:r>
            <a:endParaRPr lang="en-US" sz="1050" dirty="0"/>
          </a:p>
        </p:txBody>
      </p:sp>
      <p:sp>
        <p:nvSpPr>
          <p:cNvPr id="12" name="Shape 10"/>
          <p:cNvSpPr/>
          <p:nvPr/>
        </p:nvSpPr>
        <p:spPr>
          <a:xfrm>
            <a:off x="4572000" y="2221992"/>
            <a:ext cx="7114032" cy="512064"/>
          </a:xfrm>
          <a:prstGeom prst="roundRect">
            <a:avLst>
              <a:gd name="adj" fmla="val 10714"/>
            </a:avLst>
          </a:prstGeom>
          <a:solidFill>
            <a:srgbClr val="F3F5FD"/>
          </a:solidFill>
          <a:ln w="12700">
            <a:solidFill>
              <a:srgbClr val="D8DEF2"/>
            </a:solidFill>
            <a:prstDash val="solid"/>
          </a:ln>
        </p:spPr>
      </p:sp>
      <p:sp>
        <p:nvSpPr>
          <p:cNvPr id="13" name="Text 11"/>
          <p:cNvSpPr txBox="1"/>
          <p:nvPr/>
        </p:nvSpPr>
        <p:spPr>
          <a:xfrm>
            <a:off x="4754880" y="2221992"/>
            <a:ext cx="914400" cy="512064"/>
          </a:xfrm>
          <a:prstGeom prst="rect">
            <a:avLst/>
          </a:prstGeom>
          <a:noFill/>
          <a:ln/>
        </p:spPr>
        <p:txBody>
          <a:bodyPr wrap="square" lIns="0" tIns="0" rIns="0" bIns="0" rtlCol="0" anchor="ctr"/>
          <a:lstStyle/>
          <a:p>
            <a:pPr indent="0" marL="0">
              <a:buNone/>
            </a:pPr>
            <a:r>
              <a:rPr lang="en-US" sz="1300" b="1" dirty="0">
                <a:solidFill>
                  <a:srgbClr val="5B6180"/>
                </a:solidFill>
                <a:latin typeface="Calibri" pitchFamily="34" charset="0"/>
                <a:ea typeface="Calibri" pitchFamily="34" charset="-122"/>
                <a:cs typeface="Calibri" pitchFamily="34" charset="-120"/>
              </a:rPr>
              <a:t>KAN-7</a:t>
            </a:r>
            <a:endParaRPr lang="en-US" sz="1300" dirty="0"/>
          </a:p>
        </p:txBody>
      </p:sp>
      <p:sp>
        <p:nvSpPr>
          <p:cNvPr id="14" name="Text 12"/>
          <p:cNvSpPr txBox="1"/>
          <p:nvPr/>
        </p:nvSpPr>
        <p:spPr>
          <a:xfrm>
            <a:off x="5669280" y="2221992"/>
            <a:ext cx="3749040" cy="512064"/>
          </a:xfrm>
          <a:prstGeom prst="rect">
            <a:avLst/>
          </a:prstGeom>
          <a:noFill/>
          <a:ln/>
        </p:spPr>
        <p:txBody>
          <a:bodyPr wrap="square" lIns="0" tIns="0" rIns="0" bIns="0" rtlCol="0" anchor="ctr"/>
          <a:lstStyle/>
          <a:p>
            <a:pPr indent="0" marL="0">
              <a:buNone/>
            </a:pPr>
            <a:r>
              <a:rPr lang="en-US" sz="1250" dirty="0">
                <a:solidFill>
                  <a:srgbClr val="100B2E"/>
                </a:solidFill>
                <a:latin typeface="Calibri" pitchFamily="34" charset="0"/>
                <a:ea typeface="Calibri" pitchFamily="34" charset="-122"/>
                <a:cs typeface="Calibri" pitchFamily="34" charset="-120"/>
              </a:rPr>
              <a:t>Create S3 bucket</a:t>
            </a:r>
            <a:endParaRPr lang="en-US" sz="1250" dirty="0"/>
          </a:p>
        </p:txBody>
      </p:sp>
      <p:sp>
        <p:nvSpPr>
          <p:cNvPr id="15" name="Shape 13"/>
          <p:cNvSpPr/>
          <p:nvPr/>
        </p:nvSpPr>
        <p:spPr>
          <a:xfrm>
            <a:off x="9601200" y="2322576"/>
            <a:ext cx="1920240" cy="310896"/>
          </a:xfrm>
          <a:prstGeom prst="roundRect">
            <a:avLst>
              <a:gd name="adj" fmla="val 50000"/>
            </a:avLst>
          </a:prstGeom>
          <a:solidFill>
            <a:srgbClr val="5B6180">
              <a:alpha val="15000"/>
            </a:srgbClr>
          </a:solidFill>
          <a:ln w="12700">
            <a:solidFill>
              <a:srgbClr val="5B6180">
                <a:alpha val="50000"/>
              </a:srgbClr>
            </a:solidFill>
            <a:prstDash val="solid"/>
          </a:ln>
        </p:spPr>
      </p:sp>
      <p:sp>
        <p:nvSpPr>
          <p:cNvPr id="16" name="Text 14"/>
          <p:cNvSpPr txBox="1"/>
          <p:nvPr/>
        </p:nvSpPr>
        <p:spPr>
          <a:xfrm>
            <a:off x="9601200" y="2322576"/>
            <a:ext cx="1920240" cy="310896"/>
          </a:xfrm>
          <a:prstGeom prst="rect">
            <a:avLst/>
          </a:prstGeom>
          <a:noFill/>
          <a:ln/>
        </p:spPr>
        <p:txBody>
          <a:bodyPr wrap="square" lIns="0" tIns="0" rIns="0" bIns="0" rtlCol="0" anchor="ctr"/>
          <a:lstStyle/>
          <a:p>
            <a:pPr algn="ctr" indent="0" marL="0">
              <a:buNone/>
            </a:pPr>
            <a:r>
              <a:rPr lang="en-US" sz="1050" b="1" dirty="0">
                <a:solidFill>
                  <a:srgbClr val="5B6180"/>
                </a:solidFill>
                <a:latin typeface="Calibri" pitchFamily="34" charset="0"/>
                <a:ea typeface="Calibri" pitchFamily="34" charset="-122"/>
                <a:cs typeface="Calibri" pitchFamily="34" charset="-120"/>
              </a:rPr>
              <a:t>To Do</a:t>
            </a:r>
            <a:endParaRPr lang="en-US" sz="1050" dirty="0"/>
          </a:p>
        </p:txBody>
      </p:sp>
      <p:sp>
        <p:nvSpPr>
          <p:cNvPr id="17" name="Shape 15"/>
          <p:cNvSpPr/>
          <p:nvPr/>
        </p:nvSpPr>
        <p:spPr>
          <a:xfrm>
            <a:off x="4572000" y="2843784"/>
            <a:ext cx="7114032" cy="512064"/>
          </a:xfrm>
          <a:prstGeom prst="roundRect">
            <a:avLst>
              <a:gd name="adj" fmla="val 10714"/>
            </a:avLst>
          </a:prstGeom>
          <a:solidFill>
            <a:srgbClr val="F3F5FD"/>
          </a:solidFill>
          <a:ln w="12700">
            <a:solidFill>
              <a:srgbClr val="D8DEF2"/>
            </a:solidFill>
            <a:prstDash val="solid"/>
          </a:ln>
        </p:spPr>
      </p:sp>
      <p:sp>
        <p:nvSpPr>
          <p:cNvPr id="18" name="Text 16"/>
          <p:cNvSpPr txBox="1"/>
          <p:nvPr/>
        </p:nvSpPr>
        <p:spPr>
          <a:xfrm>
            <a:off x="4754880" y="2843784"/>
            <a:ext cx="914400" cy="512064"/>
          </a:xfrm>
          <a:prstGeom prst="rect">
            <a:avLst/>
          </a:prstGeom>
          <a:noFill/>
          <a:ln/>
        </p:spPr>
        <p:txBody>
          <a:bodyPr wrap="square" lIns="0" tIns="0" rIns="0" bIns="0" rtlCol="0" anchor="ctr"/>
          <a:lstStyle/>
          <a:p>
            <a:pPr indent="0" marL="0">
              <a:buNone/>
            </a:pPr>
            <a:r>
              <a:rPr lang="en-US" sz="1300" b="1" dirty="0">
                <a:solidFill>
                  <a:srgbClr val="F4436C"/>
                </a:solidFill>
                <a:latin typeface="Calibri" pitchFamily="34" charset="0"/>
                <a:ea typeface="Calibri" pitchFamily="34" charset="-122"/>
                <a:cs typeface="Calibri" pitchFamily="34" charset="-120"/>
              </a:rPr>
              <a:t>KAN-8</a:t>
            </a:r>
            <a:endParaRPr lang="en-US" sz="1300" dirty="0"/>
          </a:p>
        </p:txBody>
      </p:sp>
      <p:sp>
        <p:nvSpPr>
          <p:cNvPr id="19" name="Text 17"/>
          <p:cNvSpPr txBox="1"/>
          <p:nvPr/>
        </p:nvSpPr>
        <p:spPr>
          <a:xfrm>
            <a:off x="5669280" y="2843784"/>
            <a:ext cx="3749040" cy="512064"/>
          </a:xfrm>
          <a:prstGeom prst="rect">
            <a:avLst/>
          </a:prstGeom>
          <a:noFill/>
          <a:ln/>
        </p:spPr>
        <p:txBody>
          <a:bodyPr wrap="square" lIns="0" tIns="0" rIns="0" bIns="0" rtlCol="0" anchor="ctr"/>
          <a:lstStyle/>
          <a:p>
            <a:pPr indent="0" marL="0">
              <a:buNone/>
            </a:pPr>
            <a:r>
              <a:rPr lang="en-US" sz="1250" dirty="0">
                <a:solidFill>
                  <a:srgbClr val="100B2E"/>
                </a:solidFill>
                <a:latin typeface="Calibri" pitchFamily="34" charset="0"/>
                <a:ea typeface="Calibri" pitchFamily="34" charset="-122"/>
                <a:cs typeface="Calibri" pitchFamily="34" charset="-120"/>
              </a:rPr>
              <a:t>Configure EC2 security group</a:t>
            </a:r>
            <a:endParaRPr lang="en-US" sz="1250" dirty="0"/>
          </a:p>
        </p:txBody>
      </p:sp>
      <p:sp>
        <p:nvSpPr>
          <p:cNvPr id="20" name="Shape 18"/>
          <p:cNvSpPr/>
          <p:nvPr/>
        </p:nvSpPr>
        <p:spPr>
          <a:xfrm>
            <a:off x="9601200" y="2944368"/>
            <a:ext cx="1920240" cy="310896"/>
          </a:xfrm>
          <a:prstGeom prst="roundRect">
            <a:avLst>
              <a:gd name="adj" fmla="val 50000"/>
            </a:avLst>
          </a:prstGeom>
          <a:solidFill>
            <a:srgbClr val="F4436C">
              <a:alpha val="15000"/>
            </a:srgbClr>
          </a:solidFill>
          <a:ln w="12700">
            <a:solidFill>
              <a:srgbClr val="F4436C">
                <a:alpha val="50000"/>
              </a:srgbClr>
            </a:solidFill>
            <a:prstDash val="solid"/>
          </a:ln>
        </p:spPr>
      </p:sp>
      <p:sp>
        <p:nvSpPr>
          <p:cNvPr id="21" name="Text 19"/>
          <p:cNvSpPr txBox="1"/>
          <p:nvPr/>
        </p:nvSpPr>
        <p:spPr>
          <a:xfrm>
            <a:off x="9601200" y="2944368"/>
            <a:ext cx="1920240" cy="310896"/>
          </a:xfrm>
          <a:prstGeom prst="rect">
            <a:avLst/>
          </a:prstGeom>
          <a:noFill/>
          <a:ln/>
        </p:spPr>
        <p:txBody>
          <a:bodyPr wrap="square" lIns="0" tIns="0" rIns="0" bIns="0" rtlCol="0" anchor="ctr"/>
          <a:lstStyle/>
          <a:p>
            <a:pPr algn="ctr" indent="0" marL="0">
              <a:buNone/>
            </a:pPr>
            <a:r>
              <a:rPr lang="en-US" sz="1050" b="1" dirty="0">
                <a:solidFill>
                  <a:srgbClr val="F4436C"/>
                </a:solidFill>
                <a:latin typeface="Calibri" pitchFamily="34" charset="0"/>
                <a:ea typeface="Calibri" pitchFamily="34" charset="-122"/>
                <a:cs typeface="Calibri" pitchFamily="34" charset="-120"/>
              </a:rPr>
              <a:t>Blocked by KAN-6</a:t>
            </a:r>
            <a:endParaRPr lang="en-US" sz="1050" dirty="0"/>
          </a:p>
        </p:txBody>
      </p:sp>
      <p:sp>
        <p:nvSpPr>
          <p:cNvPr id="22" name="Shape 20"/>
          <p:cNvSpPr/>
          <p:nvPr/>
        </p:nvSpPr>
        <p:spPr>
          <a:xfrm>
            <a:off x="4572000" y="3465576"/>
            <a:ext cx="7114032" cy="512064"/>
          </a:xfrm>
          <a:prstGeom prst="roundRect">
            <a:avLst>
              <a:gd name="adj" fmla="val 10714"/>
            </a:avLst>
          </a:prstGeom>
          <a:solidFill>
            <a:srgbClr val="F3F5FD"/>
          </a:solidFill>
          <a:ln w="12700">
            <a:solidFill>
              <a:srgbClr val="D8DEF2"/>
            </a:solidFill>
            <a:prstDash val="solid"/>
          </a:ln>
        </p:spPr>
      </p:sp>
      <p:sp>
        <p:nvSpPr>
          <p:cNvPr id="23" name="Text 21"/>
          <p:cNvSpPr txBox="1"/>
          <p:nvPr/>
        </p:nvSpPr>
        <p:spPr>
          <a:xfrm>
            <a:off x="4754880" y="3465576"/>
            <a:ext cx="914400" cy="512064"/>
          </a:xfrm>
          <a:prstGeom prst="rect">
            <a:avLst/>
          </a:prstGeom>
          <a:noFill/>
          <a:ln/>
        </p:spPr>
        <p:txBody>
          <a:bodyPr wrap="square" lIns="0" tIns="0" rIns="0" bIns="0" rtlCol="0" anchor="ctr"/>
          <a:lstStyle/>
          <a:p>
            <a:pPr indent="0" marL="0">
              <a:buNone/>
            </a:pPr>
            <a:r>
              <a:rPr lang="en-US" sz="1300" b="1" dirty="0">
                <a:solidFill>
                  <a:srgbClr val="5B6180"/>
                </a:solidFill>
                <a:latin typeface="Calibri" pitchFamily="34" charset="0"/>
                <a:ea typeface="Calibri" pitchFamily="34" charset="-122"/>
                <a:cs typeface="Calibri" pitchFamily="34" charset="-120"/>
              </a:rPr>
              <a:t>KAN-9</a:t>
            </a:r>
            <a:endParaRPr lang="en-US" sz="1300" dirty="0"/>
          </a:p>
        </p:txBody>
      </p:sp>
      <p:sp>
        <p:nvSpPr>
          <p:cNvPr id="24" name="Text 22"/>
          <p:cNvSpPr txBox="1"/>
          <p:nvPr/>
        </p:nvSpPr>
        <p:spPr>
          <a:xfrm>
            <a:off x="5669280" y="3465576"/>
            <a:ext cx="3749040" cy="512064"/>
          </a:xfrm>
          <a:prstGeom prst="rect">
            <a:avLst/>
          </a:prstGeom>
          <a:noFill/>
          <a:ln/>
        </p:spPr>
        <p:txBody>
          <a:bodyPr wrap="square" lIns="0" tIns="0" rIns="0" bIns="0" rtlCol="0" anchor="ctr"/>
          <a:lstStyle/>
          <a:p>
            <a:pPr indent="0" marL="0">
              <a:buNone/>
            </a:pPr>
            <a:r>
              <a:rPr lang="en-US" sz="1250" dirty="0">
                <a:solidFill>
                  <a:srgbClr val="100B2E"/>
                </a:solidFill>
                <a:latin typeface="Calibri" pitchFamily="34" charset="0"/>
                <a:ea typeface="Calibri" pitchFamily="34" charset="-122"/>
                <a:cs typeface="Calibri" pitchFamily="34" charset="-120"/>
              </a:rPr>
              <a:t>Document AWS infrastructure</a:t>
            </a:r>
            <a:endParaRPr lang="en-US" sz="1250" dirty="0"/>
          </a:p>
        </p:txBody>
      </p:sp>
      <p:sp>
        <p:nvSpPr>
          <p:cNvPr id="25" name="Shape 23"/>
          <p:cNvSpPr/>
          <p:nvPr/>
        </p:nvSpPr>
        <p:spPr>
          <a:xfrm>
            <a:off x="9601200" y="3566160"/>
            <a:ext cx="1920240" cy="310896"/>
          </a:xfrm>
          <a:prstGeom prst="roundRect">
            <a:avLst>
              <a:gd name="adj" fmla="val 50000"/>
            </a:avLst>
          </a:prstGeom>
          <a:solidFill>
            <a:srgbClr val="5B6180">
              <a:alpha val="15000"/>
            </a:srgbClr>
          </a:solidFill>
          <a:ln w="12700">
            <a:solidFill>
              <a:srgbClr val="5B6180">
                <a:alpha val="50000"/>
              </a:srgbClr>
            </a:solidFill>
            <a:prstDash val="solid"/>
          </a:ln>
        </p:spPr>
      </p:sp>
      <p:sp>
        <p:nvSpPr>
          <p:cNvPr id="26" name="Text 24"/>
          <p:cNvSpPr txBox="1"/>
          <p:nvPr/>
        </p:nvSpPr>
        <p:spPr>
          <a:xfrm>
            <a:off x="9601200" y="3566160"/>
            <a:ext cx="1920240" cy="310896"/>
          </a:xfrm>
          <a:prstGeom prst="rect">
            <a:avLst/>
          </a:prstGeom>
          <a:noFill/>
          <a:ln/>
        </p:spPr>
        <p:txBody>
          <a:bodyPr wrap="square" lIns="0" tIns="0" rIns="0" bIns="0" rtlCol="0" anchor="ctr"/>
          <a:lstStyle/>
          <a:p>
            <a:pPr algn="ctr" indent="0" marL="0">
              <a:buNone/>
            </a:pPr>
            <a:r>
              <a:rPr lang="en-US" sz="1050" b="1" dirty="0">
                <a:solidFill>
                  <a:srgbClr val="5B6180"/>
                </a:solidFill>
                <a:latin typeface="Calibri" pitchFamily="34" charset="0"/>
                <a:ea typeface="Calibri" pitchFamily="34" charset="-122"/>
                <a:cs typeface="Calibri" pitchFamily="34" charset="-120"/>
              </a:rPr>
              <a:t>To Do</a:t>
            </a:r>
            <a:endParaRPr lang="en-US" sz="1050" dirty="0"/>
          </a:p>
        </p:txBody>
      </p:sp>
      <p:sp>
        <p:nvSpPr>
          <p:cNvPr id="27" name="Shape 25"/>
          <p:cNvSpPr/>
          <p:nvPr/>
        </p:nvSpPr>
        <p:spPr>
          <a:xfrm>
            <a:off x="502920" y="2743200"/>
            <a:ext cx="3657600" cy="804672"/>
          </a:xfrm>
          <a:prstGeom prst="roundRect">
            <a:avLst>
              <a:gd name="adj" fmla="val 6818"/>
            </a:avLst>
          </a:prstGeom>
          <a:solidFill>
            <a:srgbClr val="F3F5FD"/>
          </a:solidFill>
          <a:ln w="12700">
            <a:solidFill>
              <a:srgbClr val="D8DEF2"/>
            </a:solidFill>
            <a:prstDash val="solid"/>
          </a:ln>
        </p:spPr>
      </p:sp>
      <p:sp>
        <p:nvSpPr>
          <p:cNvPr id="28" name="Text 26"/>
          <p:cNvSpPr txBox="1"/>
          <p:nvPr/>
        </p:nvSpPr>
        <p:spPr>
          <a:xfrm>
            <a:off x="704088" y="2779776"/>
            <a:ext cx="3255264" cy="731520"/>
          </a:xfrm>
          <a:prstGeom prst="rect">
            <a:avLst/>
          </a:prstGeom>
          <a:noFill/>
          <a:ln/>
        </p:spPr>
        <p:txBody>
          <a:bodyPr wrap="square" lIns="0" tIns="0" rIns="0" bIns="0" rtlCol="0" anchor="ctr"/>
          <a:lstStyle/>
          <a:p>
            <a:pPr indent="0" marL="0">
              <a:lnSpc>
                <a:spcPts val="1500"/>
              </a:lnSpc>
              <a:buNone/>
            </a:pPr>
            <a:r>
              <a:rPr lang="en-US" sz="950" b="1" spc="120" kern="0" dirty="0">
                <a:solidFill>
                  <a:srgbClr val="00B3A4"/>
                </a:solidFill>
                <a:latin typeface="Calibri" pitchFamily="34" charset="0"/>
                <a:ea typeface="Calibri" pitchFamily="34" charset="-122"/>
                <a:cs typeface="Calibri" pitchFamily="34" charset="-120"/>
              </a:rPr>
              <a:t>REQUIREMENTS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Create an EC2 instance and an S3 bucket, configure security groups, allow SSH access, verify connectivity and document the result.</a:t>
            </a:r>
            <a:endParaRPr lang="en-US" sz="950" dirty="0"/>
          </a:p>
        </p:txBody>
      </p:sp>
      <p:sp>
        <p:nvSpPr>
          <p:cNvPr id="29" name="Shape 27"/>
          <p:cNvSpPr/>
          <p:nvPr/>
        </p:nvSpPr>
        <p:spPr>
          <a:xfrm>
            <a:off x="502920" y="3657600"/>
            <a:ext cx="3657600" cy="804672"/>
          </a:xfrm>
          <a:prstGeom prst="roundRect">
            <a:avLst>
              <a:gd name="adj" fmla="val 6818"/>
            </a:avLst>
          </a:prstGeom>
          <a:solidFill>
            <a:srgbClr val="F3F5FD"/>
          </a:solidFill>
          <a:ln w="12700">
            <a:solidFill>
              <a:srgbClr val="D8DEF2"/>
            </a:solidFill>
            <a:prstDash val="solid"/>
          </a:ln>
        </p:spPr>
      </p:sp>
      <p:sp>
        <p:nvSpPr>
          <p:cNvPr id="30" name="Text 28"/>
          <p:cNvSpPr txBox="1"/>
          <p:nvPr/>
        </p:nvSpPr>
        <p:spPr>
          <a:xfrm>
            <a:off x="704088" y="3694176"/>
            <a:ext cx="3255264" cy="731520"/>
          </a:xfrm>
          <a:prstGeom prst="rect">
            <a:avLst/>
          </a:prstGeom>
          <a:noFill/>
          <a:ln/>
        </p:spPr>
        <p:txBody>
          <a:bodyPr wrap="square" lIns="0" tIns="0" rIns="0" bIns="0" rtlCol="0" anchor="ctr"/>
          <a:lstStyle/>
          <a:p>
            <a:pPr indent="0" marL="0">
              <a:lnSpc>
                <a:spcPts val="1500"/>
              </a:lnSpc>
              <a:buNone/>
            </a:pPr>
            <a:r>
              <a:rPr lang="en-US" sz="950" b="1" spc="120" kern="0" dirty="0">
                <a:solidFill>
                  <a:srgbClr val="00B3A4"/>
                </a:solidFill>
                <a:latin typeface="Calibri" pitchFamily="34" charset="0"/>
                <a:ea typeface="Calibri" pitchFamily="34" charset="-122"/>
                <a:cs typeface="Calibri" pitchFamily="34" charset="-120"/>
              </a:rPr>
              <a:t>LABELS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AWS, EC2, devops, infrastructure and s3 — so the work is queryable by technology, not only by project.</a:t>
            </a:r>
            <a:endParaRPr lang="en-US" sz="950" dirty="0"/>
          </a:p>
        </p:txBody>
      </p:sp>
      <p:sp>
        <p:nvSpPr>
          <p:cNvPr id="31" name="Shape 29"/>
          <p:cNvSpPr/>
          <p:nvPr/>
        </p:nvSpPr>
        <p:spPr>
          <a:xfrm>
            <a:off x="502920" y="4572000"/>
            <a:ext cx="3657600" cy="804672"/>
          </a:xfrm>
          <a:prstGeom prst="roundRect">
            <a:avLst>
              <a:gd name="adj" fmla="val 6818"/>
            </a:avLst>
          </a:prstGeom>
          <a:solidFill>
            <a:srgbClr val="F3F5FD"/>
          </a:solidFill>
          <a:ln w="12700">
            <a:solidFill>
              <a:srgbClr val="D8DEF2"/>
            </a:solidFill>
            <a:prstDash val="solid"/>
          </a:ln>
        </p:spPr>
      </p:sp>
      <p:sp>
        <p:nvSpPr>
          <p:cNvPr id="32" name="Text 30"/>
          <p:cNvSpPr txBox="1"/>
          <p:nvPr/>
        </p:nvSpPr>
        <p:spPr>
          <a:xfrm>
            <a:off x="704088" y="4608576"/>
            <a:ext cx="3255264" cy="731520"/>
          </a:xfrm>
          <a:prstGeom prst="rect">
            <a:avLst/>
          </a:prstGeom>
          <a:noFill/>
          <a:ln/>
        </p:spPr>
        <p:txBody>
          <a:bodyPr wrap="square" lIns="0" tIns="0" rIns="0" bIns="0" rtlCol="0" anchor="ctr"/>
          <a:lstStyle/>
          <a:p>
            <a:pPr indent="0" marL="0">
              <a:lnSpc>
                <a:spcPts val="1500"/>
              </a:lnSpc>
              <a:buNone/>
            </a:pPr>
            <a:r>
              <a:rPr lang="en-US" sz="950" b="1" spc="120" kern="0" dirty="0">
                <a:solidFill>
                  <a:srgbClr val="00B3A4"/>
                </a:solidFill>
                <a:latin typeface="Calibri" pitchFamily="34" charset="0"/>
                <a:ea typeface="Calibri" pitchFamily="34" charset="-122"/>
                <a:cs typeface="Calibri" pitchFamily="34" charset="-120"/>
              </a:rPr>
              <a:t>OWNERSHIP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Assignee and reporter set to Mahesh Zade, priority High, with four subtasks tracked to a completion percentage.</a:t>
            </a:r>
            <a:endParaRPr lang="en-US" sz="950" dirty="0"/>
          </a:p>
        </p:txBody>
      </p:sp>
      <p:sp>
        <p:nvSpPr>
          <p:cNvPr id="33" name="Shape 31"/>
          <p:cNvSpPr/>
          <p:nvPr/>
        </p:nvSpPr>
        <p:spPr>
          <a:xfrm>
            <a:off x="4572000" y="4206240"/>
            <a:ext cx="7114032" cy="438912"/>
          </a:xfrm>
          <a:prstGeom prst="roundRect">
            <a:avLst>
              <a:gd name="adj" fmla="val 16667"/>
            </a:avLst>
          </a:prstGeom>
          <a:solidFill>
            <a:srgbClr val="F3F5FD"/>
          </a:solidFill>
          <a:ln w="12700">
            <a:solidFill>
              <a:srgbClr val="F3F5FD"/>
            </a:solidFill>
            <a:prstDash val="solid"/>
          </a:ln>
        </p:spPr>
      </p:sp>
      <p:sp>
        <p:nvSpPr>
          <p:cNvPr id="34" name="Shape 32"/>
          <p:cNvSpPr/>
          <p:nvPr/>
        </p:nvSpPr>
        <p:spPr>
          <a:xfrm>
            <a:off x="4773168" y="4270248"/>
            <a:ext cx="310896" cy="310896"/>
          </a:xfrm>
          <a:prstGeom prst="ellipse">
            <a:avLst/>
          </a:prstGeom>
          <a:solidFill>
            <a:srgbClr val="1364F4"/>
          </a:solidFill>
          <a:ln w="12700">
            <a:solidFill>
              <a:srgbClr val="1364F4"/>
            </a:solidFill>
            <a:prstDash val="solid"/>
          </a:ln>
        </p:spPr>
      </p:sp>
      <p:sp>
        <p:nvSpPr>
          <p:cNvPr id="35" name="Text 33"/>
          <p:cNvSpPr txBox="1"/>
          <p:nvPr/>
        </p:nvSpPr>
        <p:spPr>
          <a:xfrm>
            <a:off x="4773168" y="42702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6" name="Text 34"/>
          <p:cNvSpPr txBox="1"/>
          <p:nvPr/>
        </p:nvSpPr>
        <p:spPr>
          <a:xfrm>
            <a:off x="5193792" y="4251960"/>
            <a:ext cx="6272784" cy="347472"/>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The dependency.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KAN-6 blocks KAN-8 — a security group cannot be attached to an instance that does not exist yet.</a:t>
            </a:r>
            <a:endParaRPr lang="en-US" sz="1300" dirty="0"/>
          </a:p>
        </p:txBody>
      </p:sp>
      <p:sp>
        <p:nvSpPr>
          <p:cNvPr id="37" name="Shape 35"/>
          <p:cNvSpPr/>
          <p:nvPr/>
        </p:nvSpPr>
        <p:spPr>
          <a:xfrm>
            <a:off x="4572000" y="4773168"/>
            <a:ext cx="7114032" cy="438912"/>
          </a:xfrm>
          <a:prstGeom prst="roundRect">
            <a:avLst>
              <a:gd name="adj" fmla="val 16667"/>
            </a:avLst>
          </a:prstGeom>
          <a:solidFill>
            <a:srgbClr val="F3F5FD"/>
          </a:solidFill>
          <a:ln w="12700">
            <a:solidFill>
              <a:srgbClr val="F3F5FD"/>
            </a:solidFill>
            <a:prstDash val="solid"/>
          </a:ln>
        </p:spPr>
      </p:sp>
      <p:sp>
        <p:nvSpPr>
          <p:cNvPr id="38" name="Shape 36"/>
          <p:cNvSpPr/>
          <p:nvPr/>
        </p:nvSpPr>
        <p:spPr>
          <a:xfrm>
            <a:off x="4773168" y="4837176"/>
            <a:ext cx="310896" cy="310896"/>
          </a:xfrm>
          <a:prstGeom prst="ellipse">
            <a:avLst/>
          </a:prstGeom>
          <a:solidFill>
            <a:srgbClr val="00B3A4"/>
          </a:solidFill>
          <a:ln w="12700">
            <a:solidFill>
              <a:srgbClr val="00B3A4"/>
            </a:solidFill>
            <a:prstDash val="solid"/>
          </a:ln>
        </p:spPr>
      </p:sp>
      <p:sp>
        <p:nvSpPr>
          <p:cNvPr id="39" name="Text 37"/>
          <p:cNvSpPr txBox="1"/>
          <p:nvPr/>
        </p:nvSpPr>
        <p:spPr>
          <a:xfrm>
            <a:off x="4773168" y="48371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0" name="Text 38"/>
          <p:cNvSpPr txBox="1"/>
          <p:nvPr/>
        </p:nvSpPr>
        <p:spPr>
          <a:xfrm>
            <a:off x="5193792" y="4818888"/>
            <a:ext cx="6272784" cy="347472"/>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Why it matters.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Without the link, KAN-8 looks independently deliverable and gets pulled into the wrong week.</a:t>
            </a:r>
            <a:endParaRPr lang="en-US" sz="1300" dirty="0"/>
          </a:p>
        </p:txBody>
      </p:sp>
      <p:sp>
        <p:nvSpPr>
          <p:cNvPr id="41" name="Shape 39"/>
          <p:cNvSpPr/>
          <p:nvPr/>
        </p:nvSpPr>
        <p:spPr>
          <a:xfrm>
            <a:off x="4572000" y="5340096"/>
            <a:ext cx="7114032" cy="438912"/>
          </a:xfrm>
          <a:prstGeom prst="roundRect">
            <a:avLst>
              <a:gd name="adj" fmla="val 16667"/>
            </a:avLst>
          </a:prstGeom>
          <a:solidFill>
            <a:srgbClr val="F3F5FD"/>
          </a:solidFill>
          <a:ln w="12700">
            <a:solidFill>
              <a:srgbClr val="F3F5FD"/>
            </a:solidFill>
            <a:prstDash val="solid"/>
          </a:ln>
        </p:spPr>
      </p:sp>
      <p:sp>
        <p:nvSpPr>
          <p:cNvPr id="42" name="Shape 40"/>
          <p:cNvSpPr/>
          <p:nvPr/>
        </p:nvSpPr>
        <p:spPr>
          <a:xfrm>
            <a:off x="4773168" y="5404104"/>
            <a:ext cx="310896" cy="310896"/>
          </a:xfrm>
          <a:prstGeom prst="ellipse">
            <a:avLst/>
          </a:prstGeom>
          <a:solidFill>
            <a:srgbClr val="F4436C"/>
          </a:solidFill>
          <a:ln w="12700">
            <a:solidFill>
              <a:srgbClr val="F4436C"/>
            </a:solidFill>
            <a:prstDash val="solid"/>
          </a:ln>
        </p:spPr>
      </p:sp>
      <p:sp>
        <p:nvSpPr>
          <p:cNvPr id="43" name="Text 41"/>
          <p:cNvSpPr txBox="1"/>
          <p:nvPr/>
        </p:nvSpPr>
        <p:spPr>
          <a:xfrm>
            <a:off x="4773168" y="54041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Text 42"/>
          <p:cNvSpPr txBox="1"/>
          <p:nvPr/>
        </p:nvSpPr>
        <p:spPr>
          <a:xfrm>
            <a:off x="5193792" y="5385816"/>
            <a:ext cx="6272784" cy="347472"/>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How it is tracked.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Recorded with the 'is blocked by' link type and queried with workItemLinkType in JQL.</a:t>
            </a:r>
            <a:endParaRPr lang="en-US" sz="1300" dirty="0"/>
          </a:p>
        </p:txBody>
      </p:sp>
      <p:sp>
        <p:nvSpPr>
          <p:cNvPr id="45" name="Text 43"/>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46" name="Shape 44"/>
          <p:cNvSpPr/>
          <p:nvPr/>
        </p:nvSpPr>
        <p:spPr>
          <a:xfrm>
            <a:off x="11375136" y="6382512"/>
            <a:ext cx="310896" cy="310896"/>
          </a:xfrm>
          <a:prstGeom prst="ellipse">
            <a:avLst/>
          </a:prstGeom>
          <a:solidFill>
            <a:srgbClr val="EAEEFB"/>
          </a:solidFill>
          <a:ln w="12700">
            <a:solidFill>
              <a:srgbClr val="EAEEFB"/>
            </a:solidFill>
            <a:prstDash val="solid"/>
          </a:ln>
        </p:spPr>
      </p:sp>
      <p:sp>
        <p:nvSpPr>
          <p:cNvPr id="47" name="Text 45"/>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530706"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530706"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ATSL</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The AI Scrum backlog</a:t>
            </a:r>
            <a:endParaRPr lang="en-US" sz="3100" dirty="0"/>
          </a:p>
        </p:txBody>
      </p:sp>
      <p:sp>
        <p:nvSpPr>
          <p:cNvPr id="5" name="Text 3"/>
          <p:cNvSpPr txBox="1"/>
          <p:nvPr/>
        </p:nvSpPr>
        <p:spPr>
          <a:xfrm>
            <a:off x="777240" y="1572768"/>
            <a:ext cx="3657600" cy="274320"/>
          </a:xfrm>
          <a:prstGeom prst="rect">
            <a:avLst/>
          </a:prstGeom>
          <a:noFill/>
          <a:ln/>
        </p:spPr>
        <p:txBody>
          <a:bodyPr wrap="square" lIns="0" tIns="0" rIns="0" bIns="0" rtlCol="0" anchor="ctr"/>
          <a:lstStyle/>
          <a:p>
            <a:pPr indent="0" marL="0">
              <a:buNone/>
            </a:pPr>
            <a:r>
              <a:rPr lang="en-US" sz="1000" b="1" spc="120" kern="0" dirty="0">
                <a:solidFill>
                  <a:srgbClr val="5B6180"/>
                </a:solidFill>
                <a:latin typeface="Calibri" pitchFamily="34" charset="0"/>
                <a:ea typeface="Calibri" pitchFamily="34" charset="-122"/>
                <a:cs typeface="Calibri" pitchFamily="34" charset="-120"/>
              </a:rPr>
              <a:t>KEY</a:t>
            </a:r>
            <a:endParaRPr lang="en-US" sz="1000" dirty="0"/>
          </a:p>
        </p:txBody>
      </p:sp>
      <p:sp>
        <p:nvSpPr>
          <p:cNvPr id="6" name="Text 4"/>
          <p:cNvSpPr txBox="1"/>
          <p:nvPr/>
        </p:nvSpPr>
        <p:spPr>
          <a:xfrm>
            <a:off x="1874520" y="1572768"/>
            <a:ext cx="3657600" cy="274320"/>
          </a:xfrm>
          <a:prstGeom prst="rect">
            <a:avLst/>
          </a:prstGeom>
          <a:noFill/>
          <a:ln/>
        </p:spPr>
        <p:txBody>
          <a:bodyPr wrap="square" lIns="0" tIns="0" rIns="0" bIns="0" rtlCol="0" anchor="ctr"/>
          <a:lstStyle/>
          <a:p>
            <a:pPr indent="0" marL="0">
              <a:buNone/>
            </a:pPr>
            <a:r>
              <a:rPr lang="en-US" sz="1000" b="1" spc="120" kern="0" dirty="0">
                <a:solidFill>
                  <a:srgbClr val="5B6180"/>
                </a:solidFill>
                <a:latin typeface="Calibri" pitchFamily="34" charset="0"/>
                <a:ea typeface="Calibri" pitchFamily="34" charset="-122"/>
                <a:cs typeface="Calibri" pitchFamily="34" charset="-120"/>
              </a:rPr>
              <a:t>USER STORY</a:t>
            </a:r>
            <a:endParaRPr lang="en-US" sz="1000" dirty="0"/>
          </a:p>
        </p:txBody>
      </p:sp>
      <p:sp>
        <p:nvSpPr>
          <p:cNvPr id="7" name="Text 5"/>
          <p:cNvSpPr txBox="1"/>
          <p:nvPr/>
        </p:nvSpPr>
        <p:spPr>
          <a:xfrm>
            <a:off x="5989320" y="1572768"/>
            <a:ext cx="3657600" cy="274320"/>
          </a:xfrm>
          <a:prstGeom prst="rect">
            <a:avLst/>
          </a:prstGeom>
          <a:noFill/>
          <a:ln/>
        </p:spPr>
        <p:txBody>
          <a:bodyPr wrap="square" lIns="0" tIns="0" rIns="0" bIns="0" rtlCol="0" anchor="ctr"/>
          <a:lstStyle/>
          <a:p>
            <a:pPr indent="0" marL="0">
              <a:buNone/>
            </a:pPr>
            <a:r>
              <a:rPr lang="en-US" sz="1000" b="1" spc="120" kern="0" dirty="0">
                <a:solidFill>
                  <a:srgbClr val="5B6180"/>
                </a:solidFill>
                <a:latin typeface="Calibri" pitchFamily="34" charset="0"/>
                <a:ea typeface="Calibri" pitchFamily="34" charset="-122"/>
                <a:cs typeface="Calibri" pitchFamily="34" charset="-120"/>
              </a:rPr>
              <a:t>PTS</a:t>
            </a:r>
            <a:endParaRPr lang="en-US" sz="1000" dirty="0"/>
          </a:p>
        </p:txBody>
      </p:sp>
      <p:sp>
        <p:nvSpPr>
          <p:cNvPr id="8" name="Text 6"/>
          <p:cNvSpPr txBox="1"/>
          <p:nvPr/>
        </p:nvSpPr>
        <p:spPr>
          <a:xfrm>
            <a:off x="6812280" y="1572768"/>
            <a:ext cx="3657600" cy="274320"/>
          </a:xfrm>
          <a:prstGeom prst="rect">
            <a:avLst/>
          </a:prstGeom>
          <a:noFill/>
          <a:ln/>
        </p:spPr>
        <p:txBody>
          <a:bodyPr wrap="square" lIns="0" tIns="0" rIns="0" bIns="0" rtlCol="0" anchor="ctr"/>
          <a:lstStyle/>
          <a:p>
            <a:pPr indent="0" marL="0">
              <a:buNone/>
            </a:pPr>
            <a:r>
              <a:rPr lang="en-US" sz="1000" b="1" spc="120" kern="0" dirty="0">
                <a:solidFill>
                  <a:srgbClr val="5B6180"/>
                </a:solidFill>
                <a:latin typeface="Calibri" pitchFamily="34" charset="0"/>
                <a:ea typeface="Calibri" pitchFamily="34" charset="-122"/>
                <a:cs typeface="Calibri" pitchFamily="34" charset="-120"/>
              </a:rPr>
              <a:t>STATUS</a:t>
            </a:r>
            <a:endParaRPr lang="en-US" sz="1000" dirty="0"/>
          </a:p>
        </p:txBody>
      </p:sp>
      <p:sp>
        <p:nvSpPr>
          <p:cNvPr id="9" name="Shape 7"/>
          <p:cNvSpPr/>
          <p:nvPr/>
        </p:nvSpPr>
        <p:spPr>
          <a:xfrm>
            <a:off x="502920" y="1901952"/>
            <a:ext cx="11183112" cy="603504"/>
          </a:xfrm>
          <a:prstGeom prst="roundRect">
            <a:avLst>
              <a:gd name="adj" fmla="val 9091"/>
            </a:avLst>
          </a:prstGeom>
          <a:solidFill>
            <a:srgbClr val="F3F5FD"/>
          </a:solidFill>
          <a:ln w="12700">
            <a:solidFill>
              <a:srgbClr val="D8DEF2"/>
            </a:solidFill>
            <a:prstDash val="solid"/>
          </a:ln>
        </p:spPr>
      </p:sp>
      <p:sp>
        <p:nvSpPr>
          <p:cNvPr id="10" name="Text 8"/>
          <p:cNvSpPr txBox="1"/>
          <p:nvPr/>
        </p:nvSpPr>
        <p:spPr>
          <a:xfrm>
            <a:off x="777240" y="1901952"/>
            <a:ext cx="1097280" cy="603504"/>
          </a:xfrm>
          <a:prstGeom prst="rect">
            <a:avLst/>
          </a:prstGeom>
          <a:noFill/>
          <a:ln/>
        </p:spPr>
        <p:txBody>
          <a:bodyPr wrap="square" lIns="0" tIns="0" rIns="0" bIns="0" rtlCol="0" anchor="ctr"/>
          <a:lstStyle/>
          <a:p>
            <a:pPr indent="0" marL="0">
              <a:buNone/>
            </a:pPr>
            <a:r>
              <a:rPr lang="en-US" sz="1300" b="1" dirty="0">
                <a:solidFill>
                  <a:srgbClr val="16A34A"/>
                </a:solidFill>
                <a:latin typeface="Calibri" pitchFamily="34" charset="0"/>
                <a:ea typeface="Calibri" pitchFamily="34" charset="-122"/>
                <a:cs typeface="Calibri" pitchFamily="34" charset="-120"/>
              </a:rPr>
              <a:t>ATSL-1</a:t>
            </a:r>
            <a:endParaRPr lang="en-US" sz="1300" dirty="0"/>
          </a:p>
        </p:txBody>
      </p:sp>
      <p:sp>
        <p:nvSpPr>
          <p:cNvPr id="11" name="Text 9"/>
          <p:cNvSpPr txBox="1"/>
          <p:nvPr/>
        </p:nvSpPr>
        <p:spPr>
          <a:xfrm>
            <a:off x="1874520" y="1901952"/>
            <a:ext cx="4023360" cy="603504"/>
          </a:xfrm>
          <a:prstGeom prst="rect">
            <a:avLst/>
          </a:prstGeom>
          <a:noFill/>
          <a:ln/>
        </p:spPr>
        <p:txBody>
          <a:bodyPr wrap="square" lIns="0" tIns="0" rIns="0" bIns="0" rtlCol="0" anchor="ctr"/>
          <a:lstStyle/>
          <a:p>
            <a:pPr indent="0" marL="0">
              <a:buNone/>
            </a:pPr>
            <a:r>
              <a:rPr lang="en-US" sz="1300" dirty="0">
                <a:solidFill>
                  <a:srgbClr val="100B2E"/>
                </a:solidFill>
                <a:latin typeface="Calibri" pitchFamily="34" charset="0"/>
                <a:ea typeface="Calibri" pitchFamily="34" charset="-122"/>
                <a:cs typeface="Calibri" pitchFamily="34" charset="-120"/>
              </a:rPr>
              <a:t>AI ticket classification</a:t>
            </a:r>
            <a:endParaRPr lang="en-US" sz="1300" dirty="0"/>
          </a:p>
        </p:txBody>
      </p:sp>
      <p:sp>
        <p:nvSpPr>
          <p:cNvPr id="12" name="Text 10"/>
          <p:cNvSpPr txBox="1"/>
          <p:nvPr/>
        </p:nvSpPr>
        <p:spPr>
          <a:xfrm>
            <a:off x="5989320" y="1901952"/>
            <a:ext cx="731520" cy="603504"/>
          </a:xfrm>
          <a:prstGeom prst="rect">
            <a:avLst/>
          </a:prstGeom>
          <a:noFill/>
          <a:ln/>
        </p:spPr>
        <p:txBody>
          <a:bodyPr wrap="square" lIns="0" tIns="0" rIns="0" bIns="0" rtlCol="0" anchor="ctr"/>
          <a:lstStyle/>
          <a:p>
            <a:pPr indent="0" marL="0">
              <a:buNone/>
            </a:pPr>
            <a:r>
              <a:rPr lang="en-US" sz="1300" b="1" dirty="0">
                <a:solidFill>
                  <a:srgbClr val="5B6180"/>
                </a:solidFill>
                <a:latin typeface="Calibri" pitchFamily="34" charset="0"/>
                <a:ea typeface="Calibri" pitchFamily="34" charset="-122"/>
                <a:cs typeface="Calibri" pitchFamily="34" charset="-120"/>
              </a:rPr>
              <a:t>5</a:t>
            </a:r>
            <a:endParaRPr lang="en-US" sz="1300" dirty="0"/>
          </a:p>
        </p:txBody>
      </p:sp>
      <p:sp>
        <p:nvSpPr>
          <p:cNvPr id="13" name="Text 11"/>
          <p:cNvSpPr txBox="1"/>
          <p:nvPr/>
        </p:nvSpPr>
        <p:spPr>
          <a:xfrm>
            <a:off x="6812280" y="1901952"/>
            <a:ext cx="4937760" cy="603504"/>
          </a:xfrm>
          <a:prstGeom prst="rect">
            <a:avLst/>
          </a:prstGeom>
          <a:noFill/>
          <a:ln/>
        </p:spPr>
        <p:txBody>
          <a:bodyPr wrap="square" lIns="0" tIns="0" rIns="0" bIns="0" rtlCol="0" anchor="ctr"/>
          <a:lstStyle/>
          <a:p>
            <a:pPr indent="0" marL="0">
              <a:buNone/>
            </a:pPr>
            <a:r>
              <a:rPr lang="en-US" sz="1250" b="1" dirty="0">
                <a:solidFill>
                  <a:srgbClr val="16A34A"/>
                </a:solidFill>
                <a:latin typeface="Calibri" pitchFamily="34" charset="0"/>
                <a:ea typeface="Calibri" pitchFamily="34" charset="-122"/>
                <a:cs typeface="Calibri" pitchFamily="34" charset="-120"/>
              </a:rPr>
              <a:t>Done</a:t>
            </a:r>
            <a:endParaRPr lang="en-US" sz="1250" dirty="0"/>
          </a:p>
        </p:txBody>
      </p:sp>
      <p:sp>
        <p:nvSpPr>
          <p:cNvPr id="14" name="Shape 12"/>
          <p:cNvSpPr/>
          <p:nvPr/>
        </p:nvSpPr>
        <p:spPr>
          <a:xfrm>
            <a:off x="502920" y="2615184"/>
            <a:ext cx="11183112" cy="603504"/>
          </a:xfrm>
          <a:prstGeom prst="roundRect">
            <a:avLst>
              <a:gd name="adj" fmla="val 9091"/>
            </a:avLst>
          </a:prstGeom>
          <a:solidFill>
            <a:srgbClr val="FFFFFF"/>
          </a:solidFill>
          <a:ln w="12700">
            <a:solidFill>
              <a:srgbClr val="D8DEF2"/>
            </a:solidFill>
            <a:prstDash val="solid"/>
          </a:ln>
        </p:spPr>
      </p:sp>
      <p:sp>
        <p:nvSpPr>
          <p:cNvPr id="15" name="Text 13"/>
          <p:cNvSpPr txBox="1"/>
          <p:nvPr/>
        </p:nvSpPr>
        <p:spPr>
          <a:xfrm>
            <a:off x="777240" y="2615184"/>
            <a:ext cx="1097280" cy="603504"/>
          </a:xfrm>
          <a:prstGeom prst="rect">
            <a:avLst/>
          </a:prstGeom>
          <a:noFill/>
          <a:ln/>
        </p:spPr>
        <p:txBody>
          <a:bodyPr wrap="square" lIns="0" tIns="0" rIns="0" bIns="0" rtlCol="0" anchor="ctr"/>
          <a:lstStyle/>
          <a:p>
            <a:pPr indent="0" marL="0">
              <a:buNone/>
            </a:pPr>
            <a:r>
              <a:rPr lang="en-US" sz="1300" b="1" dirty="0">
                <a:solidFill>
                  <a:srgbClr val="F4436C"/>
                </a:solidFill>
                <a:latin typeface="Calibri" pitchFamily="34" charset="0"/>
                <a:ea typeface="Calibri" pitchFamily="34" charset="-122"/>
                <a:cs typeface="Calibri" pitchFamily="34" charset="-120"/>
              </a:rPr>
              <a:t>ATSL-2</a:t>
            </a:r>
            <a:endParaRPr lang="en-US" sz="1300" dirty="0"/>
          </a:p>
        </p:txBody>
      </p:sp>
      <p:sp>
        <p:nvSpPr>
          <p:cNvPr id="16" name="Text 14"/>
          <p:cNvSpPr txBox="1"/>
          <p:nvPr/>
        </p:nvSpPr>
        <p:spPr>
          <a:xfrm>
            <a:off x="1874520" y="2615184"/>
            <a:ext cx="4023360" cy="603504"/>
          </a:xfrm>
          <a:prstGeom prst="rect">
            <a:avLst/>
          </a:prstGeom>
          <a:noFill/>
          <a:ln/>
        </p:spPr>
        <p:txBody>
          <a:bodyPr wrap="square" lIns="0" tIns="0" rIns="0" bIns="0" rtlCol="0" anchor="ctr"/>
          <a:lstStyle/>
          <a:p>
            <a:pPr indent="0" marL="0">
              <a:buNone/>
            </a:pPr>
            <a:r>
              <a:rPr lang="en-US" sz="1300" dirty="0">
                <a:solidFill>
                  <a:srgbClr val="100B2E"/>
                </a:solidFill>
                <a:latin typeface="Calibri" pitchFamily="34" charset="0"/>
                <a:ea typeface="Calibri" pitchFamily="34" charset="-122"/>
                <a:cs typeface="Calibri" pitchFamily="34" charset="-120"/>
              </a:rPr>
              <a:t>AI ticket priority prediction</a:t>
            </a:r>
            <a:endParaRPr lang="en-US" sz="1300" dirty="0"/>
          </a:p>
        </p:txBody>
      </p:sp>
      <p:sp>
        <p:nvSpPr>
          <p:cNvPr id="17" name="Text 15"/>
          <p:cNvSpPr txBox="1"/>
          <p:nvPr/>
        </p:nvSpPr>
        <p:spPr>
          <a:xfrm>
            <a:off x="5989320" y="2615184"/>
            <a:ext cx="731520" cy="603504"/>
          </a:xfrm>
          <a:prstGeom prst="rect">
            <a:avLst/>
          </a:prstGeom>
          <a:noFill/>
          <a:ln/>
        </p:spPr>
        <p:txBody>
          <a:bodyPr wrap="square" lIns="0" tIns="0" rIns="0" bIns="0" rtlCol="0" anchor="ctr"/>
          <a:lstStyle/>
          <a:p>
            <a:pPr indent="0" marL="0">
              <a:buNone/>
            </a:pPr>
            <a:r>
              <a:rPr lang="en-US" sz="1300" b="1" dirty="0">
                <a:solidFill>
                  <a:srgbClr val="5B6180"/>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812280" y="2615184"/>
            <a:ext cx="4937760" cy="603504"/>
          </a:xfrm>
          <a:prstGeom prst="rect">
            <a:avLst/>
          </a:prstGeom>
          <a:noFill/>
          <a:ln/>
        </p:spPr>
        <p:txBody>
          <a:bodyPr wrap="square" lIns="0" tIns="0" rIns="0" bIns="0" rtlCol="0" anchor="ctr"/>
          <a:lstStyle/>
          <a:p>
            <a:pPr indent="0" marL="0">
              <a:buNone/>
            </a:pPr>
            <a:r>
              <a:rPr lang="en-US" sz="1250" b="1" dirty="0">
                <a:solidFill>
                  <a:srgbClr val="F4436C"/>
                </a:solidFill>
                <a:latin typeface="Calibri" pitchFamily="34" charset="0"/>
                <a:ea typeface="Calibri" pitchFamily="34" charset="-122"/>
                <a:cs typeface="Calibri" pitchFamily="34" charset="-120"/>
              </a:rPr>
              <a:t>In Progress · blocked by API risk</a:t>
            </a:r>
            <a:endParaRPr lang="en-US" sz="1250" dirty="0"/>
          </a:p>
        </p:txBody>
      </p:sp>
      <p:sp>
        <p:nvSpPr>
          <p:cNvPr id="19" name="Shape 17"/>
          <p:cNvSpPr/>
          <p:nvPr/>
        </p:nvSpPr>
        <p:spPr>
          <a:xfrm>
            <a:off x="502920" y="3328416"/>
            <a:ext cx="11183112" cy="603504"/>
          </a:xfrm>
          <a:prstGeom prst="roundRect">
            <a:avLst>
              <a:gd name="adj" fmla="val 9091"/>
            </a:avLst>
          </a:prstGeom>
          <a:solidFill>
            <a:srgbClr val="F3F5FD"/>
          </a:solidFill>
          <a:ln w="12700">
            <a:solidFill>
              <a:srgbClr val="D8DEF2"/>
            </a:solidFill>
            <a:prstDash val="solid"/>
          </a:ln>
        </p:spPr>
      </p:sp>
      <p:sp>
        <p:nvSpPr>
          <p:cNvPr id="20" name="Text 18"/>
          <p:cNvSpPr txBox="1"/>
          <p:nvPr/>
        </p:nvSpPr>
        <p:spPr>
          <a:xfrm>
            <a:off x="777240" y="3328416"/>
            <a:ext cx="1097280" cy="603504"/>
          </a:xfrm>
          <a:prstGeom prst="rect">
            <a:avLst/>
          </a:prstGeom>
          <a:noFill/>
          <a:ln/>
        </p:spPr>
        <p:txBody>
          <a:bodyPr wrap="square" lIns="0" tIns="0" rIns="0" bIns="0" rtlCol="0" anchor="ctr"/>
          <a:lstStyle/>
          <a:p>
            <a:pPr indent="0" marL="0">
              <a:buNone/>
            </a:pPr>
            <a:r>
              <a:rPr lang="en-US" sz="1300" b="1" dirty="0">
                <a:solidFill>
                  <a:srgbClr val="1364F4"/>
                </a:solidFill>
                <a:latin typeface="Calibri" pitchFamily="34" charset="0"/>
                <a:ea typeface="Calibri" pitchFamily="34" charset="-122"/>
                <a:cs typeface="Calibri" pitchFamily="34" charset="-120"/>
              </a:rPr>
              <a:t>ATSL-3</a:t>
            </a:r>
            <a:endParaRPr lang="en-US" sz="1300" dirty="0"/>
          </a:p>
        </p:txBody>
      </p:sp>
      <p:sp>
        <p:nvSpPr>
          <p:cNvPr id="21" name="Text 19"/>
          <p:cNvSpPr txBox="1"/>
          <p:nvPr/>
        </p:nvSpPr>
        <p:spPr>
          <a:xfrm>
            <a:off x="1874520" y="3328416"/>
            <a:ext cx="4023360" cy="603504"/>
          </a:xfrm>
          <a:prstGeom prst="rect">
            <a:avLst/>
          </a:prstGeom>
          <a:noFill/>
          <a:ln/>
        </p:spPr>
        <p:txBody>
          <a:bodyPr wrap="square" lIns="0" tIns="0" rIns="0" bIns="0" rtlCol="0" anchor="ctr"/>
          <a:lstStyle/>
          <a:p>
            <a:pPr indent="0" marL="0">
              <a:buNone/>
            </a:pPr>
            <a:r>
              <a:rPr lang="en-US" sz="1300" dirty="0">
                <a:solidFill>
                  <a:srgbClr val="100B2E"/>
                </a:solidFill>
                <a:latin typeface="Calibri" pitchFamily="34" charset="0"/>
                <a:ea typeface="Calibri" pitchFamily="34" charset="-122"/>
                <a:cs typeface="Calibri" pitchFamily="34" charset="-120"/>
              </a:rPr>
              <a:t>AI ticket routing to correct team</a:t>
            </a:r>
            <a:endParaRPr lang="en-US" sz="1300" dirty="0"/>
          </a:p>
        </p:txBody>
      </p:sp>
      <p:sp>
        <p:nvSpPr>
          <p:cNvPr id="22" name="Text 20"/>
          <p:cNvSpPr txBox="1"/>
          <p:nvPr/>
        </p:nvSpPr>
        <p:spPr>
          <a:xfrm>
            <a:off x="5989320" y="3328416"/>
            <a:ext cx="731520" cy="603504"/>
          </a:xfrm>
          <a:prstGeom prst="rect">
            <a:avLst/>
          </a:prstGeom>
          <a:noFill/>
          <a:ln/>
        </p:spPr>
        <p:txBody>
          <a:bodyPr wrap="square" lIns="0" tIns="0" rIns="0" bIns="0" rtlCol="0" anchor="ctr"/>
          <a:lstStyle/>
          <a:p>
            <a:pPr indent="0" marL="0">
              <a:buNone/>
            </a:pPr>
            <a:r>
              <a:rPr lang="en-US" sz="1300" b="1" dirty="0">
                <a:solidFill>
                  <a:srgbClr val="5B6180"/>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6812280" y="3328416"/>
            <a:ext cx="4937760" cy="603504"/>
          </a:xfrm>
          <a:prstGeom prst="rect">
            <a:avLst/>
          </a:prstGeom>
          <a:noFill/>
          <a:ln/>
        </p:spPr>
        <p:txBody>
          <a:bodyPr wrap="square" lIns="0" tIns="0" rIns="0" bIns="0" rtlCol="0" anchor="ctr"/>
          <a:lstStyle/>
          <a:p>
            <a:pPr indent="0" marL="0">
              <a:buNone/>
            </a:pPr>
            <a:r>
              <a:rPr lang="en-US" sz="1250" b="1" dirty="0">
                <a:solidFill>
                  <a:srgbClr val="1364F4"/>
                </a:solidFill>
                <a:latin typeface="Calibri" pitchFamily="34" charset="0"/>
                <a:ea typeface="Calibri" pitchFamily="34" charset="-122"/>
                <a:cs typeface="Calibri" pitchFamily="34" charset="-120"/>
              </a:rPr>
              <a:t>To Do · 4 subtasks</a:t>
            </a:r>
            <a:endParaRPr lang="en-US" sz="1250" dirty="0"/>
          </a:p>
        </p:txBody>
      </p:sp>
      <p:sp>
        <p:nvSpPr>
          <p:cNvPr id="24" name="Shape 22"/>
          <p:cNvSpPr/>
          <p:nvPr/>
        </p:nvSpPr>
        <p:spPr>
          <a:xfrm>
            <a:off x="502920" y="4041648"/>
            <a:ext cx="11183112" cy="603504"/>
          </a:xfrm>
          <a:prstGeom prst="roundRect">
            <a:avLst>
              <a:gd name="adj" fmla="val 9091"/>
            </a:avLst>
          </a:prstGeom>
          <a:solidFill>
            <a:srgbClr val="FFFFFF"/>
          </a:solidFill>
          <a:ln w="12700">
            <a:solidFill>
              <a:srgbClr val="D8DEF2"/>
            </a:solidFill>
            <a:prstDash val="solid"/>
          </a:ln>
        </p:spPr>
      </p:sp>
      <p:sp>
        <p:nvSpPr>
          <p:cNvPr id="25" name="Text 23"/>
          <p:cNvSpPr txBox="1"/>
          <p:nvPr/>
        </p:nvSpPr>
        <p:spPr>
          <a:xfrm>
            <a:off x="777240" y="4041648"/>
            <a:ext cx="1097280" cy="603504"/>
          </a:xfrm>
          <a:prstGeom prst="rect">
            <a:avLst/>
          </a:prstGeom>
          <a:noFill/>
          <a:ln/>
        </p:spPr>
        <p:txBody>
          <a:bodyPr wrap="square" lIns="0" tIns="0" rIns="0" bIns="0" rtlCol="0" anchor="ctr"/>
          <a:lstStyle/>
          <a:p>
            <a:pPr indent="0" marL="0">
              <a:buNone/>
            </a:pPr>
            <a:r>
              <a:rPr lang="en-US" sz="1300" b="1" dirty="0">
                <a:solidFill>
                  <a:srgbClr val="5B6180"/>
                </a:solidFill>
                <a:latin typeface="Calibri" pitchFamily="34" charset="0"/>
                <a:ea typeface="Calibri" pitchFamily="34" charset="-122"/>
                <a:cs typeface="Calibri" pitchFamily="34" charset="-120"/>
              </a:rPr>
              <a:t>ATSL-4</a:t>
            </a:r>
            <a:endParaRPr lang="en-US" sz="1300" dirty="0"/>
          </a:p>
        </p:txBody>
      </p:sp>
      <p:sp>
        <p:nvSpPr>
          <p:cNvPr id="26" name="Text 24"/>
          <p:cNvSpPr txBox="1"/>
          <p:nvPr/>
        </p:nvSpPr>
        <p:spPr>
          <a:xfrm>
            <a:off x="1874520" y="4041648"/>
            <a:ext cx="4023360" cy="603504"/>
          </a:xfrm>
          <a:prstGeom prst="rect">
            <a:avLst/>
          </a:prstGeom>
          <a:noFill/>
          <a:ln/>
        </p:spPr>
        <p:txBody>
          <a:bodyPr wrap="square" lIns="0" tIns="0" rIns="0" bIns="0" rtlCol="0" anchor="ctr"/>
          <a:lstStyle/>
          <a:p>
            <a:pPr indent="0" marL="0">
              <a:buNone/>
            </a:pPr>
            <a:r>
              <a:rPr lang="en-US" sz="1300" dirty="0">
                <a:solidFill>
                  <a:srgbClr val="100B2E"/>
                </a:solidFill>
                <a:latin typeface="Calibri" pitchFamily="34" charset="0"/>
                <a:ea typeface="Calibri" pitchFamily="34" charset="-122"/>
                <a:cs typeface="Calibri" pitchFamily="34" charset="-120"/>
              </a:rPr>
              <a:t>Customer sentiment analysis</a:t>
            </a:r>
            <a:endParaRPr lang="en-US" sz="1300" dirty="0"/>
          </a:p>
        </p:txBody>
      </p:sp>
      <p:sp>
        <p:nvSpPr>
          <p:cNvPr id="27" name="Text 25"/>
          <p:cNvSpPr txBox="1"/>
          <p:nvPr/>
        </p:nvSpPr>
        <p:spPr>
          <a:xfrm>
            <a:off x="5989320" y="4041648"/>
            <a:ext cx="731520" cy="603504"/>
          </a:xfrm>
          <a:prstGeom prst="rect">
            <a:avLst/>
          </a:prstGeom>
          <a:noFill/>
          <a:ln/>
        </p:spPr>
        <p:txBody>
          <a:bodyPr wrap="square" lIns="0" tIns="0" rIns="0" bIns="0" rtlCol="0" anchor="ctr"/>
          <a:lstStyle/>
          <a:p>
            <a:pPr indent="0" marL="0">
              <a:buNone/>
            </a:pPr>
            <a:r>
              <a:rPr lang="en-US" sz="1300" b="1" dirty="0">
                <a:solidFill>
                  <a:srgbClr val="5B6180"/>
                </a:solidFill>
                <a:latin typeface="Calibri" pitchFamily="34" charset="0"/>
                <a:ea typeface="Calibri" pitchFamily="34" charset="-122"/>
                <a:cs typeface="Calibri" pitchFamily="34" charset="-120"/>
              </a:rPr>
              <a:t>—</a:t>
            </a:r>
            <a:endParaRPr lang="en-US" sz="1300" dirty="0"/>
          </a:p>
        </p:txBody>
      </p:sp>
      <p:sp>
        <p:nvSpPr>
          <p:cNvPr id="28" name="Text 26"/>
          <p:cNvSpPr txBox="1"/>
          <p:nvPr/>
        </p:nvSpPr>
        <p:spPr>
          <a:xfrm>
            <a:off x="6812280" y="4041648"/>
            <a:ext cx="4937760" cy="603504"/>
          </a:xfrm>
          <a:prstGeom prst="rect">
            <a:avLst/>
          </a:prstGeom>
          <a:noFill/>
          <a:ln/>
        </p:spPr>
        <p:txBody>
          <a:bodyPr wrap="square" lIns="0" tIns="0" rIns="0" bIns="0" rtlCol="0" anchor="ctr"/>
          <a:lstStyle/>
          <a:p>
            <a:pPr indent="0" marL="0">
              <a:buNone/>
            </a:pPr>
            <a:r>
              <a:rPr lang="en-US" sz="1250" b="1" dirty="0">
                <a:solidFill>
                  <a:srgbClr val="5B6180"/>
                </a:solidFill>
                <a:latin typeface="Calibri" pitchFamily="34" charset="0"/>
                <a:ea typeface="Calibri" pitchFamily="34" charset="-122"/>
                <a:cs typeface="Calibri" pitchFamily="34" charset="-120"/>
              </a:rPr>
              <a:t>Backlog · out of Sprint 1 scope</a:t>
            </a:r>
            <a:endParaRPr lang="en-US" sz="1250" dirty="0"/>
          </a:p>
        </p:txBody>
      </p:sp>
      <p:sp>
        <p:nvSpPr>
          <p:cNvPr id="29" name="Shape 27"/>
          <p:cNvSpPr/>
          <p:nvPr/>
        </p:nvSpPr>
        <p:spPr>
          <a:xfrm>
            <a:off x="502920" y="4892040"/>
            <a:ext cx="11183112" cy="868680"/>
          </a:xfrm>
          <a:prstGeom prst="roundRect">
            <a:avLst>
              <a:gd name="adj" fmla="val 8421"/>
            </a:avLst>
          </a:prstGeom>
          <a:solidFill>
            <a:srgbClr val="FFB01F">
              <a:alpha val="12000"/>
            </a:srgbClr>
          </a:solidFill>
          <a:ln w="12700">
            <a:solidFill>
              <a:srgbClr val="FFB01F">
                <a:alpha val="45000"/>
              </a:srgbClr>
            </a:solidFill>
            <a:prstDash val="solid"/>
          </a:ln>
        </p:spPr>
      </p:sp>
      <p:sp>
        <p:nvSpPr>
          <p:cNvPr id="30" name="Text 28"/>
          <p:cNvSpPr txBox="1"/>
          <p:nvPr/>
        </p:nvSpPr>
        <p:spPr>
          <a:xfrm>
            <a:off x="777240" y="4892040"/>
            <a:ext cx="10634472" cy="868680"/>
          </a:xfrm>
          <a:prstGeom prst="rect">
            <a:avLst/>
          </a:prstGeom>
          <a:noFill/>
          <a:ln/>
        </p:spPr>
        <p:txBody>
          <a:bodyPr wrap="square" lIns="0" tIns="0" rIns="0" bIns="0" rtlCol="0" anchor="ctr"/>
          <a:lstStyle/>
          <a:p>
            <a:pPr indent="0" marL="0">
              <a:lnSpc>
                <a:spcPts val="1800"/>
              </a:lnSpc>
              <a:buNone/>
            </a:pPr>
            <a:r>
              <a:rPr lang="en-US" sz="1350" b="1" dirty="0">
                <a:solidFill>
                  <a:srgbClr val="100B2E"/>
                </a:solidFill>
                <a:latin typeface="Calibri" pitchFamily="34" charset="0"/>
                <a:ea typeface="Calibri" pitchFamily="34" charset="-122"/>
                <a:cs typeface="Calibri" pitchFamily="34" charset="-120"/>
              </a:rPr>
              <a:t>The scope decision.  </a:t>
            </a:r>
            <a:pPr indent="0" marL="0">
              <a:lnSpc>
                <a:spcPts val="1800"/>
              </a:lnSpc>
              <a:buNone/>
            </a:pPr>
            <a:r>
              <a:rPr lang="en-US" sz="1250" dirty="0">
                <a:solidFill>
                  <a:srgbClr val="5B6180"/>
                </a:solidFill>
                <a:latin typeface="Calibri" pitchFamily="34" charset="0"/>
                <a:ea typeface="Calibri" pitchFamily="34" charset="-122"/>
                <a:cs typeface="Calibri" pitchFamily="34" charset="-120"/>
              </a:rPr>
              <a:t>ATSL-4 was written, estimated and then deliberately left out of Sprint 1. Holding it in the backlog is the decision — an unwritten story is not scope control, it is an omission.</a:t>
            </a:r>
            <a:endParaRPr lang="en-US" sz="1350" dirty="0"/>
          </a:p>
        </p:txBody>
      </p:sp>
      <p:sp>
        <p:nvSpPr>
          <p:cNvPr id="31" name="Text 29"/>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32" name="Shape 30"/>
          <p:cNvSpPr/>
          <p:nvPr/>
        </p:nvSpPr>
        <p:spPr>
          <a:xfrm>
            <a:off x="11375136" y="6382512"/>
            <a:ext cx="310896" cy="310896"/>
          </a:xfrm>
          <a:prstGeom prst="ellipse">
            <a:avLst/>
          </a:prstGeom>
          <a:solidFill>
            <a:srgbClr val="EAEEFB"/>
          </a:solidFill>
          <a:ln w="12700">
            <a:solidFill>
              <a:srgbClr val="EAEEFB"/>
            </a:solidFill>
            <a:prstDash val="solid"/>
          </a:ln>
        </p:spPr>
      </p:sp>
      <p:sp>
        <p:nvSpPr>
          <p:cNvPr id="33" name="Text 31"/>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QUALITY</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What makes these user stories usable</a:t>
            </a:r>
            <a:endParaRPr lang="en-US" sz="3100" dirty="0"/>
          </a:p>
        </p:txBody>
      </p:sp>
      <p:sp>
        <p:nvSpPr>
          <p:cNvPr id="5" name="Shape 3"/>
          <p:cNvSpPr/>
          <p:nvPr/>
        </p:nvSpPr>
        <p:spPr>
          <a:xfrm>
            <a:off x="502920" y="1600200"/>
            <a:ext cx="11183112" cy="658368"/>
          </a:xfrm>
          <a:prstGeom prst="roundRect">
            <a:avLst>
              <a:gd name="adj" fmla="val 11111"/>
            </a:avLst>
          </a:prstGeom>
          <a:solidFill>
            <a:srgbClr val="2A1A6E"/>
          </a:solidFill>
          <a:ln w="12700">
            <a:solidFill>
              <a:srgbClr val="2A1A6E"/>
            </a:solidFill>
            <a:prstDash val="solid"/>
          </a:ln>
        </p:spPr>
      </p:sp>
      <p:sp>
        <p:nvSpPr>
          <p:cNvPr id="6" name="Text 4"/>
          <p:cNvSpPr txBox="1"/>
          <p:nvPr/>
        </p:nvSpPr>
        <p:spPr>
          <a:xfrm>
            <a:off x="777240" y="1600200"/>
            <a:ext cx="10634472" cy="658368"/>
          </a:xfrm>
          <a:prstGeom prst="rect">
            <a:avLst/>
          </a:prstGeom>
          <a:noFill/>
          <a:ln/>
        </p:spPr>
        <p:txBody>
          <a:bodyPr wrap="square" lIns="0" tIns="0" rIns="0" bIns="0" rtlCol="0" anchor="ctr"/>
          <a:lstStyle/>
          <a:p>
            <a:pPr indent="0" marL="0">
              <a:buNone/>
            </a:pPr>
            <a:r>
              <a:rPr lang="en-US" sz="1450" i="1" dirty="0">
                <a:solidFill>
                  <a:srgbClr val="FFFFFF"/>
                </a:solidFill>
                <a:latin typeface="Calibri" pitchFamily="34" charset="0"/>
                <a:ea typeface="Calibri" pitchFamily="34" charset="-122"/>
                <a:cs typeface="Calibri" pitchFamily="34" charset="-120"/>
              </a:rPr>
              <a:t>As a Cloud Support Manager, I want AI to predict the priority of incoming support tickets, so that critical issues can be handled faster.</a:t>
            </a:r>
            <a:endParaRPr lang="en-US" sz="1450" dirty="0"/>
          </a:p>
        </p:txBody>
      </p:sp>
      <p:sp>
        <p:nvSpPr>
          <p:cNvPr id="7" name="Text 5"/>
          <p:cNvSpPr txBox="1"/>
          <p:nvPr/>
        </p:nvSpPr>
        <p:spPr>
          <a:xfrm>
            <a:off x="502920" y="2450592"/>
            <a:ext cx="5486400" cy="256032"/>
          </a:xfrm>
          <a:prstGeom prst="rect">
            <a:avLst/>
          </a:prstGeom>
          <a:noFill/>
          <a:ln/>
        </p:spPr>
        <p:txBody>
          <a:bodyPr wrap="square" lIns="0" tIns="0" rIns="0" bIns="0" rtlCol="0" anchor="ctr"/>
          <a:lstStyle/>
          <a:p>
            <a:pPr indent="0" marL="0">
              <a:buNone/>
            </a:pPr>
            <a:r>
              <a:rPr lang="en-US" sz="1000" b="1" spc="120" kern="0" dirty="0">
                <a:solidFill>
                  <a:srgbClr val="5B6180"/>
                </a:solidFill>
                <a:latin typeface="Calibri" pitchFamily="34" charset="0"/>
                <a:ea typeface="Calibri" pitchFamily="34" charset="-122"/>
                <a:cs typeface="Calibri" pitchFamily="34" charset="-120"/>
              </a:rPr>
              <a:t>ACCEPTANCE CRITERIA — ATSL-2</a:t>
            </a:r>
            <a:endParaRPr lang="en-US" sz="1000" dirty="0"/>
          </a:p>
        </p:txBody>
      </p:sp>
      <p:sp>
        <p:nvSpPr>
          <p:cNvPr id="8" name="Shape 6"/>
          <p:cNvSpPr/>
          <p:nvPr/>
        </p:nvSpPr>
        <p:spPr>
          <a:xfrm>
            <a:off x="502920" y="2761488"/>
            <a:ext cx="6675120" cy="438912"/>
          </a:xfrm>
          <a:prstGeom prst="roundRect">
            <a:avLst>
              <a:gd name="adj" fmla="val 16667"/>
            </a:avLst>
          </a:prstGeom>
          <a:solidFill>
            <a:srgbClr val="F3F5FD"/>
          </a:solidFill>
          <a:ln w="12700">
            <a:solidFill>
              <a:srgbClr val="F3F5FD"/>
            </a:solidFill>
            <a:prstDash val="solid"/>
          </a:ln>
        </p:spPr>
      </p:sp>
      <p:sp>
        <p:nvSpPr>
          <p:cNvPr id="9" name="Shape 7"/>
          <p:cNvSpPr/>
          <p:nvPr/>
        </p:nvSpPr>
        <p:spPr>
          <a:xfrm>
            <a:off x="704088" y="2825496"/>
            <a:ext cx="310896" cy="310896"/>
          </a:xfrm>
          <a:prstGeom prst="ellipse">
            <a:avLst/>
          </a:prstGeom>
          <a:solidFill>
            <a:srgbClr val="1364F4"/>
          </a:solidFill>
          <a:ln w="12700">
            <a:solidFill>
              <a:srgbClr val="1364F4"/>
            </a:solidFill>
            <a:prstDash val="solid"/>
          </a:ln>
        </p:spPr>
      </p:sp>
      <p:sp>
        <p:nvSpPr>
          <p:cNvPr id="10" name="Text 8"/>
          <p:cNvSpPr txBox="1"/>
          <p:nvPr/>
        </p:nvSpPr>
        <p:spPr>
          <a:xfrm>
            <a:off x="704088" y="28254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124712" y="2807208"/>
            <a:ext cx="5833872" cy="347472"/>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Identify.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AI identifies Critical, High, Medium or Low priority for every incoming ticket.</a:t>
            </a:r>
            <a:endParaRPr lang="en-US" sz="1300" dirty="0"/>
          </a:p>
        </p:txBody>
      </p:sp>
      <p:sp>
        <p:nvSpPr>
          <p:cNvPr id="12" name="Shape 10"/>
          <p:cNvSpPr/>
          <p:nvPr/>
        </p:nvSpPr>
        <p:spPr>
          <a:xfrm>
            <a:off x="502920" y="3328416"/>
            <a:ext cx="6675120" cy="438912"/>
          </a:xfrm>
          <a:prstGeom prst="roundRect">
            <a:avLst>
              <a:gd name="adj" fmla="val 16667"/>
            </a:avLst>
          </a:prstGeom>
          <a:solidFill>
            <a:srgbClr val="F3F5FD"/>
          </a:solidFill>
          <a:ln w="12700">
            <a:solidFill>
              <a:srgbClr val="F3F5FD"/>
            </a:solidFill>
            <a:prstDash val="solid"/>
          </a:ln>
        </p:spPr>
      </p:sp>
      <p:sp>
        <p:nvSpPr>
          <p:cNvPr id="13" name="Shape 11"/>
          <p:cNvSpPr/>
          <p:nvPr/>
        </p:nvSpPr>
        <p:spPr>
          <a:xfrm>
            <a:off x="704088" y="3392424"/>
            <a:ext cx="310896" cy="310896"/>
          </a:xfrm>
          <a:prstGeom prst="ellipse">
            <a:avLst/>
          </a:prstGeom>
          <a:solidFill>
            <a:srgbClr val="00B3A4"/>
          </a:solidFill>
          <a:ln w="12700">
            <a:solidFill>
              <a:srgbClr val="00B3A4"/>
            </a:solidFill>
            <a:prstDash val="solid"/>
          </a:ln>
        </p:spPr>
      </p:sp>
      <p:sp>
        <p:nvSpPr>
          <p:cNvPr id="14" name="Text 12"/>
          <p:cNvSpPr txBox="1"/>
          <p:nvPr/>
        </p:nvSpPr>
        <p:spPr>
          <a:xfrm>
            <a:off x="704088" y="33924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124712" y="3374136"/>
            <a:ext cx="5833872" cy="347472"/>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Recommend.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AI assigns a priority recommendation rather than silently overwriting the field.</a:t>
            </a:r>
            <a:endParaRPr lang="en-US" sz="1300" dirty="0"/>
          </a:p>
        </p:txBody>
      </p:sp>
      <p:sp>
        <p:nvSpPr>
          <p:cNvPr id="16" name="Shape 14"/>
          <p:cNvSpPr/>
          <p:nvPr/>
        </p:nvSpPr>
        <p:spPr>
          <a:xfrm>
            <a:off x="502920" y="3895344"/>
            <a:ext cx="6675120" cy="438912"/>
          </a:xfrm>
          <a:prstGeom prst="roundRect">
            <a:avLst>
              <a:gd name="adj" fmla="val 16667"/>
            </a:avLst>
          </a:prstGeom>
          <a:solidFill>
            <a:srgbClr val="F3F5FD"/>
          </a:solidFill>
          <a:ln w="12700">
            <a:solidFill>
              <a:srgbClr val="F3F5FD"/>
            </a:solidFill>
            <a:prstDash val="solid"/>
          </a:ln>
        </p:spPr>
      </p:sp>
      <p:sp>
        <p:nvSpPr>
          <p:cNvPr id="17" name="Shape 15"/>
          <p:cNvSpPr/>
          <p:nvPr/>
        </p:nvSpPr>
        <p:spPr>
          <a:xfrm>
            <a:off x="704088" y="3959352"/>
            <a:ext cx="310896" cy="310896"/>
          </a:xfrm>
          <a:prstGeom prst="ellipse">
            <a:avLst/>
          </a:prstGeom>
          <a:solidFill>
            <a:srgbClr val="F4436C"/>
          </a:solidFill>
          <a:ln w="12700">
            <a:solidFill>
              <a:srgbClr val="F4436C"/>
            </a:solidFill>
            <a:prstDash val="solid"/>
          </a:ln>
        </p:spPr>
      </p:sp>
      <p:sp>
        <p:nvSpPr>
          <p:cNvPr id="18" name="Text 16"/>
          <p:cNvSpPr txBox="1"/>
          <p:nvPr/>
        </p:nvSpPr>
        <p:spPr>
          <a:xfrm>
            <a:off x="704088" y="39593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124712" y="3941064"/>
            <a:ext cx="5833872" cy="347472"/>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Review.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The support manager can review and override the recommendation.</a:t>
            </a:r>
            <a:endParaRPr lang="en-US" sz="1300" dirty="0"/>
          </a:p>
        </p:txBody>
      </p:sp>
      <p:sp>
        <p:nvSpPr>
          <p:cNvPr id="20" name="Shape 18"/>
          <p:cNvSpPr/>
          <p:nvPr/>
        </p:nvSpPr>
        <p:spPr>
          <a:xfrm>
            <a:off x="502920" y="4462272"/>
            <a:ext cx="6675120" cy="438912"/>
          </a:xfrm>
          <a:prstGeom prst="roundRect">
            <a:avLst>
              <a:gd name="adj" fmla="val 16667"/>
            </a:avLst>
          </a:prstGeom>
          <a:solidFill>
            <a:srgbClr val="F3F5FD"/>
          </a:solidFill>
          <a:ln w="12700">
            <a:solidFill>
              <a:srgbClr val="F3F5FD"/>
            </a:solidFill>
            <a:prstDash val="solid"/>
          </a:ln>
        </p:spPr>
      </p:sp>
      <p:sp>
        <p:nvSpPr>
          <p:cNvPr id="21" name="Shape 19"/>
          <p:cNvSpPr/>
          <p:nvPr/>
        </p:nvSpPr>
        <p:spPr>
          <a:xfrm>
            <a:off x="704088" y="4526280"/>
            <a:ext cx="310896" cy="310896"/>
          </a:xfrm>
          <a:prstGeom prst="ellipse">
            <a:avLst/>
          </a:prstGeom>
          <a:solidFill>
            <a:srgbClr val="8036F0"/>
          </a:solidFill>
          <a:ln w="12700">
            <a:solidFill>
              <a:srgbClr val="8036F0"/>
            </a:solidFill>
            <a:prstDash val="solid"/>
          </a:ln>
        </p:spPr>
      </p:sp>
      <p:sp>
        <p:nvSpPr>
          <p:cNvPr id="22" name="Text 20"/>
          <p:cNvSpPr txBox="1"/>
          <p:nvPr/>
        </p:nvSpPr>
        <p:spPr>
          <a:xfrm>
            <a:off x="704088" y="45262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124712" y="4507992"/>
            <a:ext cx="5833872" cy="347472"/>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Record.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The priority prediction is recorded against the ticket for later accuracy analysis.</a:t>
            </a:r>
            <a:endParaRPr lang="en-US" sz="1300" dirty="0"/>
          </a:p>
        </p:txBody>
      </p:sp>
      <p:sp>
        <p:nvSpPr>
          <p:cNvPr id="24" name="Shape 22"/>
          <p:cNvSpPr/>
          <p:nvPr/>
        </p:nvSpPr>
        <p:spPr>
          <a:xfrm>
            <a:off x="7406640" y="2761488"/>
            <a:ext cx="4279392" cy="914400"/>
          </a:xfrm>
          <a:prstGeom prst="roundRect">
            <a:avLst>
              <a:gd name="adj" fmla="val 8000"/>
            </a:avLst>
          </a:prstGeom>
          <a:solidFill>
            <a:srgbClr val="FFFFFF"/>
          </a:solidFill>
          <a:ln w="12700">
            <a:solidFill>
              <a:srgbClr val="D8DEF2"/>
            </a:solidFill>
            <a:prstDash val="solid"/>
          </a:ln>
          <a:effectLst>
            <a:outerShdw sx="100000" sy="100000" kx="0" ky="0" algn="bl" rotWithShape="0" blurRad="88900" dist="19050" dir="5400000">
              <a:srgbClr val="8A93C0">
                <a:alpha val="15000"/>
              </a:srgbClr>
            </a:outerShdw>
          </a:effectLst>
        </p:spPr>
      </p:sp>
      <p:sp>
        <p:nvSpPr>
          <p:cNvPr id="25" name="Shape 23"/>
          <p:cNvSpPr/>
          <p:nvPr/>
        </p:nvSpPr>
        <p:spPr>
          <a:xfrm>
            <a:off x="7626096" y="2980944"/>
            <a:ext cx="365760" cy="365760"/>
          </a:xfrm>
          <a:prstGeom prst="ellipse">
            <a:avLst/>
          </a:prstGeom>
          <a:solidFill>
            <a:srgbClr val="1364F4"/>
          </a:solidFill>
          <a:ln w="12700">
            <a:solidFill>
              <a:srgbClr val="1364F4"/>
            </a:solidFill>
            <a:prstDash val="solid"/>
          </a:ln>
        </p:spPr>
      </p:sp>
      <p:sp>
        <p:nvSpPr>
          <p:cNvPr id="26" name="Text 24"/>
          <p:cNvSpPr txBox="1"/>
          <p:nvPr/>
        </p:nvSpPr>
        <p:spPr>
          <a:xfrm>
            <a:off x="7626096" y="29809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7" name="Text 25"/>
          <p:cNvSpPr txBox="1"/>
          <p:nvPr/>
        </p:nvSpPr>
        <p:spPr>
          <a:xfrm>
            <a:off x="8119872" y="2889504"/>
            <a:ext cx="3364992" cy="292608"/>
          </a:xfrm>
          <a:prstGeom prst="rect">
            <a:avLst/>
          </a:prstGeom>
          <a:noFill/>
          <a:ln/>
        </p:spPr>
        <p:txBody>
          <a:bodyPr wrap="square" lIns="0" tIns="0" rIns="0" bIns="0" rtlCol="0" anchor="ctr"/>
          <a:lstStyle/>
          <a:p>
            <a:pPr indent="0" marL="0">
              <a:buNone/>
            </a:pPr>
            <a:r>
              <a:rPr lang="en-US" sz="1400" b="1" dirty="0">
                <a:solidFill>
                  <a:srgbClr val="100B2E"/>
                </a:solidFill>
                <a:latin typeface="Calibri" pitchFamily="34" charset="0"/>
                <a:ea typeface="Calibri" pitchFamily="34" charset="-122"/>
                <a:cs typeface="Calibri" pitchFamily="34" charset="-120"/>
              </a:rPr>
              <a:t>Observable</a:t>
            </a:r>
            <a:endParaRPr lang="en-US" sz="1400" dirty="0"/>
          </a:p>
        </p:txBody>
      </p:sp>
      <p:sp>
        <p:nvSpPr>
          <p:cNvPr id="28" name="Text 26"/>
          <p:cNvSpPr txBox="1"/>
          <p:nvPr/>
        </p:nvSpPr>
        <p:spPr>
          <a:xfrm>
            <a:off x="8119872" y="3182112"/>
            <a:ext cx="3364992" cy="457200"/>
          </a:xfrm>
          <a:prstGeom prst="rect">
            <a:avLst/>
          </a:prstGeom>
          <a:noFill/>
          <a:ln/>
        </p:spPr>
        <p:txBody>
          <a:bodyPr wrap="square" lIns="0" tIns="0" rIns="0" bIns="0" rtlCol="0" anchor="ctr"/>
          <a:lstStyle/>
          <a:p>
            <a:pPr indent="0" marL="0">
              <a:lnSpc>
                <a:spcPts val="1400"/>
              </a:lnSpc>
              <a:buNone/>
            </a:pPr>
            <a:r>
              <a:rPr lang="en-US" sz="1100" dirty="0">
                <a:solidFill>
                  <a:srgbClr val="5B6180"/>
                </a:solidFill>
                <a:latin typeface="Calibri" pitchFamily="34" charset="0"/>
                <a:ea typeface="Calibri" pitchFamily="34" charset="-122"/>
                <a:cs typeface="Calibri" pitchFamily="34" charset="-120"/>
              </a:rPr>
              <a:t>Criteria describe behaviour you can watch happen, not code you have to read.</a:t>
            </a:r>
            <a:endParaRPr lang="en-US" sz="1100" dirty="0"/>
          </a:p>
        </p:txBody>
      </p:sp>
      <p:sp>
        <p:nvSpPr>
          <p:cNvPr id="29" name="Shape 27"/>
          <p:cNvSpPr/>
          <p:nvPr/>
        </p:nvSpPr>
        <p:spPr>
          <a:xfrm>
            <a:off x="7406640" y="3785616"/>
            <a:ext cx="4279392" cy="914400"/>
          </a:xfrm>
          <a:prstGeom prst="roundRect">
            <a:avLst>
              <a:gd name="adj" fmla="val 8000"/>
            </a:avLst>
          </a:prstGeom>
          <a:solidFill>
            <a:srgbClr val="FFFFFF"/>
          </a:solidFill>
          <a:ln w="12700">
            <a:solidFill>
              <a:srgbClr val="D8DEF2"/>
            </a:solidFill>
            <a:prstDash val="solid"/>
          </a:ln>
          <a:effectLst>
            <a:outerShdw sx="100000" sy="100000" kx="0" ky="0" algn="bl" rotWithShape="0" blurRad="88900" dist="19050" dir="5400000">
              <a:srgbClr val="8A93C0">
                <a:alpha val="15000"/>
              </a:srgbClr>
            </a:outerShdw>
          </a:effectLst>
        </p:spPr>
      </p:sp>
      <p:sp>
        <p:nvSpPr>
          <p:cNvPr id="30" name="Shape 28"/>
          <p:cNvSpPr/>
          <p:nvPr/>
        </p:nvSpPr>
        <p:spPr>
          <a:xfrm>
            <a:off x="7626096" y="4005072"/>
            <a:ext cx="365760" cy="365760"/>
          </a:xfrm>
          <a:prstGeom prst="ellipse">
            <a:avLst/>
          </a:prstGeom>
          <a:solidFill>
            <a:srgbClr val="00B3A4"/>
          </a:solidFill>
          <a:ln w="12700">
            <a:solidFill>
              <a:srgbClr val="00B3A4"/>
            </a:solidFill>
            <a:prstDash val="solid"/>
          </a:ln>
        </p:spPr>
      </p:sp>
      <p:sp>
        <p:nvSpPr>
          <p:cNvPr id="31" name="Text 29"/>
          <p:cNvSpPr txBox="1"/>
          <p:nvPr/>
        </p:nvSpPr>
        <p:spPr>
          <a:xfrm>
            <a:off x="7626096" y="40050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2" name="Text 30"/>
          <p:cNvSpPr txBox="1"/>
          <p:nvPr/>
        </p:nvSpPr>
        <p:spPr>
          <a:xfrm>
            <a:off x="8119872" y="3913632"/>
            <a:ext cx="3364992" cy="292608"/>
          </a:xfrm>
          <a:prstGeom prst="rect">
            <a:avLst/>
          </a:prstGeom>
          <a:noFill/>
          <a:ln/>
        </p:spPr>
        <p:txBody>
          <a:bodyPr wrap="square" lIns="0" tIns="0" rIns="0" bIns="0" rtlCol="0" anchor="ctr"/>
          <a:lstStyle/>
          <a:p>
            <a:pPr indent="0" marL="0">
              <a:buNone/>
            </a:pPr>
            <a:r>
              <a:rPr lang="en-US" sz="1400" b="1" dirty="0">
                <a:solidFill>
                  <a:srgbClr val="100B2E"/>
                </a:solidFill>
                <a:latin typeface="Calibri" pitchFamily="34" charset="0"/>
                <a:ea typeface="Calibri" pitchFamily="34" charset="-122"/>
                <a:cs typeface="Calibri" pitchFamily="34" charset="-120"/>
              </a:rPr>
              <a:t>Testable</a:t>
            </a:r>
            <a:endParaRPr lang="en-US" sz="1400" dirty="0"/>
          </a:p>
        </p:txBody>
      </p:sp>
      <p:sp>
        <p:nvSpPr>
          <p:cNvPr id="33" name="Text 31"/>
          <p:cNvSpPr txBox="1"/>
          <p:nvPr/>
        </p:nvSpPr>
        <p:spPr>
          <a:xfrm>
            <a:off x="8119872" y="4206240"/>
            <a:ext cx="3364992" cy="457200"/>
          </a:xfrm>
          <a:prstGeom prst="rect">
            <a:avLst/>
          </a:prstGeom>
          <a:noFill/>
          <a:ln/>
        </p:spPr>
        <p:txBody>
          <a:bodyPr wrap="square" lIns="0" tIns="0" rIns="0" bIns="0" rtlCol="0" anchor="ctr"/>
          <a:lstStyle/>
          <a:p>
            <a:pPr indent="0" marL="0">
              <a:lnSpc>
                <a:spcPts val="1400"/>
              </a:lnSpc>
              <a:buNone/>
            </a:pPr>
            <a:r>
              <a:rPr lang="en-US" sz="1100" dirty="0">
                <a:solidFill>
                  <a:srgbClr val="5B6180"/>
                </a:solidFill>
                <a:latin typeface="Calibri" pitchFamily="34" charset="0"/>
                <a:ea typeface="Calibri" pitchFamily="34" charset="-122"/>
                <a:cs typeface="Calibri" pitchFamily="34" charset="-120"/>
              </a:rPr>
              <a:t>QA can turn each line into a test case without asking a follow-up question.</a:t>
            </a:r>
            <a:endParaRPr lang="en-US" sz="1100" dirty="0"/>
          </a:p>
        </p:txBody>
      </p:sp>
      <p:sp>
        <p:nvSpPr>
          <p:cNvPr id="34" name="Shape 32"/>
          <p:cNvSpPr/>
          <p:nvPr/>
        </p:nvSpPr>
        <p:spPr>
          <a:xfrm>
            <a:off x="7406640" y="4809744"/>
            <a:ext cx="4279392" cy="914400"/>
          </a:xfrm>
          <a:prstGeom prst="roundRect">
            <a:avLst>
              <a:gd name="adj" fmla="val 8000"/>
            </a:avLst>
          </a:prstGeom>
          <a:solidFill>
            <a:srgbClr val="FFFFFF"/>
          </a:solidFill>
          <a:ln w="12700">
            <a:solidFill>
              <a:srgbClr val="D8DEF2"/>
            </a:solidFill>
            <a:prstDash val="solid"/>
          </a:ln>
          <a:effectLst>
            <a:outerShdw sx="100000" sy="100000" kx="0" ky="0" algn="bl" rotWithShape="0" blurRad="88900" dist="19050" dir="5400000">
              <a:srgbClr val="8A93C0">
                <a:alpha val="15000"/>
              </a:srgbClr>
            </a:outerShdw>
          </a:effectLst>
        </p:spPr>
      </p:sp>
      <p:sp>
        <p:nvSpPr>
          <p:cNvPr id="35" name="Shape 33"/>
          <p:cNvSpPr/>
          <p:nvPr/>
        </p:nvSpPr>
        <p:spPr>
          <a:xfrm>
            <a:off x="7626096" y="5029200"/>
            <a:ext cx="365760" cy="365760"/>
          </a:xfrm>
          <a:prstGeom prst="ellipse">
            <a:avLst/>
          </a:prstGeom>
          <a:solidFill>
            <a:srgbClr val="F4436C"/>
          </a:solidFill>
          <a:ln w="12700">
            <a:solidFill>
              <a:srgbClr val="F4436C"/>
            </a:solidFill>
            <a:prstDash val="solid"/>
          </a:ln>
        </p:spPr>
      </p:sp>
      <p:sp>
        <p:nvSpPr>
          <p:cNvPr id="36" name="Text 34"/>
          <p:cNvSpPr txBox="1"/>
          <p:nvPr/>
        </p:nvSpPr>
        <p:spPr>
          <a:xfrm>
            <a:off x="7626096" y="50292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7" name="Text 35"/>
          <p:cNvSpPr txBox="1"/>
          <p:nvPr/>
        </p:nvSpPr>
        <p:spPr>
          <a:xfrm>
            <a:off x="8119872" y="4937760"/>
            <a:ext cx="3364992" cy="292608"/>
          </a:xfrm>
          <a:prstGeom prst="rect">
            <a:avLst/>
          </a:prstGeom>
          <a:noFill/>
          <a:ln/>
        </p:spPr>
        <p:txBody>
          <a:bodyPr wrap="square" lIns="0" tIns="0" rIns="0" bIns="0" rtlCol="0" anchor="ctr"/>
          <a:lstStyle/>
          <a:p>
            <a:pPr indent="0" marL="0">
              <a:buNone/>
            </a:pPr>
            <a:r>
              <a:rPr lang="en-US" sz="1400" b="1" dirty="0">
                <a:solidFill>
                  <a:srgbClr val="100B2E"/>
                </a:solidFill>
                <a:latin typeface="Calibri" pitchFamily="34" charset="0"/>
                <a:ea typeface="Calibri" pitchFamily="34" charset="-122"/>
                <a:cs typeface="Calibri" pitchFamily="34" charset="-120"/>
              </a:rPr>
              <a:t>Shared</a:t>
            </a:r>
            <a:endParaRPr lang="en-US" sz="1400" dirty="0"/>
          </a:p>
        </p:txBody>
      </p:sp>
      <p:sp>
        <p:nvSpPr>
          <p:cNvPr id="38" name="Text 36"/>
          <p:cNvSpPr txBox="1"/>
          <p:nvPr/>
        </p:nvSpPr>
        <p:spPr>
          <a:xfrm>
            <a:off x="8119872" y="5230368"/>
            <a:ext cx="3364992" cy="457200"/>
          </a:xfrm>
          <a:prstGeom prst="rect">
            <a:avLst/>
          </a:prstGeom>
          <a:noFill/>
          <a:ln/>
        </p:spPr>
        <p:txBody>
          <a:bodyPr wrap="square" lIns="0" tIns="0" rIns="0" bIns="0" rtlCol="0" anchor="ctr"/>
          <a:lstStyle/>
          <a:p>
            <a:pPr indent="0" marL="0">
              <a:lnSpc>
                <a:spcPts val="1400"/>
              </a:lnSpc>
              <a:buNone/>
            </a:pPr>
            <a:r>
              <a:rPr lang="en-US" sz="1100" dirty="0">
                <a:solidFill>
                  <a:srgbClr val="5B6180"/>
                </a:solidFill>
                <a:latin typeface="Calibri" pitchFamily="34" charset="0"/>
                <a:ea typeface="Calibri" pitchFamily="34" charset="-122"/>
                <a:cs typeface="Calibri" pitchFamily="34" charset="-120"/>
              </a:rPr>
              <a:t>Engineering, QA and Product hold the same definition of done before work starts.</a:t>
            </a:r>
            <a:endParaRPr lang="en-US" sz="1100" dirty="0"/>
          </a:p>
        </p:txBody>
      </p:sp>
      <p:sp>
        <p:nvSpPr>
          <p:cNvPr id="39" name="Text 37"/>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40" name="Shape 38"/>
          <p:cNvSpPr/>
          <p:nvPr/>
        </p:nvSpPr>
        <p:spPr>
          <a:xfrm>
            <a:off x="11375136" y="6382512"/>
            <a:ext cx="310896" cy="310896"/>
          </a:xfrm>
          <a:prstGeom prst="ellipse">
            <a:avLst/>
          </a:prstGeom>
          <a:solidFill>
            <a:srgbClr val="EAEEFB"/>
          </a:solidFill>
          <a:ln w="12700">
            <a:solidFill>
              <a:srgbClr val="EAEEFB"/>
            </a:solidFill>
            <a:prstDash val="solid"/>
          </a:ln>
        </p:spPr>
      </p:sp>
      <p:sp>
        <p:nvSpPr>
          <p:cNvPr id="41" name="Text 39"/>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889150"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88915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PLANNING</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Sprint planning and commitment</a:t>
            </a:r>
            <a:endParaRPr lang="en-US" sz="3100" dirty="0"/>
          </a:p>
        </p:txBody>
      </p:sp>
      <p:sp>
        <p:nvSpPr>
          <p:cNvPr id="5" name="Shape 3"/>
          <p:cNvSpPr/>
          <p:nvPr/>
        </p:nvSpPr>
        <p:spPr>
          <a:xfrm>
            <a:off x="502920" y="1600200"/>
            <a:ext cx="1499616" cy="1325880"/>
          </a:xfrm>
          <a:prstGeom prst="roundRect">
            <a:avLst>
              <a:gd name="adj" fmla="val 5517"/>
            </a:avLst>
          </a:prstGeom>
          <a:solidFill>
            <a:srgbClr val="1364F4">
              <a:alpha val="10000"/>
            </a:srgbClr>
          </a:solidFill>
          <a:ln w="12700">
            <a:solidFill>
              <a:srgbClr val="1364F4">
                <a:alpha val="40000"/>
              </a:srgbClr>
            </a:solidFill>
            <a:prstDash val="solid"/>
          </a:ln>
        </p:spPr>
      </p:sp>
      <p:sp>
        <p:nvSpPr>
          <p:cNvPr id="6" name="Text 4"/>
          <p:cNvSpPr txBox="1"/>
          <p:nvPr/>
        </p:nvSpPr>
        <p:spPr>
          <a:xfrm>
            <a:off x="502920" y="1764792"/>
            <a:ext cx="1499616" cy="689458"/>
          </a:xfrm>
          <a:prstGeom prst="rect">
            <a:avLst/>
          </a:prstGeom>
          <a:noFill/>
          <a:ln/>
        </p:spPr>
        <p:txBody>
          <a:bodyPr wrap="square" lIns="0" tIns="0" rIns="0" bIns="0" rtlCol="0" anchor="ctr"/>
          <a:lstStyle/>
          <a:p>
            <a:pPr algn="ctr" indent="0" marL="0">
              <a:buNone/>
            </a:pPr>
            <a:r>
              <a:rPr lang="en-US" sz="4000" b="1" dirty="0">
                <a:solidFill>
                  <a:srgbClr val="1364F4"/>
                </a:solidFill>
                <a:latin typeface="Calibri" pitchFamily="34" charset="0"/>
                <a:ea typeface="Calibri" pitchFamily="34" charset="-122"/>
                <a:cs typeface="Calibri" pitchFamily="34" charset="-120"/>
              </a:rPr>
              <a:t>13</a:t>
            </a:r>
            <a:endParaRPr lang="en-US" sz="4000" dirty="0"/>
          </a:p>
        </p:txBody>
      </p:sp>
      <p:sp>
        <p:nvSpPr>
          <p:cNvPr id="7" name="Text 5"/>
          <p:cNvSpPr txBox="1"/>
          <p:nvPr/>
        </p:nvSpPr>
        <p:spPr>
          <a:xfrm>
            <a:off x="612648" y="2369210"/>
            <a:ext cx="1280160" cy="477317"/>
          </a:xfrm>
          <a:prstGeom prst="rect">
            <a:avLst/>
          </a:prstGeom>
          <a:noFill/>
          <a:ln/>
        </p:spPr>
        <p:txBody>
          <a:bodyPr wrap="square" lIns="0" tIns="0" rIns="0" bIns="0" rtlCol="0" anchor="t"/>
          <a:lstStyle/>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story points committed</a:t>
            </a:r>
            <a:endParaRPr lang="en-US" sz="1150" dirty="0"/>
          </a:p>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to Sprint 1</a:t>
            </a:r>
            <a:endParaRPr lang="en-US" sz="1150" dirty="0"/>
          </a:p>
        </p:txBody>
      </p:sp>
      <p:sp>
        <p:nvSpPr>
          <p:cNvPr id="8" name="Shape 6"/>
          <p:cNvSpPr/>
          <p:nvPr/>
        </p:nvSpPr>
        <p:spPr>
          <a:xfrm>
            <a:off x="2258568" y="1600200"/>
            <a:ext cx="1499616" cy="1325880"/>
          </a:xfrm>
          <a:prstGeom prst="roundRect">
            <a:avLst>
              <a:gd name="adj" fmla="val 5517"/>
            </a:avLst>
          </a:prstGeom>
          <a:solidFill>
            <a:srgbClr val="00B3A4">
              <a:alpha val="10000"/>
            </a:srgbClr>
          </a:solidFill>
          <a:ln w="12700">
            <a:solidFill>
              <a:srgbClr val="00B3A4">
                <a:alpha val="40000"/>
              </a:srgbClr>
            </a:solidFill>
            <a:prstDash val="solid"/>
          </a:ln>
        </p:spPr>
      </p:sp>
      <p:sp>
        <p:nvSpPr>
          <p:cNvPr id="9" name="Text 7"/>
          <p:cNvSpPr txBox="1"/>
          <p:nvPr/>
        </p:nvSpPr>
        <p:spPr>
          <a:xfrm>
            <a:off x="2258568" y="1764792"/>
            <a:ext cx="1499616" cy="689458"/>
          </a:xfrm>
          <a:prstGeom prst="rect">
            <a:avLst/>
          </a:prstGeom>
          <a:noFill/>
          <a:ln/>
        </p:spPr>
        <p:txBody>
          <a:bodyPr wrap="square" lIns="0" tIns="0" rIns="0" bIns="0" rtlCol="0" anchor="ctr"/>
          <a:lstStyle/>
          <a:p>
            <a:pPr algn="ctr" indent="0" marL="0">
              <a:buNone/>
            </a:pPr>
            <a:r>
              <a:rPr lang="en-US" sz="4000" b="1" dirty="0">
                <a:solidFill>
                  <a:srgbClr val="00B3A4"/>
                </a:solidFill>
                <a:latin typeface="Calibri" pitchFamily="34" charset="0"/>
                <a:ea typeface="Calibri" pitchFamily="34" charset="-122"/>
                <a:cs typeface="Calibri" pitchFamily="34" charset="-120"/>
              </a:rPr>
              <a:t>3</a:t>
            </a:r>
            <a:endParaRPr lang="en-US" sz="4000" dirty="0"/>
          </a:p>
        </p:txBody>
      </p:sp>
      <p:sp>
        <p:nvSpPr>
          <p:cNvPr id="10" name="Text 8"/>
          <p:cNvSpPr txBox="1"/>
          <p:nvPr/>
        </p:nvSpPr>
        <p:spPr>
          <a:xfrm>
            <a:off x="2368296" y="2369210"/>
            <a:ext cx="1280160" cy="477317"/>
          </a:xfrm>
          <a:prstGeom prst="rect">
            <a:avLst/>
          </a:prstGeom>
          <a:noFill/>
          <a:ln/>
        </p:spPr>
        <p:txBody>
          <a:bodyPr wrap="square" lIns="0" tIns="0" rIns="0" bIns="0" rtlCol="0" anchor="t"/>
          <a:lstStyle/>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stories pulled into</a:t>
            </a:r>
            <a:endParaRPr lang="en-US" sz="1150" dirty="0"/>
          </a:p>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the sprint</a:t>
            </a:r>
            <a:endParaRPr lang="en-US" sz="1150" dirty="0"/>
          </a:p>
        </p:txBody>
      </p:sp>
      <p:sp>
        <p:nvSpPr>
          <p:cNvPr id="11" name="Shape 9"/>
          <p:cNvSpPr/>
          <p:nvPr/>
        </p:nvSpPr>
        <p:spPr>
          <a:xfrm>
            <a:off x="4014216" y="1600200"/>
            <a:ext cx="1499616" cy="1325880"/>
          </a:xfrm>
          <a:prstGeom prst="roundRect">
            <a:avLst>
              <a:gd name="adj" fmla="val 5517"/>
            </a:avLst>
          </a:prstGeom>
          <a:solidFill>
            <a:srgbClr val="F4436C">
              <a:alpha val="10000"/>
            </a:srgbClr>
          </a:solidFill>
          <a:ln w="12700">
            <a:solidFill>
              <a:srgbClr val="F4436C">
                <a:alpha val="40000"/>
              </a:srgbClr>
            </a:solidFill>
            <a:prstDash val="solid"/>
          </a:ln>
        </p:spPr>
      </p:sp>
      <p:sp>
        <p:nvSpPr>
          <p:cNvPr id="12" name="Text 10"/>
          <p:cNvSpPr txBox="1"/>
          <p:nvPr/>
        </p:nvSpPr>
        <p:spPr>
          <a:xfrm>
            <a:off x="4014216" y="1764792"/>
            <a:ext cx="1499616" cy="689458"/>
          </a:xfrm>
          <a:prstGeom prst="rect">
            <a:avLst/>
          </a:prstGeom>
          <a:noFill/>
          <a:ln/>
        </p:spPr>
        <p:txBody>
          <a:bodyPr wrap="square" lIns="0" tIns="0" rIns="0" bIns="0" rtlCol="0" anchor="ctr"/>
          <a:lstStyle/>
          <a:p>
            <a:pPr algn="ctr" indent="0" marL="0">
              <a:buNone/>
            </a:pPr>
            <a:r>
              <a:rPr lang="en-US" sz="4000" b="1" dirty="0">
                <a:solidFill>
                  <a:srgbClr val="F4436C"/>
                </a:solidFill>
                <a:latin typeface="Calibri" pitchFamily="34" charset="0"/>
                <a:ea typeface="Calibri" pitchFamily="34" charset="-122"/>
                <a:cs typeface="Calibri" pitchFamily="34" charset="-120"/>
              </a:rPr>
              <a:t>2</a:t>
            </a:r>
            <a:endParaRPr lang="en-US" sz="4000" dirty="0"/>
          </a:p>
        </p:txBody>
      </p:sp>
      <p:sp>
        <p:nvSpPr>
          <p:cNvPr id="13" name="Text 11"/>
          <p:cNvSpPr txBox="1"/>
          <p:nvPr/>
        </p:nvSpPr>
        <p:spPr>
          <a:xfrm>
            <a:off x="4123944" y="2369210"/>
            <a:ext cx="1280160" cy="477317"/>
          </a:xfrm>
          <a:prstGeom prst="rect">
            <a:avLst/>
          </a:prstGeom>
          <a:noFill/>
          <a:ln/>
        </p:spPr>
        <p:txBody>
          <a:bodyPr wrap="square" lIns="0" tIns="0" rIns="0" bIns="0" rtlCol="0" anchor="t"/>
          <a:lstStyle/>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week sprint</a:t>
            </a:r>
            <a:endParaRPr lang="en-US" sz="1150" dirty="0"/>
          </a:p>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duration</a:t>
            </a:r>
            <a:endParaRPr lang="en-US" sz="1150" dirty="0"/>
          </a:p>
        </p:txBody>
      </p:sp>
      <p:sp>
        <p:nvSpPr>
          <p:cNvPr id="14" name="Shape 12"/>
          <p:cNvSpPr/>
          <p:nvPr/>
        </p:nvSpPr>
        <p:spPr>
          <a:xfrm>
            <a:off x="5769864" y="1600200"/>
            <a:ext cx="1499616" cy="1325880"/>
          </a:xfrm>
          <a:prstGeom prst="roundRect">
            <a:avLst>
              <a:gd name="adj" fmla="val 5517"/>
            </a:avLst>
          </a:prstGeom>
          <a:solidFill>
            <a:srgbClr val="00B3A4">
              <a:alpha val="10000"/>
            </a:srgbClr>
          </a:solidFill>
          <a:ln w="12700">
            <a:solidFill>
              <a:srgbClr val="00B3A4">
                <a:alpha val="40000"/>
              </a:srgbClr>
            </a:solidFill>
            <a:prstDash val="solid"/>
          </a:ln>
        </p:spPr>
      </p:sp>
      <p:sp>
        <p:nvSpPr>
          <p:cNvPr id="15" name="Text 13"/>
          <p:cNvSpPr txBox="1"/>
          <p:nvPr/>
        </p:nvSpPr>
        <p:spPr>
          <a:xfrm>
            <a:off x="5769864" y="1764792"/>
            <a:ext cx="1499616" cy="689458"/>
          </a:xfrm>
          <a:prstGeom prst="rect">
            <a:avLst/>
          </a:prstGeom>
          <a:noFill/>
          <a:ln/>
        </p:spPr>
        <p:txBody>
          <a:bodyPr wrap="square" lIns="0" tIns="0" rIns="0" bIns="0" rtlCol="0" anchor="ctr"/>
          <a:lstStyle/>
          <a:p>
            <a:pPr algn="ctr" indent="0" marL="0">
              <a:buNone/>
            </a:pPr>
            <a:r>
              <a:rPr lang="en-US" sz="4000" b="1" dirty="0">
                <a:solidFill>
                  <a:srgbClr val="00B3A4"/>
                </a:solidFill>
                <a:latin typeface="Calibri" pitchFamily="34" charset="0"/>
                <a:ea typeface="Calibri" pitchFamily="34" charset="-122"/>
                <a:cs typeface="Calibri" pitchFamily="34" charset="-120"/>
              </a:rPr>
              <a:t>1</a:t>
            </a:r>
            <a:endParaRPr lang="en-US" sz="4000" dirty="0"/>
          </a:p>
        </p:txBody>
      </p:sp>
      <p:sp>
        <p:nvSpPr>
          <p:cNvPr id="16" name="Text 14"/>
          <p:cNvSpPr txBox="1"/>
          <p:nvPr/>
        </p:nvSpPr>
        <p:spPr>
          <a:xfrm>
            <a:off x="5879592" y="2369210"/>
            <a:ext cx="1280160" cy="477317"/>
          </a:xfrm>
          <a:prstGeom prst="rect">
            <a:avLst/>
          </a:prstGeom>
          <a:noFill/>
          <a:ln/>
        </p:spPr>
        <p:txBody>
          <a:bodyPr wrap="square" lIns="0" tIns="0" rIns="0" bIns="0" rtlCol="0" anchor="t"/>
          <a:lstStyle/>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sprint goal, stated</a:t>
            </a:r>
            <a:endParaRPr lang="en-US" sz="1150" dirty="0"/>
          </a:p>
          <a:p>
            <a:pPr algn="ctr" indent="0" marL="0">
              <a:lnSpc>
                <a:spcPts val="1500"/>
              </a:lnSpc>
              <a:buNone/>
            </a:pPr>
            <a:r>
              <a:rPr lang="en-US" sz="1150" dirty="0">
                <a:solidFill>
                  <a:srgbClr val="100B2E"/>
                </a:solidFill>
                <a:latin typeface="Calibri" pitchFamily="34" charset="0"/>
                <a:ea typeface="Calibri" pitchFamily="34" charset="-122"/>
                <a:cs typeface="Calibri" pitchFamily="34" charset="-120"/>
              </a:rPr>
              <a:t>before work began</a:t>
            </a:r>
            <a:endParaRPr lang="en-US" sz="1150" dirty="0"/>
          </a:p>
        </p:txBody>
      </p:sp>
      <p:sp>
        <p:nvSpPr>
          <p:cNvPr id="17" name="Shape 15"/>
          <p:cNvSpPr/>
          <p:nvPr/>
        </p:nvSpPr>
        <p:spPr>
          <a:xfrm>
            <a:off x="7452360" y="1600200"/>
            <a:ext cx="4233672" cy="1325880"/>
          </a:xfrm>
          <a:prstGeom prst="roundRect">
            <a:avLst>
              <a:gd name="adj" fmla="val 5517"/>
            </a:avLst>
          </a:prstGeom>
          <a:solidFill>
            <a:srgbClr val="00B3A4">
              <a:alpha val="12000"/>
            </a:srgbClr>
          </a:solidFill>
          <a:ln w="12700">
            <a:solidFill>
              <a:srgbClr val="00B3A4">
                <a:alpha val="50000"/>
              </a:srgbClr>
            </a:solidFill>
            <a:prstDash val="solid"/>
          </a:ln>
        </p:spPr>
      </p:sp>
      <p:sp>
        <p:nvSpPr>
          <p:cNvPr id="18" name="Text 16"/>
          <p:cNvSpPr txBox="1"/>
          <p:nvPr/>
        </p:nvSpPr>
        <p:spPr>
          <a:xfrm>
            <a:off x="7680960" y="1600200"/>
            <a:ext cx="3822192" cy="1325880"/>
          </a:xfrm>
          <a:prstGeom prst="rect">
            <a:avLst/>
          </a:prstGeom>
          <a:noFill/>
          <a:ln/>
        </p:spPr>
        <p:txBody>
          <a:bodyPr wrap="square" lIns="0" tIns="0" rIns="0" bIns="0" rtlCol="0" anchor="ctr"/>
          <a:lstStyle/>
          <a:p>
            <a:pPr indent="0" marL="0">
              <a:lnSpc>
                <a:spcPts val="1800"/>
              </a:lnSpc>
              <a:buNone/>
            </a:pPr>
            <a:r>
              <a:rPr lang="en-US" sz="1000" b="1" spc="120" kern="0" dirty="0">
                <a:solidFill>
                  <a:srgbClr val="5B6180"/>
                </a:solidFill>
                <a:latin typeface="Calibri" pitchFamily="34" charset="0"/>
                <a:ea typeface="Calibri" pitchFamily="34" charset="-122"/>
                <a:cs typeface="Calibri" pitchFamily="34" charset="-120"/>
              </a:rPr>
              <a:t>SPRINT 1 GOAL
</a:t>
            </a:r>
            <a:pPr indent="0" marL="0">
              <a:lnSpc>
                <a:spcPts val="1800"/>
              </a:lnSpc>
              <a:buNone/>
            </a:pPr>
            <a:r>
              <a:rPr lang="en-US" sz="1300" dirty="0">
                <a:solidFill>
                  <a:srgbClr val="100B2E"/>
                </a:solidFill>
                <a:latin typeface="Calibri" pitchFamily="34" charset="0"/>
                <a:ea typeface="Calibri" pitchFamily="34" charset="-122"/>
                <a:cs typeface="Calibri" pitchFamily="34" charset="-120"/>
              </a:rPr>
              <a:t>Deliver core AI-powered support-ticket triage: classification, priority prediction and automatic routing.</a:t>
            </a:r>
            <a:endParaRPr lang="en-US" sz="1000" dirty="0"/>
          </a:p>
        </p:txBody>
      </p:sp>
      <p:sp>
        <p:nvSpPr>
          <p:cNvPr id="19" name="Shape 17"/>
          <p:cNvSpPr/>
          <p:nvPr/>
        </p:nvSpPr>
        <p:spPr>
          <a:xfrm>
            <a:off x="502920" y="3127248"/>
            <a:ext cx="11183112" cy="420624"/>
          </a:xfrm>
          <a:prstGeom prst="roundRect">
            <a:avLst>
              <a:gd name="adj" fmla="val 17391"/>
            </a:avLst>
          </a:prstGeom>
          <a:solidFill>
            <a:srgbClr val="F3F5FD"/>
          </a:solidFill>
          <a:ln w="12700">
            <a:solidFill>
              <a:srgbClr val="F3F5FD"/>
            </a:solidFill>
            <a:prstDash val="solid"/>
          </a:ln>
        </p:spPr>
      </p:sp>
      <p:sp>
        <p:nvSpPr>
          <p:cNvPr id="20" name="Shape 18"/>
          <p:cNvSpPr/>
          <p:nvPr/>
        </p:nvSpPr>
        <p:spPr>
          <a:xfrm>
            <a:off x="704088" y="3182112"/>
            <a:ext cx="310896" cy="310896"/>
          </a:xfrm>
          <a:prstGeom prst="ellipse">
            <a:avLst/>
          </a:prstGeom>
          <a:solidFill>
            <a:srgbClr val="1364F4"/>
          </a:solidFill>
          <a:ln w="12700">
            <a:solidFill>
              <a:srgbClr val="1364F4"/>
            </a:solidFill>
            <a:prstDash val="solid"/>
          </a:ln>
        </p:spPr>
      </p:sp>
      <p:sp>
        <p:nvSpPr>
          <p:cNvPr id="21" name="Text 19"/>
          <p:cNvSpPr txBox="1"/>
          <p:nvPr/>
        </p:nvSpPr>
        <p:spPr>
          <a:xfrm>
            <a:off x="704088" y="31821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txBox="1"/>
          <p:nvPr/>
        </p:nvSpPr>
        <p:spPr>
          <a:xfrm>
            <a:off x="1124712" y="3172968"/>
            <a:ext cx="10341864" cy="32918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Capacity before content.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Commitment was sized against a two-week window, not against how much work existed.</a:t>
            </a:r>
            <a:endParaRPr lang="en-US" sz="1300" dirty="0"/>
          </a:p>
        </p:txBody>
      </p:sp>
      <p:sp>
        <p:nvSpPr>
          <p:cNvPr id="23" name="Shape 21"/>
          <p:cNvSpPr/>
          <p:nvPr/>
        </p:nvSpPr>
        <p:spPr>
          <a:xfrm>
            <a:off x="502920" y="3675888"/>
            <a:ext cx="11183112" cy="420624"/>
          </a:xfrm>
          <a:prstGeom prst="roundRect">
            <a:avLst>
              <a:gd name="adj" fmla="val 17391"/>
            </a:avLst>
          </a:prstGeom>
          <a:solidFill>
            <a:srgbClr val="F3F5FD"/>
          </a:solidFill>
          <a:ln w="12700">
            <a:solidFill>
              <a:srgbClr val="F3F5FD"/>
            </a:solidFill>
            <a:prstDash val="solid"/>
          </a:ln>
        </p:spPr>
      </p:sp>
      <p:sp>
        <p:nvSpPr>
          <p:cNvPr id="24" name="Shape 22"/>
          <p:cNvSpPr/>
          <p:nvPr/>
        </p:nvSpPr>
        <p:spPr>
          <a:xfrm>
            <a:off x="704088" y="3730752"/>
            <a:ext cx="310896" cy="310896"/>
          </a:xfrm>
          <a:prstGeom prst="ellipse">
            <a:avLst/>
          </a:prstGeom>
          <a:solidFill>
            <a:srgbClr val="00B3A4"/>
          </a:solidFill>
          <a:ln w="12700">
            <a:solidFill>
              <a:srgbClr val="00B3A4"/>
            </a:solidFill>
            <a:prstDash val="solid"/>
          </a:ln>
        </p:spPr>
      </p:sp>
      <p:sp>
        <p:nvSpPr>
          <p:cNvPr id="25" name="Text 23"/>
          <p:cNvSpPr txBox="1"/>
          <p:nvPr/>
        </p:nvSpPr>
        <p:spPr>
          <a:xfrm>
            <a:off x="704088" y="37307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Text 24"/>
          <p:cNvSpPr txBox="1"/>
          <p:nvPr/>
        </p:nvSpPr>
        <p:spPr>
          <a:xfrm>
            <a:off x="1124712" y="3721608"/>
            <a:ext cx="10341864" cy="32918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A goal, not a list.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The sprint goal is a delivered capability, so partial completion can still be judged against intent.</a:t>
            </a:r>
            <a:endParaRPr lang="en-US" sz="1300" dirty="0"/>
          </a:p>
        </p:txBody>
      </p:sp>
      <p:sp>
        <p:nvSpPr>
          <p:cNvPr id="27" name="Shape 25"/>
          <p:cNvSpPr/>
          <p:nvPr/>
        </p:nvSpPr>
        <p:spPr>
          <a:xfrm>
            <a:off x="502920" y="4224528"/>
            <a:ext cx="11183112" cy="420624"/>
          </a:xfrm>
          <a:prstGeom prst="roundRect">
            <a:avLst>
              <a:gd name="adj" fmla="val 17391"/>
            </a:avLst>
          </a:prstGeom>
          <a:solidFill>
            <a:srgbClr val="F3F5FD"/>
          </a:solidFill>
          <a:ln w="12700">
            <a:solidFill>
              <a:srgbClr val="F3F5FD"/>
            </a:solidFill>
            <a:prstDash val="solid"/>
          </a:ln>
        </p:spPr>
      </p:sp>
      <p:sp>
        <p:nvSpPr>
          <p:cNvPr id="28" name="Shape 26"/>
          <p:cNvSpPr/>
          <p:nvPr/>
        </p:nvSpPr>
        <p:spPr>
          <a:xfrm>
            <a:off x="704088" y="4279392"/>
            <a:ext cx="310896" cy="310896"/>
          </a:xfrm>
          <a:prstGeom prst="ellipse">
            <a:avLst/>
          </a:prstGeom>
          <a:solidFill>
            <a:srgbClr val="F4436C"/>
          </a:solidFill>
          <a:ln w="12700">
            <a:solidFill>
              <a:srgbClr val="F4436C"/>
            </a:solidFill>
            <a:prstDash val="solid"/>
          </a:ln>
        </p:spPr>
      </p:sp>
      <p:sp>
        <p:nvSpPr>
          <p:cNvPr id="29" name="Text 27"/>
          <p:cNvSpPr txBox="1"/>
          <p:nvPr/>
        </p:nvSpPr>
        <p:spPr>
          <a:xfrm>
            <a:off x="704088" y="42793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0" name="Text 28"/>
          <p:cNvSpPr txBox="1"/>
          <p:nvPr/>
        </p:nvSpPr>
        <p:spPr>
          <a:xfrm>
            <a:off x="1124712" y="4270248"/>
            <a:ext cx="10341864" cy="32918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Scope held back on purpose.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ATSL-4 sentiment analysis stayed in the backlog to protect the goal.</a:t>
            </a:r>
            <a:endParaRPr lang="en-US" sz="1300" dirty="0"/>
          </a:p>
        </p:txBody>
      </p:sp>
      <p:sp>
        <p:nvSpPr>
          <p:cNvPr id="31" name="Shape 29"/>
          <p:cNvSpPr/>
          <p:nvPr/>
        </p:nvSpPr>
        <p:spPr>
          <a:xfrm>
            <a:off x="502920" y="4773168"/>
            <a:ext cx="11183112" cy="420624"/>
          </a:xfrm>
          <a:prstGeom prst="roundRect">
            <a:avLst>
              <a:gd name="adj" fmla="val 17391"/>
            </a:avLst>
          </a:prstGeom>
          <a:solidFill>
            <a:srgbClr val="F3F5FD"/>
          </a:solidFill>
          <a:ln w="12700">
            <a:solidFill>
              <a:srgbClr val="F3F5FD"/>
            </a:solidFill>
            <a:prstDash val="solid"/>
          </a:ln>
        </p:spPr>
      </p:sp>
      <p:sp>
        <p:nvSpPr>
          <p:cNvPr id="32" name="Shape 30"/>
          <p:cNvSpPr/>
          <p:nvPr/>
        </p:nvSpPr>
        <p:spPr>
          <a:xfrm>
            <a:off x="704088" y="4828032"/>
            <a:ext cx="310896" cy="310896"/>
          </a:xfrm>
          <a:prstGeom prst="ellipse">
            <a:avLst/>
          </a:prstGeom>
          <a:solidFill>
            <a:srgbClr val="8036F0"/>
          </a:solidFill>
          <a:ln w="12700">
            <a:solidFill>
              <a:srgbClr val="8036F0"/>
            </a:solidFill>
            <a:prstDash val="solid"/>
          </a:ln>
        </p:spPr>
      </p:sp>
      <p:sp>
        <p:nvSpPr>
          <p:cNvPr id="33" name="Text 31"/>
          <p:cNvSpPr txBox="1"/>
          <p:nvPr/>
        </p:nvSpPr>
        <p:spPr>
          <a:xfrm>
            <a:off x="704088" y="48280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4" name="Text 32"/>
          <p:cNvSpPr txBox="1"/>
          <p:nvPr/>
        </p:nvSpPr>
        <p:spPr>
          <a:xfrm>
            <a:off x="1124712" y="4818888"/>
            <a:ext cx="10341864" cy="32918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Dependencies named at planning.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The AI Prediction API risk and the routing-rule dependency were raised before the sprint started, not mid-sprint.</a:t>
            </a:r>
            <a:endParaRPr lang="en-US" sz="1300" dirty="0"/>
          </a:p>
        </p:txBody>
      </p:sp>
      <p:sp>
        <p:nvSpPr>
          <p:cNvPr id="35" name="Shape 33"/>
          <p:cNvSpPr/>
          <p:nvPr/>
        </p:nvSpPr>
        <p:spPr>
          <a:xfrm>
            <a:off x="502920" y="5321808"/>
            <a:ext cx="11183112" cy="420624"/>
          </a:xfrm>
          <a:prstGeom prst="roundRect">
            <a:avLst>
              <a:gd name="adj" fmla="val 17391"/>
            </a:avLst>
          </a:prstGeom>
          <a:solidFill>
            <a:srgbClr val="F3F5FD"/>
          </a:solidFill>
          <a:ln w="12700">
            <a:solidFill>
              <a:srgbClr val="F3F5FD"/>
            </a:solidFill>
            <a:prstDash val="solid"/>
          </a:ln>
        </p:spPr>
      </p:sp>
      <p:sp>
        <p:nvSpPr>
          <p:cNvPr id="36" name="Shape 34"/>
          <p:cNvSpPr/>
          <p:nvPr/>
        </p:nvSpPr>
        <p:spPr>
          <a:xfrm>
            <a:off x="704088" y="5376672"/>
            <a:ext cx="310896" cy="310896"/>
          </a:xfrm>
          <a:prstGeom prst="ellipse">
            <a:avLst/>
          </a:prstGeom>
          <a:solidFill>
            <a:srgbClr val="FFB01F"/>
          </a:solidFill>
          <a:ln w="12700">
            <a:solidFill>
              <a:srgbClr val="FFB01F"/>
            </a:solidFill>
            <a:prstDash val="solid"/>
          </a:ln>
        </p:spPr>
      </p:sp>
      <p:sp>
        <p:nvSpPr>
          <p:cNvPr id="37" name="Text 35"/>
          <p:cNvSpPr txBox="1"/>
          <p:nvPr/>
        </p:nvSpPr>
        <p:spPr>
          <a:xfrm>
            <a:off x="704088" y="53766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Text 36"/>
          <p:cNvSpPr txBox="1"/>
          <p:nvPr/>
        </p:nvSpPr>
        <p:spPr>
          <a:xfrm>
            <a:off x="1124712" y="5367528"/>
            <a:ext cx="10341864" cy="32918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Sprint 2 continued the thread.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Priority prediction and routing carried forward with the API and routing-rule dependencies actively managed.</a:t>
            </a:r>
            <a:endParaRPr lang="en-US" sz="1300" dirty="0"/>
          </a:p>
        </p:txBody>
      </p:sp>
      <p:sp>
        <p:nvSpPr>
          <p:cNvPr id="39" name="Text 37"/>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40" name="Shape 38"/>
          <p:cNvSpPr/>
          <p:nvPr/>
        </p:nvSpPr>
        <p:spPr>
          <a:xfrm>
            <a:off x="11375136" y="6382512"/>
            <a:ext cx="310896" cy="310896"/>
          </a:xfrm>
          <a:prstGeom prst="ellipse">
            <a:avLst/>
          </a:prstGeom>
          <a:solidFill>
            <a:srgbClr val="EAEEFB"/>
          </a:solidFill>
          <a:ln w="12700">
            <a:solidFill>
              <a:srgbClr val="EAEEFB"/>
            </a:solidFill>
            <a:prstDash val="solid"/>
          </a:ln>
        </p:spPr>
      </p:sp>
      <p:sp>
        <p:nvSpPr>
          <p:cNvPr id="41" name="Text 39"/>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978762"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978762"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EXECUTION</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Sprint execution and flow</a:t>
            </a:r>
            <a:endParaRPr lang="en-US" sz="3100" dirty="0"/>
          </a:p>
        </p:txBody>
      </p:sp>
      <p:sp>
        <p:nvSpPr>
          <p:cNvPr id="5" name="Shape 3"/>
          <p:cNvSpPr/>
          <p:nvPr/>
        </p:nvSpPr>
        <p:spPr>
          <a:xfrm>
            <a:off x="502920" y="1627632"/>
            <a:ext cx="3544824" cy="1691640"/>
          </a:xfrm>
          <a:prstGeom prst="roundRect">
            <a:avLst>
              <a:gd name="adj" fmla="val 4324"/>
            </a:avLst>
          </a:prstGeom>
          <a:solidFill>
            <a:srgbClr val="F3F5FD"/>
          </a:solidFill>
          <a:ln w="12700">
            <a:solidFill>
              <a:srgbClr val="D8DEF2"/>
            </a:solidFill>
            <a:prstDash val="solid"/>
          </a:ln>
        </p:spPr>
      </p:sp>
      <p:sp>
        <p:nvSpPr>
          <p:cNvPr id="6" name="Text 4"/>
          <p:cNvSpPr txBox="1"/>
          <p:nvPr/>
        </p:nvSpPr>
        <p:spPr>
          <a:xfrm>
            <a:off x="722376" y="1755648"/>
            <a:ext cx="3105912" cy="274320"/>
          </a:xfrm>
          <a:prstGeom prst="rect">
            <a:avLst/>
          </a:prstGeom>
          <a:noFill/>
          <a:ln/>
        </p:spPr>
        <p:txBody>
          <a:bodyPr wrap="square" lIns="0" tIns="0" rIns="0" bIns="0" rtlCol="0" anchor="ctr"/>
          <a:lstStyle/>
          <a:p>
            <a:pPr indent="0" marL="0">
              <a:buNone/>
            </a:pPr>
            <a:r>
              <a:rPr lang="en-US" sz="1050" b="1" spc="120" kern="0" dirty="0">
                <a:solidFill>
                  <a:srgbClr val="5B6180"/>
                </a:solidFill>
                <a:latin typeface="Calibri" pitchFamily="34" charset="0"/>
                <a:ea typeface="Calibri" pitchFamily="34" charset="-122"/>
                <a:cs typeface="Calibri" pitchFamily="34" charset="-120"/>
              </a:rPr>
              <a:t>TO DO</a:t>
            </a:r>
            <a:endParaRPr lang="en-US" sz="1050" dirty="0"/>
          </a:p>
        </p:txBody>
      </p:sp>
      <p:sp>
        <p:nvSpPr>
          <p:cNvPr id="7" name="Shape 5"/>
          <p:cNvSpPr/>
          <p:nvPr/>
        </p:nvSpPr>
        <p:spPr>
          <a:xfrm>
            <a:off x="722376" y="2103120"/>
            <a:ext cx="3105912" cy="475488"/>
          </a:xfrm>
          <a:prstGeom prst="roundRect">
            <a:avLst>
              <a:gd name="adj" fmla="val 11538"/>
            </a:avLst>
          </a:prstGeom>
          <a:solidFill>
            <a:srgbClr val="FFFFFF"/>
          </a:solidFill>
          <a:ln w="12700">
            <a:solidFill>
              <a:srgbClr val="5B6180">
                <a:alpha val="60000"/>
              </a:srgbClr>
            </a:solidFill>
            <a:prstDash val="solid"/>
          </a:ln>
        </p:spPr>
      </p:sp>
      <p:sp>
        <p:nvSpPr>
          <p:cNvPr id="8" name="Text 6"/>
          <p:cNvSpPr txBox="1"/>
          <p:nvPr/>
        </p:nvSpPr>
        <p:spPr>
          <a:xfrm>
            <a:off x="886968" y="2103120"/>
            <a:ext cx="2776728" cy="475488"/>
          </a:xfrm>
          <a:prstGeom prst="rect">
            <a:avLst/>
          </a:prstGeom>
          <a:noFill/>
          <a:ln/>
        </p:spPr>
        <p:txBody>
          <a:bodyPr wrap="square" lIns="0" tIns="0" rIns="0" bIns="0" rtlCol="0" anchor="ctr"/>
          <a:lstStyle/>
          <a:p>
            <a:pPr indent="0" marL="0">
              <a:buNone/>
            </a:pPr>
            <a:r>
              <a:rPr lang="en-US" sz="1250" dirty="0">
                <a:solidFill>
                  <a:srgbClr val="100B2E"/>
                </a:solidFill>
                <a:latin typeface="Calibri" pitchFamily="34" charset="0"/>
                <a:ea typeface="Calibri" pitchFamily="34" charset="-122"/>
                <a:cs typeface="Calibri" pitchFamily="34" charset="-120"/>
              </a:rPr>
              <a:t>ATSL-3 · routing</a:t>
            </a:r>
            <a:endParaRPr lang="en-US" sz="1250" dirty="0"/>
          </a:p>
        </p:txBody>
      </p:sp>
      <p:sp>
        <p:nvSpPr>
          <p:cNvPr id="9" name="Shape 7"/>
          <p:cNvSpPr/>
          <p:nvPr/>
        </p:nvSpPr>
        <p:spPr>
          <a:xfrm>
            <a:off x="4322064" y="1627632"/>
            <a:ext cx="3544824" cy="1691640"/>
          </a:xfrm>
          <a:prstGeom prst="roundRect">
            <a:avLst>
              <a:gd name="adj" fmla="val 4324"/>
            </a:avLst>
          </a:prstGeom>
          <a:solidFill>
            <a:srgbClr val="F3F5FD"/>
          </a:solidFill>
          <a:ln w="12700">
            <a:solidFill>
              <a:srgbClr val="D8DEF2"/>
            </a:solidFill>
            <a:prstDash val="solid"/>
          </a:ln>
        </p:spPr>
      </p:sp>
      <p:sp>
        <p:nvSpPr>
          <p:cNvPr id="10" name="Text 8"/>
          <p:cNvSpPr txBox="1"/>
          <p:nvPr/>
        </p:nvSpPr>
        <p:spPr>
          <a:xfrm>
            <a:off x="4541520" y="1755648"/>
            <a:ext cx="3105912" cy="274320"/>
          </a:xfrm>
          <a:prstGeom prst="rect">
            <a:avLst/>
          </a:prstGeom>
          <a:noFill/>
          <a:ln/>
        </p:spPr>
        <p:txBody>
          <a:bodyPr wrap="square" lIns="0" tIns="0" rIns="0" bIns="0" rtlCol="0" anchor="ctr"/>
          <a:lstStyle/>
          <a:p>
            <a:pPr indent="0" marL="0">
              <a:buNone/>
            </a:pPr>
            <a:r>
              <a:rPr lang="en-US" sz="1050" b="1" spc="120" kern="0" dirty="0">
                <a:solidFill>
                  <a:srgbClr val="1364F4"/>
                </a:solidFill>
                <a:latin typeface="Calibri" pitchFamily="34" charset="0"/>
                <a:ea typeface="Calibri" pitchFamily="34" charset="-122"/>
                <a:cs typeface="Calibri" pitchFamily="34" charset="-120"/>
              </a:rPr>
              <a:t>IN PROGRESS</a:t>
            </a:r>
            <a:endParaRPr lang="en-US" sz="1050" dirty="0"/>
          </a:p>
        </p:txBody>
      </p:sp>
      <p:sp>
        <p:nvSpPr>
          <p:cNvPr id="11" name="Shape 9"/>
          <p:cNvSpPr/>
          <p:nvPr/>
        </p:nvSpPr>
        <p:spPr>
          <a:xfrm>
            <a:off x="4541520" y="2103120"/>
            <a:ext cx="3105912" cy="475488"/>
          </a:xfrm>
          <a:prstGeom prst="roundRect">
            <a:avLst>
              <a:gd name="adj" fmla="val 11538"/>
            </a:avLst>
          </a:prstGeom>
          <a:solidFill>
            <a:srgbClr val="FFFFFF"/>
          </a:solidFill>
          <a:ln w="12700">
            <a:solidFill>
              <a:srgbClr val="1364F4">
                <a:alpha val="60000"/>
              </a:srgbClr>
            </a:solidFill>
            <a:prstDash val="solid"/>
          </a:ln>
        </p:spPr>
      </p:sp>
      <p:sp>
        <p:nvSpPr>
          <p:cNvPr id="12" name="Text 10"/>
          <p:cNvSpPr txBox="1"/>
          <p:nvPr/>
        </p:nvSpPr>
        <p:spPr>
          <a:xfrm>
            <a:off x="4706112" y="2103120"/>
            <a:ext cx="2776728" cy="475488"/>
          </a:xfrm>
          <a:prstGeom prst="rect">
            <a:avLst/>
          </a:prstGeom>
          <a:noFill/>
          <a:ln/>
        </p:spPr>
        <p:txBody>
          <a:bodyPr wrap="square" lIns="0" tIns="0" rIns="0" bIns="0" rtlCol="0" anchor="ctr"/>
          <a:lstStyle/>
          <a:p>
            <a:pPr indent="0" marL="0">
              <a:buNone/>
            </a:pPr>
            <a:r>
              <a:rPr lang="en-US" sz="1250" dirty="0">
                <a:solidFill>
                  <a:srgbClr val="100B2E"/>
                </a:solidFill>
                <a:latin typeface="Calibri" pitchFamily="34" charset="0"/>
                <a:ea typeface="Calibri" pitchFamily="34" charset="-122"/>
                <a:cs typeface="Calibri" pitchFamily="34" charset="-120"/>
              </a:rPr>
              <a:t>ATSL-2 · priority prediction</a:t>
            </a:r>
            <a:endParaRPr lang="en-US" sz="1250" dirty="0"/>
          </a:p>
        </p:txBody>
      </p:sp>
      <p:sp>
        <p:nvSpPr>
          <p:cNvPr id="13" name="Shape 11"/>
          <p:cNvSpPr/>
          <p:nvPr/>
        </p:nvSpPr>
        <p:spPr>
          <a:xfrm>
            <a:off x="8141208" y="1627632"/>
            <a:ext cx="3544824" cy="1691640"/>
          </a:xfrm>
          <a:prstGeom prst="roundRect">
            <a:avLst>
              <a:gd name="adj" fmla="val 4324"/>
            </a:avLst>
          </a:prstGeom>
          <a:solidFill>
            <a:srgbClr val="F3F5FD"/>
          </a:solidFill>
          <a:ln w="12700">
            <a:solidFill>
              <a:srgbClr val="D8DEF2"/>
            </a:solidFill>
            <a:prstDash val="solid"/>
          </a:ln>
        </p:spPr>
      </p:sp>
      <p:sp>
        <p:nvSpPr>
          <p:cNvPr id="14" name="Text 12"/>
          <p:cNvSpPr txBox="1"/>
          <p:nvPr/>
        </p:nvSpPr>
        <p:spPr>
          <a:xfrm>
            <a:off x="8360664" y="1755648"/>
            <a:ext cx="3105912" cy="274320"/>
          </a:xfrm>
          <a:prstGeom prst="rect">
            <a:avLst/>
          </a:prstGeom>
          <a:noFill/>
          <a:ln/>
        </p:spPr>
        <p:txBody>
          <a:bodyPr wrap="square" lIns="0" tIns="0" rIns="0" bIns="0" rtlCol="0" anchor="ctr"/>
          <a:lstStyle/>
          <a:p>
            <a:pPr indent="0" marL="0">
              <a:buNone/>
            </a:pPr>
            <a:r>
              <a:rPr lang="en-US" sz="1050" b="1" spc="120" kern="0" dirty="0">
                <a:solidFill>
                  <a:srgbClr val="16A34A"/>
                </a:solidFill>
                <a:latin typeface="Calibri" pitchFamily="34" charset="0"/>
                <a:ea typeface="Calibri" pitchFamily="34" charset="-122"/>
                <a:cs typeface="Calibri" pitchFamily="34" charset="-120"/>
              </a:rPr>
              <a:t>DONE</a:t>
            </a:r>
            <a:endParaRPr lang="en-US" sz="1050" dirty="0"/>
          </a:p>
        </p:txBody>
      </p:sp>
      <p:sp>
        <p:nvSpPr>
          <p:cNvPr id="15" name="Shape 13"/>
          <p:cNvSpPr/>
          <p:nvPr/>
        </p:nvSpPr>
        <p:spPr>
          <a:xfrm>
            <a:off x="8360664" y="2103120"/>
            <a:ext cx="3105912" cy="475488"/>
          </a:xfrm>
          <a:prstGeom prst="roundRect">
            <a:avLst>
              <a:gd name="adj" fmla="val 11538"/>
            </a:avLst>
          </a:prstGeom>
          <a:solidFill>
            <a:srgbClr val="FFFFFF"/>
          </a:solidFill>
          <a:ln w="12700">
            <a:solidFill>
              <a:srgbClr val="16A34A">
                <a:alpha val="60000"/>
              </a:srgbClr>
            </a:solidFill>
            <a:prstDash val="solid"/>
          </a:ln>
        </p:spPr>
      </p:sp>
      <p:sp>
        <p:nvSpPr>
          <p:cNvPr id="16" name="Text 14"/>
          <p:cNvSpPr txBox="1"/>
          <p:nvPr/>
        </p:nvSpPr>
        <p:spPr>
          <a:xfrm>
            <a:off x="8525256" y="2103120"/>
            <a:ext cx="2776728" cy="475488"/>
          </a:xfrm>
          <a:prstGeom prst="rect">
            <a:avLst/>
          </a:prstGeom>
          <a:noFill/>
          <a:ln/>
        </p:spPr>
        <p:txBody>
          <a:bodyPr wrap="square" lIns="0" tIns="0" rIns="0" bIns="0" rtlCol="0" anchor="ctr"/>
          <a:lstStyle/>
          <a:p>
            <a:pPr indent="0" marL="0">
              <a:buNone/>
            </a:pPr>
            <a:r>
              <a:rPr lang="en-US" sz="1250" dirty="0">
                <a:solidFill>
                  <a:srgbClr val="100B2E"/>
                </a:solidFill>
                <a:latin typeface="Calibri" pitchFamily="34" charset="0"/>
                <a:ea typeface="Calibri" pitchFamily="34" charset="-122"/>
                <a:cs typeface="Calibri" pitchFamily="34" charset="-120"/>
              </a:rPr>
              <a:t>ATSL-1 · classification</a:t>
            </a:r>
            <a:endParaRPr lang="en-US" sz="1250" dirty="0"/>
          </a:p>
        </p:txBody>
      </p:sp>
      <p:sp>
        <p:nvSpPr>
          <p:cNvPr id="17" name="Text 15"/>
          <p:cNvSpPr txBox="1"/>
          <p:nvPr/>
        </p:nvSpPr>
        <p:spPr>
          <a:xfrm>
            <a:off x="502920" y="3456432"/>
            <a:ext cx="11183112" cy="384048"/>
          </a:xfrm>
          <a:prstGeom prst="rect">
            <a:avLst/>
          </a:prstGeom>
          <a:noFill/>
          <a:ln/>
        </p:spPr>
        <p:txBody>
          <a:bodyPr wrap="square" lIns="0" tIns="0" rIns="0" bIns="0" rtlCol="0" anchor="ctr"/>
          <a:lstStyle/>
          <a:p>
            <a:pPr indent="0" marL="0">
              <a:buNone/>
            </a:pPr>
            <a:r>
              <a:rPr lang="en-US" sz="1300" dirty="0">
                <a:solidFill>
                  <a:srgbClr val="5B6180"/>
                </a:solidFill>
                <a:latin typeface="Calibri" pitchFamily="34" charset="0"/>
                <a:ea typeface="Calibri" pitchFamily="34" charset="-122"/>
                <a:cs typeface="Calibri" pitchFamily="34" charset="-120"/>
              </a:rPr>
              <a:t>Mid-sprint snapshot: exactly one story in each state. Limited work in progress keeps the cumulative flow diagram readable and makes a bottleneck obvious the moment it appears.</a:t>
            </a:r>
            <a:endParaRPr lang="en-US" sz="1300" dirty="0"/>
          </a:p>
        </p:txBody>
      </p:sp>
      <p:sp>
        <p:nvSpPr>
          <p:cNvPr id="18" name="Shape 16"/>
          <p:cNvSpPr/>
          <p:nvPr/>
        </p:nvSpPr>
        <p:spPr>
          <a:xfrm>
            <a:off x="502920" y="3977640"/>
            <a:ext cx="2603754" cy="1783080"/>
          </a:xfrm>
          <a:prstGeom prst="roundRect">
            <a:avLst>
              <a:gd name="adj" fmla="val 3077"/>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19" name="Shape 17"/>
          <p:cNvSpPr/>
          <p:nvPr/>
        </p:nvSpPr>
        <p:spPr>
          <a:xfrm>
            <a:off x="740664" y="4215384"/>
            <a:ext cx="420624" cy="420624"/>
          </a:xfrm>
          <a:prstGeom prst="ellipse">
            <a:avLst/>
          </a:prstGeom>
          <a:solidFill>
            <a:srgbClr val="1364F4"/>
          </a:solidFill>
          <a:ln w="12700">
            <a:solidFill>
              <a:srgbClr val="1364F4"/>
            </a:solidFill>
            <a:prstDash val="solid"/>
          </a:ln>
        </p:spPr>
      </p:sp>
      <p:sp>
        <p:nvSpPr>
          <p:cNvPr id="20" name="Text 18"/>
          <p:cNvSpPr txBox="1"/>
          <p:nvPr/>
        </p:nvSpPr>
        <p:spPr>
          <a:xfrm>
            <a:off x="740664" y="4215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 name="Text 19"/>
          <p:cNvSpPr txBox="1"/>
          <p:nvPr/>
        </p:nvSpPr>
        <p:spPr>
          <a:xfrm>
            <a:off x="740664" y="4727448"/>
            <a:ext cx="212826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Visible progress</a:t>
            </a:r>
            <a:endParaRPr lang="en-US" sz="1500" dirty="0"/>
          </a:p>
        </p:txBody>
      </p:sp>
      <p:sp>
        <p:nvSpPr>
          <p:cNvPr id="22" name="Text 20"/>
          <p:cNvSpPr txBox="1"/>
          <p:nvPr/>
        </p:nvSpPr>
        <p:spPr>
          <a:xfrm>
            <a:off x="740664" y="5129784"/>
            <a:ext cx="2128266" cy="41148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Completed work moves to Done; active work stays visible in In Progress rather than being reported verbally.</a:t>
            </a:r>
            <a:endParaRPr lang="en-US" sz="1200" dirty="0"/>
          </a:p>
        </p:txBody>
      </p:sp>
      <p:sp>
        <p:nvSpPr>
          <p:cNvPr id="23" name="Shape 21"/>
          <p:cNvSpPr/>
          <p:nvPr/>
        </p:nvSpPr>
        <p:spPr>
          <a:xfrm>
            <a:off x="3362706" y="3977640"/>
            <a:ext cx="2603754" cy="1783080"/>
          </a:xfrm>
          <a:prstGeom prst="roundRect">
            <a:avLst>
              <a:gd name="adj" fmla="val 3077"/>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24" name="Shape 22"/>
          <p:cNvSpPr/>
          <p:nvPr/>
        </p:nvSpPr>
        <p:spPr>
          <a:xfrm>
            <a:off x="3600450" y="4215384"/>
            <a:ext cx="420624" cy="420624"/>
          </a:xfrm>
          <a:prstGeom prst="ellipse">
            <a:avLst/>
          </a:prstGeom>
          <a:solidFill>
            <a:srgbClr val="00B3A4"/>
          </a:solidFill>
          <a:ln w="12700">
            <a:solidFill>
              <a:srgbClr val="00B3A4"/>
            </a:solidFill>
            <a:prstDash val="solid"/>
          </a:ln>
        </p:spPr>
      </p:sp>
      <p:sp>
        <p:nvSpPr>
          <p:cNvPr id="25" name="Text 23"/>
          <p:cNvSpPr txBox="1"/>
          <p:nvPr/>
        </p:nvSpPr>
        <p:spPr>
          <a:xfrm>
            <a:off x="3600450" y="4215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6" name="Text 24"/>
          <p:cNvSpPr txBox="1"/>
          <p:nvPr/>
        </p:nvSpPr>
        <p:spPr>
          <a:xfrm>
            <a:off x="3600450" y="4727448"/>
            <a:ext cx="212826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Subtask granularity</a:t>
            </a:r>
            <a:endParaRPr lang="en-US" sz="1500" dirty="0"/>
          </a:p>
        </p:txBody>
      </p:sp>
      <p:sp>
        <p:nvSpPr>
          <p:cNvPr id="27" name="Text 25"/>
          <p:cNvSpPr txBox="1"/>
          <p:nvPr/>
        </p:nvSpPr>
        <p:spPr>
          <a:xfrm>
            <a:off x="3600450" y="5129784"/>
            <a:ext cx="2128266" cy="41148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Subtasks expose implementation progress underneath a parent story that would otherwise look static for days.</a:t>
            </a:r>
            <a:endParaRPr lang="en-US" sz="1200" dirty="0"/>
          </a:p>
        </p:txBody>
      </p:sp>
      <p:sp>
        <p:nvSpPr>
          <p:cNvPr id="28" name="Shape 26"/>
          <p:cNvSpPr/>
          <p:nvPr/>
        </p:nvSpPr>
        <p:spPr>
          <a:xfrm>
            <a:off x="6222492" y="3977640"/>
            <a:ext cx="2603754" cy="1783080"/>
          </a:xfrm>
          <a:prstGeom prst="roundRect">
            <a:avLst>
              <a:gd name="adj" fmla="val 3077"/>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29" name="Shape 27"/>
          <p:cNvSpPr/>
          <p:nvPr/>
        </p:nvSpPr>
        <p:spPr>
          <a:xfrm>
            <a:off x="6460236" y="4215384"/>
            <a:ext cx="420624" cy="420624"/>
          </a:xfrm>
          <a:prstGeom prst="ellipse">
            <a:avLst/>
          </a:prstGeom>
          <a:solidFill>
            <a:srgbClr val="F4436C"/>
          </a:solidFill>
          <a:ln w="12700">
            <a:solidFill>
              <a:srgbClr val="F4436C"/>
            </a:solidFill>
            <a:prstDash val="solid"/>
          </a:ln>
        </p:spPr>
      </p:sp>
      <p:sp>
        <p:nvSpPr>
          <p:cNvPr id="30" name="Text 28"/>
          <p:cNvSpPr txBox="1"/>
          <p:nvPr/>
        </p:nvSpPr>
        <p:spPr>
          <a:xfrm>
            <a:off x="6460236" y="4215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1" name="Text 29"/>
          <p:cNvSpPr txBox="1"/>
          <p:nvPr/>
        </p:nvSpPr>
        <p:spPr>
          <a:xfrm>
            <a:off x="6460236" y="4727448"/>
            <a:ext cx="212826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Honest dependencies</a:t>
            </a:r>
            <a:endParaRPr lang="en-US" sz="1500" dirty="0"/>
          </a:p>
        </p:txBody>
      </p:sp>
      <p:sp>
        <p:nvSpPr>
          <p:cNvPr id="32" name="Text 30"/>
          <p:cNvSpPr txBox="1"/>
          <p:nvPr/>
        </p:nvSpPr>
        <p:spPr>
          <a:xfrm>
            <a:off x="6460236" y="5129784"/>
            <a:ext cx="2128266" cy="41148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A blocked story is not counted as independently deliverable, however close to done it looks.</a:t>
            </a:r>
            <a:endParaRPr lang="en-US" sz="1200" dirty="0"/>
          </a:p>
        </p:txBody>
      </p:sp>
      <p:sp>
        <p:nvSpPr>
          <p:cNvPr id="33" name="Shape 31"/>
          <p:cNvSpPr/>
          <p:nvPr/>
        </p:nvSpPr>
        <p:spPr>
          <a:xfrm>
            <a:off x="9082278" y="3977640"/>
            <a:ext cx="2603754" cy="1783080"/>
          </a:xfrm>
          <a:prstGeom prst="roundRect">
            <a:avLst>
              <a:gd name="adj" fmla="val 3077"/>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34" name="Shape 32"/>
          <p:cNvSpPr/>
          <p:nvPr/>
        </p:nvSpPr>
        <p:spPr>
          <a:xfrm>
            <a:off x="9320022" y="4215384"/>
            <a:ext cx="420624" cy="420624"/>
          </a:xfrm>
          <a:prstGeom prst="ellipse">
            <a:avLst/>
          </a:prstGeom>
          <a:solidFill>
            <a:srgbClr val="8036F0"/>
          </a:solidFill>
          <a:ln w="12700">
            <a:solidFill>
              <a:srgbClr val="8036F0"/>
            </a:solidFill>
            <a:prstDash val="solid"/>
          </a:ln>
        </p:spPr>
      </p:sp>
      <p:sp>
        <p:nvSpPr>
          <p:cNvPr id="35" name="Text 33"/>
          <p:cNvSpPr txBox="1"/>
          <p:nvPr/>
        </p:nvSpPr>
        <p:spPr>
          <a:xfrm>
            <a:off x="9320022" y="4215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6" name="Text 34"/>
          <p:cNvSpPr txBox="1"/>
          <p:nvPr/>
        </p:nvSpPr>
        <p:spPr>
          <a:xfrm>
            <a:off x="9320022" y="4727448"/>
            <a:ext cx="212826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An audit trail</a:t>
            </a:r>
            <a:endParaRPr lang="en-US" sz="1500" dirty="0"/>
          </a:p>
        </p:txBody>
      </p:sp>
      <p:sp>
        <p:nvSpPr>
          <p:cNvPr id="37" name="Text 35"/>
          <p:cNvSpPr txBox="1"/>
          <p:nvPr/>
        </p:nvSpPr>
        <p:spPr>
          <a:xfrm>
            <a:off x="9320022" y="5129784"/>
            <a:ext cx="2128266" cy="41148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Status changes and structured comments give stakeholder communication a record to point at.</a:t>
            </a:r>
            <a:endParaRPr lang="en-US" sz="1200" dirty="0"/>
          </a:p>
        </p:txBody>
      </p:sp>
      <p:sp>
        <p:nvSpPr>
          <p:cNvPr id="38" name="Text 36"/>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39" name="Shape 37"/>
          <p:cNvSpPr/>
          <p:nvPr/>
        </p:nvSpPr>
        <p:spPr>
          <a:xfrm>
            <a:off x="11375136" y="6382512"/>
            <a:ext cx="310896" cy="310896"/>
          </a:xfrm>
          <a:prstGeom prst="ellipse">
            <a:avLst/>
          </a:prstGeom>
          <a:solidFill>
            <a:srgbClr val="EAEEFB"/>
          </a:solidFill>
          <a:ln w="12700">
            <a:solidFill>
              <a:srgbClr val="EAEEFB"/>
            </a:solidFill>
            <a:prstDash val="solid"/>
          </a:ln>
        </p:spPr>
      </p:sp>
      <p:sp>
        <p:nvSpPr>
          <p:cNvPr id="40" name="Text 38"/>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247595" cy="292608"/>
          </a:xfrm>
          <a:prstGeom prst="roundRect">
            <a:avLst>
              <a:gd name="adj" fmla="val 50000"/>
            </a:avLst>
          </a:prstGeom>
          <a:solidFill>
            <a:srgbClr val="F4436C"/>
          </a:solidFill>
          <a:ln w="12700">
            <a:solidFill>
              <a:srgbClr val="F4436C"/>
            </a:solidFill>
            <a:prstDash val="solid"/>
          </a:ln>
        </p:spPr>
      </p:sp>
      <p:sp>
        <p:nvSpPr>
          <p:cNvPr id="3" name="Text 1"/>
          <p:cNvSpPr txBox="1"/>
          <p:nvPr/>
        </p:nvSpPr>
        <p:spPr>
          <a:xfrm>
            <a:off x="502920" y="384048"/>
            <a:ext cx="2247595"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DEPENDENCIES</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Dependency management in practice</a:t>
            </a:r>
            <a:endParaRPr lang="en-US" sz="3100" dirty="0"/>
          </a:p>
        </p:txBody>
      </p:sp>
      <p:sp>
        <p:nvSpPr>
          <p:cNvPr id="5" name="Shape 3"/>
          <p:cNvSpPr/>
          <p:nvPr/>
        </p:nvSpPr>
        <p:spPr>
          <a:xfrm>
            <a:off x="502920" y="1627632"/>
            <a:ext cx="11183112" cy="786384"/>
          </a:xfrm>
          <a:prstGeom prst="roundRect">
            <a:avLst>
              <a:gd name="adj" fmla="val 9302"/>
            </a:avLst>
          </a:prstGeom>
          <a:solidFill>
            <a:srgbClr val="FFFFFF"/>
          </a:solidFill>
          <a:ln w="12700">
            <a:solidFill>
              <a:srgbClr val="D8DEF2"/>
            </a:solidFill>
            <a:prstDash val="solid"/>
          </a:ln>
          <a:effectLst>
            <a:outerShdw sx="100000" sy="100000" kx="0" ky="0" algn="bl" rotWithShape="0" blurRad="88900" dist="19050" dir="5400000">
              <a:srgbClr val="8A93C0">
                <a:alpha val="15000"/>
              </a:srgbClr>
            </a:outerShdw>
          </a:effectLst>
        </p:spPr>
      </p:sp>
      <p:sp>
        <p:nvSpPr>
          <p:cNvPr id="6" name="Shape 4"/>
          <p:cNvSpPr/>
          <p:nvPr/>
        </p:nvSpPr>
        <p:spPr>
          <a:xfrm>
            <a:off x="740664" y="1828800"/>
            <a:ext cx="1051560" cy="384048"/>
          </a:xfrm>
          <a:prstGeom prst="roundRect">
            <a:avLst>
              <a:gd name="adj" fmla="val 19048"/>
            </a:avLst>
          </a:prstGeom>
          <a:solidFill>
            <a:srgbClr val="F4436C"/>
          </a:solidFill>
          <a:ln w="12700">
            <a:solidFill>
              <a:srgbClr val="F4436C"/>
            </a:solidFill>
            <a:prstDash val="solid"/>
          </a:ln>
        </p:spPr>
      </p:sp>
      <p:sp>
        <p:nvSpPr>
          <p:cNvPr id="7" name="Text 5"/>
          <p:cNvSpPr txBox="1"/>
          <p:nvPr/>
        </p:nvSpPr>
        <p:spPr>
          <a:xfrm>
            <a:off x="740664" y="1828800"/>
            <a:ext cx="105156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ATSL-5</a:t>
            </a:r>
            <a:endParaRPr lang="en-US" sz="1250" dirty="0"/>
          </a:p>
        </p:txBody>
      </p:sp>
      <p:sp>
        <p:nvSpPr>
          <p:cNvPr id="8" name="Text 6"/>
          <p:cNvSpPr txBox="1"/>
          <p:nvPr/>
        </p:nvSpPr>
        <p:spPr>
          <a:xfrm>
            <a:off x="1874520" y="1828800"/>
            <a:ext cx="914400" cy="384048"/>
          </a:xfrm>
          <a:prstGeom prst="rect">
            <a:avLst/>
          </a:prstGeom>
          <a:noFill/>
          <a:ln/>
        </p:spPr>
        <p:txBody>
          <a:bodyPr wrap="square" lIns="0" tIns="0" rIns="0" bIns="0" rtlCol="0" anchor="ctr"/>
          <a:lstStyle/>
          <a:p>
            <a:pPr algn="ctr" indent="0" marL="0">
              <a:buNone/>
            </a:pPr>
            <a:r>
              <a:rPr lang="en-US" sz="1100" b="1" dirty="0">
                <a:solidFill>
                  <a:srgbClr val="5B6180"/>
                </a:solidFill>
                <a:latin typeface="Calibri" pitchFamily="34" charset="0"/>
                <a:ea typeface="Calibri" pitchFamily="34" charset="-122"/>
                <a:cs typeface="Calibri" pitchFamily="34" charset="-120"/>
              </a:rPr>
              <a:t>blocks  →</a:t>
            </a:r>
            <a:endParaRPr lang="en-US" sz="1100" dirty="0"/>
          </a:p>
        </p:txBody>
      </p:sp>
      <p:sp>
        <p:nvSpPr>
          <p:cNvPr id="9" name="Shape 7"/>
          <p:cNvSpPr/>
          <p:nvPr/>
        </p:nvSpPr>
        <p:spPr>
          <a:xfrm>
            <a:off x="2834640" y="1828800"/>
            <a:ext cx="1051560" cy="384048"/>
          </a:xfrm>
          <a:prstGeom prst="roundRect">
            <a:avLst>
              <a:gd name="adj" fmla="val 19048"/>
            </a:avLst>
          </a:prstGeom>
          <a:solidFill>
            <a:srgbClr val="F4436C">
              <a:alpha val="18000"/>
            </a:srgbClr>
          </a:solidFill>
          <a:ln w="12700">
            <a:solidFill>
              <a:srgbClr val="F4436C"/>
            </a:solidFill>
            <a:prstDash val="solid"/>
          </a:ln>
        </p:spPr>
      </p:sp>
      <p:sp>
        <p:nvSpPr>
          <p:cNvPr id="10" name="Text 8"/>
          <p:cNvSpPr txBox="1"/>
          <p:nvPr/>
        </p:nvSpPr>
        <p:spPr>
          <a:xfrm>
            <a:off x="2834640" y="1828800"/>
            <a:ext cx="1051560" cy="384048"/>
          </a:xfrm>
          <a:prstGeom prst="rect">
            <a:avLst/>
          </a:prstGeom>
          <a:noFill/>
          <a:ln/>
        </p:spPr>
        <p:txBody>
          <a:bodyPr wrap="square" lIns="0" tIns="0" rIns="0" bIns="0" rtlCol="0" anchor="ctr"/>
          <a:lstStyle/>
          <a:p>
            <a:pPr algn="ctr" indent="0" marL="0">
              <a:buNone/>
            </a:pPr>
            <a:r>
              <a:rPr lang="en-US" sz="1250" b="1" dirty="0">
                <a:solidFill>
                  <a:srgbClr val="F4436C"/>
                </a:solidFill>
                <a:latin typeface="Calibri" pitchFamily="34" charset="0"/>
                <a:ea typeface="Calibri" pitchFamily="34" charset="-122"/>
                <a:cs typeface="Calibri" pitchFamily="34" charset="-120"/>
              </a:rPr>
              <a:t>ATSL-2</a:t>
            </a:r>
            <a:endParaRPr lang="en-US" sz="1250" dirty="0"/>
          </a:p>
        </p:txBody>
      </p:sp>
      <p:sp>
        <p:nvSpPr>
          <p:cNvPr id="11" name="Text 9"/>
          <p:cNvSpPr txBox="1"/>
          <p:nvPr/>
        </p:nvSpPr>
        <p:spPr>
          <a:xfrm>
            <a:off x="4114800" y="1627632"/>
            <a:ext cx="7296912" cy="786384"/>
          </a:xfrm>
          <a:prstGeom prst="rect">
            <a:avLst/>
          </a:prstGeom>
          <a:noFill/>
          <a:ln/>
        </p:spPr>
        <p:txBody>
          <a:bodyPr wrap="square" lIns="0" tIns="0" rIns="0" bIns="0" rtlCol="0" anchor="ctr"/>
          <a:lstStyle/>
          <a:p>
            <a:pPr indent="0" marL="0">
              <a:buNone/>
            </a:pPr>
            <a:r>
              <a:rPr lang="en-US" sz="1250" dirty="0">
                <a:solidFill>
                  <a:srgbClr val="5B6180"/>
                </a:solidFill>
                <a:latin typeface="Calibri" pitchFamily="34" charset="0"/>
                <a:ea typeface="Calibri" pitchFamily="34" charset="-122"/>
                <a:cs typeface="Calibri" pitchFamily="34" charset="-120"/>
              </a:rPr>
              <a:t>The AI Prediction API may not be ready in time for priority prediction integration.</a:t>
            </a:r>
            <a:endParaRPr lang="en-US" sz="1250" dirty="0"/>
          </a:p>
        </p:txBody>
      </p:sp>
      <p:sp>
        <p:nvSpPr>
          <p:cNvPr id="12" name="Shape 10"/>
          <p:cNvSpPr/>
          <p:nvPr/>
        </p:nvSpPr>
        <p:spPr>
          <a:xfrm>
            <a:off x="502920" y="2560320"/>
            <a:ext cx="11183112" cy="786384"/>
          </a:xfrm>
          <a:prstGeom prst="roundRect">
            <a:avLst>
              <a:gd name="adj" fmla="val 9302"/>
            </a:avLst>
          </a:prstGeom>
          <a:solidFill>
            <a:srgbClr val="FFFFFF"/>
          </a:solidFill>
          <a:ln w="12700">
            <a:solidFill>
              <a:srgbClr val="D8DEF2"/>
            </a:solidFill>
            <a:prstDash val="solid"/>
          </a:ln>
          <a:effectLst>
            <a:outerShdw sx="100000" sy="100000" kx="0" ky="0" algn="bl" rotWithShape="0" blurRad="88900" dist="19050" dir="5400000">
              <a:srgbClr val="8A93C0">
                <a:alpha val="15000"/>
              </a:srgbClr>
            </a:outerShdw>
          </a:effectLst>
        </p:spPr>
      </p:sp>
      <p:sp>
        <p:nvSpPr>
          <p:cNvPr id="13" name="Shape 11"/>
          <p:cNvSpPr/>
          <p:nvPr/>
        </p:nvSpPr>
        <p:spPr>
          <a:xfrm>
            <a:off x="740664" y="2761488"/>
            <a:ext cx="1051560" cy="384048"/>
          </a:xfrm>
          <a:prstGeom prst="roundRect">
            <a:avLst>
              <a:gd name="adj" fmla="val 19048"/>
            </a:avLst>
          </a:prstGeom>
          <a:solidFill>
            <a:srgbClr val="8036F0"/>
          </a:solidFill>
          <a:ln w="12700">
            <a:solidFill>
              <a:srgbClr val="8036F0"/>
            </a:solidFill>
            <a:prstDash val="solid"/>
          </a:ln>
        </p:spPr>
      </p:sp>
      <p:sp>
        <p:nvSpPr>
          <p:cNvPr id="14" name="Text 12"/>
          <p:cNvSpPr txBox="1"/>
          <p:nvPr/>
        </p:nvSpPr>
        <p:spPr>
          <a:xfrm>
            <a:off x="740664" y="2761488"/>
            <a:ext cx="105156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ATSL-7</a:t>
            </a:r>
            <a:endParaRPr lang="en-US" sz="1250" dirty="0"/>
          </a:p>
        </p:txBody>
      </p:sp>
      <p:sp>
        <p:nvSpPr>
          <p:cNvPr id="15" name="Text 13"/>
          <p:cNvSpPr txBox="1"/>
          <p:nvPr/>
        </p:nvSpPr>
        <p:spPr>
          <a:xfrm>
            <a:off x="1874520" y="2761488"/>
            <a:ext cx="914400" cy="384048"/>
          </a:xfrm>
          <a:prstGeom prst="rect">
            <a:avLst/>
          </a:prstGeom>
          <a:noFill/>
          <a:ln/>
        </p:spPr>
        <p:txBody>
          <a:bodyPr wrap="square" lIns="0" tIns="0" rIns="0" bIns="0" rtlCol="0" anchor="ctr"/>
          <a:lstStyle/>
          <a:p>
            <a:pPr algn="ctr" indent="0" marL="0">
              <a:buNone/>
            </a:pPr>
            <a:r>
              <a:rPr lang="en-US" sz="1100" b="1" dirty="0">
                <a:solidFill>
                  <a:srgbClr val="5B6180"/>
                </a:solidFill>
                <a:latin typeface="Calibri" pitchFamily="34" charset="0"/>
                <a:ea typeface="Calibri" pitchFamily="34" charset="-122"/>
                <a:cs typeface="Calibri" pitchFamily="34" charset="-120"/>
              </a:rPr>
              <a:t>blocks  →</a:t>
            </a:r>
            <a:endParaRPr lang="en-US" sz="1100" dirty="0"/>
          </a:p>
        </p:txBody>
      </p:sp>
      <p:sp>
        <p:nvSpPr>
          <p:cNvPr id="16" name="Shape 14"/>
          <p:cNvSpPr/>
          <p:nvPr/>
        </p:nvSpPr>
        <p:spPr>
          <a:xfrm>
            <a:off x="2834640" y="2761488"/>
            <a:ext cx="1051560" cy="384048"/>
          </a:xfrm>
          <a:prstGeom prst="roundRect">
            <a:avLst>
              <a:gd name="adj" fmla="val 19048"/>
            </a:avLst>
          </a:prstGeom>
          <a:solidFill>
            <a:srgbClr val="8036F0">
              <a:alpha val="18000"/>
            </a:srgbClr>
          </a:solidFill>
          <a:ln w="12700">
            <a:solidFill>
              <a:srgbClr val="8036F0"/>
            </a:solidFill>
            <a:prstDash val="solid"/>
          </a:ln>
        </p:spPr>
      </p:sp>
      <p:sp>
        <p:nvSpPr>
          <p:cNvPr id="17" name="Text 15"/>
          <p:cNvSpPr txBox="1"/>
          <p:nvPr/>
        </p:nvSpPr>
        <p:spPr>
          <a:xfrm>
            <a:off x="2834640" y="2761488"/>
            <a:ext cx="1051560" cy="384048"/>
          </a:xfrm>
          <a:prstGeom prst="rect">
            <a:avLst/>
          </a:prstGeom>
          <a:noFill/>
          <a:ln/>
        </p:spPr>
        <p:txBody>
          <a:bodyPr wrap="square" lIns="0" tIns="0" rIns="0" bIns="0" rtlCol="0" anchor="ctr"/>
          <a:lstStyle/>
          <a:p>
            <a:pPr algn="ctr" indent="0" marL="0">
              <a:buNone/>
            </a:pPr>
            <a:r>
              <a:rPr lang="en-US" sz="1250" b="1" dirty="0">
                <a:solidFill>
                  <a:srgbClr val="8036F0"/>
                </a:solidFill>
                <a:latin typeface="Calibri" pitchFamily="34" charset="0"/>
                <a:ea typeface="Calibri" pitchFamily="34" charset="-122"/>
                <a:cs typeface="Calibri" pitchFamily="34" charset="-120"/>
              </a:rPr>
              <a:t>ATSL-8</a:t>
            </a:r>
            <a:endParaRPr lang="en-US" sz="1250" dirty="0"/>
          </a:p>
        </p:txBody>
      </p:sp>
      <p:sp>
        <p:nvSpPr>
          <p:cNvPr id="18" name="Text 16"/>
          <p:cNvSpPr txBox="1"/>
          <p:nvPr/>
        </p:nvSpPr>
        <p:spPr>
          <a:xfrm>
            <a:off x="4114800" y="2560320"/>
            <a:ext cx="7296912" cy="786384"/>
          </a:xfrm>
          <a:prstGeom prst="rect">
            <a:avLst/>
          </a:prstGeom>
          <a:noFill/>
          <a:ln/>
        </p:spPr>
        <p:txBody>
          <a:bodyPr wrap="square" lIns="0" tIns="0" rIns="0" bIns="0" rtlCol="0" anchor="ctr"/>
          <a:lstStyle/>
          <a:p>
            <a:pPr indent="0" marL="0">
              <a:buNone/>
            </a:pPr>
            <a:r>
              <a:rPr lang="en-US" sz="1250" dirty="0">
                <a:solidFill>
                  <a:srgbClr val="5B6180"/>
                </a:solidFill>
                <a:latin typeface="Calibri" pitchFamily="34" charset="0"/>
                <a:ea typeface="Calibri" pitchFamily="34" charset="-122"/>
                <a:cs typeface="Calibri" pitchFamily="34" charset="-120"/>
              </a:rPr>
              <a:t>Routing logic cannot be implemented until routing rules and team mapping are finalised.</a:t>
            </a:r>
            <a:endParaRPr lang="en-US" sz="1250" dirty="0"/>
          </a:p>
        </p:txBody>
      </p:sp>
      <p:sp>
        <p:nvSpPr>
          <p:cNvPr id="19" name="Shape 17"/>
          <p:cNvSpPr/>
          <p:nvPr/>
        </p:nvSpPr>
        <p:spPr>
          <a:xfrm>
            <a:off x="502920" y="3493008"/>
            <a:ext cx="11183112" cy="786384"/>
          </a:xfrm>
          <a:prstGeom prst="roundRect">
            <a:avLst>
              <a:gd name="adj" fmla="val 9302"/>
            </a:avLst>
          </a:prstGeom>
          <a:solidFill>
            <a:srgbClr val="FFFFFF"/>
          </a:solidFill>
          <a:ln w="12700">
            <a:solidFill>
              <a:srgbClr val="D8DEF2"/>
            </a:solidFill>
            <a:prstDash val="solid"/>
          </a:ln>
          <a:effectLst>
            <a:outerShdw sx="100000" sy="100000" kx="0" ky="0" algn="bl" rotWithShape="0" blurRad="88900" dist="19050" dir="5400000">
              <a:srgbClr val="8A93C0">
                <a:alpha val="15000"/>
              </a:srgbClr>
            </a:outerShdw>
          </a:effectLst>
        </p:spPr>
      </p:sp>
      <p:sp>
        <p:nvSpPr>
          <p:cNvPr id="20" name="Shape 18"/>
          <p:cNvSpPr/>
          <p:nvPr/>
        </p:nvSpPr>
        <p:spPr>
          <a:xfrm>
            <a:off x="740664" y="3694176"/>
            <a:ext cx="1051560" cy="384048"/>
          </a:xfrm>
          <a:prstGeom prst="roundRect">
            <a:avLst>
              <a:gd name="adj" fmla="val 19048"/>
            </a:avLst>
          </a:prstGeom>
          <a:solidFill>
            <a:srgbClr val="1364F4"/>
          </a:solidFill>
          <a:ln w="12700">
            <a:solidFill>
              <a:srgbClr val="1364F4"/>
            </a:solidFill>
            <a:prstDash val="solid"/>
          </a:ln>
        </p:spPr>
      </p:sp>
      <p:sp>
        <p:nvSpPr>
          <p:cNvPr id="21" name="Text 19"/>
          <p:cNvSpPr txBox="1"/>
          <p:nvPr/>
        </p:nvSpPr>
        <p:spPr>
          <a:xfrm>
            <a:off x="740664" y="3694176"/>
            <a:ext cx="105156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KAN-6</a:t>
            </a:r>
            <a:endParaRPr lang="en-US" sz="1250" dirty="0"/>
          </a:p>
        </p:txBody>
      </p:sp>
      <p:sp>
        <p:nvSpPr>
          <p:cNvPr id="22" name="Text 20"/>
          <p:cNvSpPr txBox="1"/>
          <p:nvPr/>
        </p:nvSpPr>
        <p:spPr>
          <a:xfrm>
            <a:off x="1874520" y="3694176"/>
            <a:ext cx="914400" cy="384048"/>
          </a:xfrm>
          <a:prstGeom prst="rect">
            <a:avLst/>
          </a:prstGeom>
          <a:noFill/>
          <a:ln/>
        </p:spPr>
        <p:txBody>
          <a:bodyPr wrap="square" lIns="0" tIns="0" rIns="0" bIns="0" rtlCol="0" anchor="ctr"/>
          <a:lstStyle/>
          <a:p>
            <a:pPr algn="ctr" indent="0" marL="0">
              <a:buNone/>
            </a:pPr>
            <a:r>
              <a:rPr lang="en-US" sz="1100" b="1" dirty="0">
                <a:solidFill>
                  <a:srgbClr val="5B6180"/>
                </a:solidFill>
                <a:latin typeface="Calibri" pitchFamily="34" charset="0"/>
                <a:ea typeface="Calibri" pitchFamily="34" charset="-122"/>
                <a:cs typeface="Calibri" pitchFamily="34" charset="-120"/>
              </a:rPr>
              <a:t>blocks  →</a:t>
            </a:r>
            <a:endParaRPr lang="en-US" sz="1100" dirty="0"/>
          </a:p>
        </p:txBody>
      </p:sp>
      <p:sp>
        <p:nvSpPr>
          <p:cNvPr id="23" name="Shape 21"/>
          <p:cNvSpPr/>
          <p:nvPr/>
        </p:nvSpPr>
        <p:spPr>
          <a:xfrm>
            <a:off x="2834640" y="3694176"/>
            <a:ext cx="1051560" cy="384048"/>
          </a:xfrm>
          <a:prstGeom prst="roundRect">
            <a:avLst>
              <a:gd name="adj" fmla="val 19048"/>
            </a:avLst>
          </a:prstGeom>
          <a:solidFill>
            <a:srgbClr val="1364F4">
              <a:alpha val="18000"/>
            </a:srgbClr>
          </a:solidFill>
          <a:ln w="12700">
            <a:solidFill>
              <a:srgbClr val="1364F4"/>
            </a:solidFill>
            <a:prstDash val="solid"/>
          </a:ln>
        </p:spPr>
      </p:sp>
      <p:sp>
        <p:nvSpPr>
          <p:cNvPr id="24" name="Text 22"/>
          <p:cNvSpPr txBox="1"/>
          <p:nvPr/>
        </p:nvSpPr>
        <p:spPr>
          <a:xfrm>
            <a:off x="2834640" y="3694176"/>
            <a:ext cx="1051560" cy="384048"/>
          </a:xfrm>
          <a:prstGeom prst="rect">
            <a:avLst/>
          </a:prstGeom>
          <a:noFill/>
          <a:ln/>
        </p:spPr>
        <p:txBody>
          <a:bodyPr wrap="square" lIns="0" tIns="0" rIns="0" bIns="0" rtlCol="0" anchor="ctr"/>
          <a:lstStyle/>
          <a:p>
            <a:pPr algn="ctr" indent="0" marL="0">
              <a:buNone/>
            </a:pPr>
            <a:r>
              <a:rPr lang="en-US" sz="1250" b="1" dirty="0">
                <a:solidFill>
                  <a:srgbClr val="1364F4"/>
                </a:solidFill>
                <a:latin typeface="Calibri" pitchFamily="34" charset="0"/>
                <a:ea typeface="Calibri" pitchFamily="34" charset="-122"/>
                <a:cs typeface="Calibri" pitchFamily="34" charset="-120"/>
              </a:rPr>
              <a:t>KAN-8</a:t>
            </a:r>
            <a:endParaRPr lang="en-US" sz="1250" dirty="0"/>
          </a:p>
        </p:txBody>
      </p:sp>
      <p:sp>
        <p:nvSpPr>
          <p:cNvPr id="25" name="Text 23"/>
          <p:cNvSpPr txBox="1"/>
          <p:nvPr/>
        </p:nvSpPr>
        <p:spPr>
          <a:xfrm>
            <a:off x="4114800" y="3493008"/>
            <a:ext cx="7296912" cy="786384"/>
          </a:xfrm>
          <a:prstGeom prst="rect">
            <a:avLst/>
          </a:prstGeom>
          <a:noFill/>
          <a:ln/>
        </p:spPr>
        <p:txBody>
          <a:bodyPr wrap="square" lIns="0" tIns="0" rIns="0" bIns="0" rtlCol="0" anchor="ctr"/>
          <a:lstStyle/>
          <a:p>
            <a:pPr indent="0" marL="0">
              <a:buNone/>
            </a:pPr>
            <a:r>
              <a:rPr lang="en-US" sz="1250" dirty="0">
                <a:solidFill>
                  <a:srgbClr val="5B6180"/>
                </a:solidFill>
                <a:latin typeface="Calibri" pitchFamily="34" charset="0"/>
                <a:ea typeface="Calibri" pitchFamily="34" charset="-122"/>
                <a:cs typeface="Calibri" pitchFamily="34" charset="-120"/>
              </a:rPr>
              <a:t>The EC2 security group cannot be configured before the EC2 instance exists.</a:t>
            </a:r>
            <a:endParaRPr lang="en-US" sz="1250" dirty="0"/>
          </a:p>
        </p:txBody>
      </p:sp>
      <p:sp>
        <p:nvSpPr>
          <p:cNvPr id="26" name="Text 24"/>
          <p:cNvSpPr txBox="1"/>
          <p:nvPr/>
        </p:nvSpPr>
        <p:spPr>
          <a:xfrm>
            <a:off x="502920" y="4526280"/>
            <a:ext cx="4572000" cy="256032"/>
          </a:xfrm>
          <a:prstGeom prst="rect">
            <a:avLst/>
          </a:prstGeom>
          <a:noFill/>
          <a:ln/>
        </p:spPr>
        <p:txBody>
          <a:bodyPr wrap="square" lIns="0" tIns="0" rIns="0" bIns="0" rtlCol="0" anchor="ctr"/>
          <a:lstStyle/>
          <a:p>
            <a:pPr indent="0" marL="0">
              <a:buNone/>
            </a:pPr>
            <a:r>
              <a:rPr lang="en-US" sz="1000" b="1" spc="120" kern="0" dirty="0">
                <a:solidFill>
                  <a:srgbClr val="5B6180"/>
                </a:solidFill>
                <a:latin typeface="Calibri" pitchFamily="34" charset="0"/>
                <a:ea typeface="Calibri" pitchFamily="34" charset="-122"/>
                <a:cs typeface="Calibri" pitchFamily="34" charset="-120"/>
              </a:rPr>
              <a:t>THE TPM SEQUENCE</a:t>
            </a:r>
            <a:endParaRPr lang="en-US" sz="1000" dirty="0"/>
          </a:p>
        </p:txBody>
      </p:sp>
      <p:sp>
        <p:nvSpPr>
          <p:cNvPr id="27" name="Shape 25"/>
          <p:cNvSpPr/>
          <p:nvPr/>
        </p:nvSpPr>
        <p:spPr>
          <a:xfrm>
            <a:off x="502920" y="4828032"/>
            <a:ext cx="1772412" cy="822960"/>
          </a:xfrm>
          <a:prstGeom prst="roundRect">
            <a:avLst>
              <a:gd name="adj" fmla="val 8889"/>
            </a:avLst>
          </a:prstGeom>
          <a:solidFill>
            <a:srgbClr val="1364F4"/>
          </a:solidFill>
          <a:ln w="12700">
            <a:solidFill>
              <a:srgbClr val="1364F4"/>
            </a:solidFill>
            <a:prstDash val="solid"/>
          </a:ln>
        </p:spPr>
      </p:sp>
      <p:sp>
        <p:nvSpPr>
          <p:cNvPr id="28" name="Text 26"/>
          <p:cNvSpPr txBox="1"/>
          <p:nvPr/>
        </p:nvSpPr>
        <p:spPr>
          <a:xfrm>
            <a:off x="612648" y="4828032"/>
            <a:ext cx="1315212" cy="82296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Identify</a:t>
            </a:r>
            <a:endParaRPr lang="en-US" sz="1250" dirty="0"/>
          </a:p>
        </p:txBody>
      </p:sp>
      <p:sp>
        <p:nvSpPr>
          <p:cNvPr id="29" name="Shape 27"/>
          <p:cNvSpPr/>
          <p:nvPr/>
        </p:nvSpPr>
        <p:spPr>
          <a:xfrm>
            <a:off x="2385060" y="4828032"/>
            <a:ext cx="1772412" cy="822960"/>
          </a:xfrm>
          <a:prstGeom prst="chevron">
            <a:avLst>
              <a:gd name="adj" fmla="val 8889"/>
            </a:avLst>
          </a:prstGeom>
          <a:solidFill>
            <a:srgbClr val="00B3A4"/>
          </a:solidFill>
          <a:ln w="12700">
            <a:solidFill>
              <a:srgbClr val="00B3A4"/>
            </a:solidFill>
            <a:prstDash val="solid"/>
          </a:ln>
        </p:spPr>
      </p:sp>
      <p:sp>
        <p:nvSpPr>
          <p:cNvPr id="30" name="Text 28"/>
          <p:cNvSpPr txBox="1"/>
          <p:nvPr/>
        </p:nvSpPr>
        <p:spPr>
          <a:xfrm>
            <a:off x="2695956" y="4828032"/>
            <a:ext cx="1315212" cy="82296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Link in</a:t>
            </a:r>
            <a:endParaRPr lang="en-US" sz="1250" dirty="0"/>
          </a:p>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Jira</a:t>
            </a:r>
            <a:endParaRPr lang="en-US" sz="1250" dirty="0"/>
          </a:p>
        </p:txBody>
      </p:sp>
      <p:sp>
        <p:nvSpPr>
          <p:cNvPr id="31" name="Shape 29"/>
          <p:cNvSpPr/>
          <p:nvPr/>
        </p:nvSpPr>
        <p:spPr>
          <a:xfrm>
            <a:off x="4267200" y="4828032"/>
            <a:ext cx="1772412" cy="822960"/>
          </a:xfrm>
          <a:prstGeom prst="chevron">
            <a:avLst>
              <a:gd name="adj" fmla="val 8889"/>
            </a:avLst>
          </a:prstGeom>
          <a:solidFill>
            <a:srgbClr val="F4436C"/>
          </a:solidFill>
          <a:ln w="12700">
            <a:solidFill>
              <a:srgbClr val="F4436C"/>
            </a:solidFill>
            <a:prstDash val="solid"/>
          </a:ln>
        </p:spPr>
      </p:sp>
      <p:sp>
        <p:nvSpPr>
          <p:cNvPr id="32" name="Text 30"/>
          <p:cNvSpPr txBox="1"/>
          <p:nvPr/>
        </p:nvSpPr>
        <p:spPr>
          <a:xfrm>
            <a:off x="4578096" y="4828032"/>
            <a:ext cx="1315212" cy="82296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Assess</a:t>
            </a:r>
            <a:endParaRPr lang="en-US" sz="1250" dirty="0"/>
          </a:p>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impact</a:t>
            </a:r>
            <a:endParaRPr lang="en-US" sz="1250" dirty="0"/>
          </a:p>
        </p:txBody>
      </p:sp>
      <p:sp>
        <p:nvSpPr>
          <p:cNvPr id="33" name="Shape 31"/>
          <p:cNvSpPr/>
          <p:nvPr/>
        </p:nvSpPr>
        <p:spPr>
          <a:xfrm>
            <a:off x="6149340" y="4828032"/>
            <a:ext cx="1772412" cy="822960"/>
          </a:xfrm>
          <a:prstGeom prst="chevron">
            <a:avLst>
              <a:gd name="adj" fmla="val 8889"/>
            </a:avLst>
          </a:prstGeom>
          <a:solidFill>
            <a:srgbClr val="8036F0"/>
          </a:solidFill>
          <a:ln w="12700">
            <a:solidFill>
              <a:srgbClr val="8036F0"/>
            </a:solidFill>
            <a:prstDash val="solid"/>
          </a:ln>
        </p:spPr>
      </p:sp>
      <p:sp>
        <p:nvSpPr>
          <p:cNvPr id="34" name="Text 32"/>
          <p:cNvSpPr txBox="1"/>
          <p:nvPr/>
        </p:nvSpPr>
        <p:spPr>
          <a:xfrm>
            <a:off x="6460236" y="4828032"/>
            <a:ext cx="1315212" cy="82296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Assign</a:t>
            </a:r>
            <a:endParaRPr lang="en-US" sz="1250" dirty="0"/>
          </a:p>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owner</a:t>
            </a:r>
            <a:endParaRPr lang="en-US" sz="1250" dirty="0"/>
          </a:p>
        </p:txBody>
      </p:sp>
      <p:sp>
        <p:nvSpPr>
          <p:cNvPr id="35" name="Shape 33"/>
          <p:cNvSpPr/>
          <p:nvPr/>
        </p:nvSpPr>
        <p:spPr>
          <a:xfrm>
            <a:off x="8031480" y="4828032"/>
            <a:ext cx="1772412" cy="822960"/>
          </a:xfrm>
          <a:prstGeom prst="chevron">
            <a:avLst>
              <a:gd name="adj" fmla="val 8889"/>
            </a:avLst>
          </a:prstGeom>
          <a:solidFill>
            <a:srgbClr val="FFB01F"/>
          </a:solidFill>
          <a:ln w="12700">
            <a:solidFill>
              <a:srgbClr val="FFB01F"/>
            </a:solidFill>
            <a:prstDash val="solid"/>
          </a:ln>
        </p:spPr>
      </p:sp>
      <p:sp>
        <p:nvSpPr>
          <p:cNvPr id="36" name="Text 34"/>
          <p:cNvSpPr txBox="1"/>
          <p:nvPr/>
        </p:nvSpPr>
        <p:spPr>
          <a:xfrm>
            <a:off x="8342376" y="4828032"/>
            <a:ext cx="1315212" cy="82296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Mitigate</a:t>
            </a:r>
            <a:endParaRPr lang="en-US" sz="1250" dirty="0"/>
          </a:p>
        </p:txBody>
      </p:sp>
      <p:sp>
        <p:nvSpPr>
          <p:cNvPr id="37" name="Shape 35"/>
          <p:cNvSpPr/>
          <p:nvPr/>
        </p:nvSpPr>
        <p:spPr>
          <a:xfrm>
            <a:off x="9913620" y="4828032"/>
            <a:ext cx="1772412" cy="822960"/>
          </a:xfrm>
          <a:prstGeom prst="chevron">
            <a:avLst>
              <a:gd name="adj" fmla="val 8889"/>
            </a:avLst>
          </a:prstGeom>
          <a:solidFill>
            <a:srgbClr val="16A34A"/>
          </a:solidFill>
          <a:ln w="12700">
            <a:solidFill>
              <a:srgbClr val="16A34A"/>
            </a:solidFill>
            <a:prstDash val="solid"/>
          </a:ln>
        </p:spPr>
      </p:sp>
      <p:sp>
        <p:nvSpPr>
          <p:cNvPr id="38" name="Text 36"/>
          <p:cNvSpPr txBox="1"/>
          <p:nvPr/>
        </p:nvSpPr>
        <p:spPr>
          <a:xfrm>
            <a:off x="10224516" y="4828032"/>
            <a:ext cx="1315212" cy="82296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Checkpoint</a:t>
            </a:r>
            <a:endParaRPr lang="en-US" sz="1250" dirty="0"/>
          </a:p>
        </p:txBody>
      </p:sp>
      <p:sp>
        <p:nvSpPr>
          <p:cNvPr id="39" name="Text 37"/>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40" name="Shape 38"/>
          <p:cNvSpPr/>
          <p:nvPr/>
        </p:nvSpPr>
        <p:spPr>
          <a:xfrm>
            <a:off x="11375136" y="6382512"/>
            <a:ext cx="310896" cy="310896"/>
          </a:xfrm>
          <a:prstGeom prst="ellipse">
            <a:avLst/>
          </a:prstGeom>
          <a:solidFill>
            <a:srgbClr val="EAEEFB"/>
          </a:solidFill>
          <a:ln w="12700">
            <a:solidFill>
              <a:srgbClr val="EAEEFB"/>
            </a:solidFill>
            <a:prstDash val="solid"/>
          </a:ln>
        </p:spPr>
      </p:sp>
      <p:sp>
        <p:nvSpPr>
          <p:cNvPr id="41" name="Text 39"/>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530706" cy="292608"/>
          </a:xfrm>
          <a:prstGeom prst="roundRect">
            <a:avLst>
              <a:gd name="adj" fmla="val 50000"/>
            </a:avLst>
          </a:prstGeom>
          <a:solidFill>
            <a:srgbClr val="F4436C"/>
          </a:solidFill>
          <a:ln w="12700">
            <a:solidFill>
              <a:srgbClr val="F4436C"/>
            </a:solidFill>
            <a:prstDash val="solid"/>
          </a:ln>
        </p:spPr>
      </p:sp>
      <p:sp>
        <p:nvSpPr>
          <p:cNvPr id="3" name="Text 1"/>
          <p:cNvSpPr txBox="1"/>
          <p:nvPr/>
        </p:nvSpPr>
        <p:spPr>
          <a:xfrm>
            <a:off x="502920" y="384048"/>
            <a:ext cx="1530706"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RISK</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Risk management: ATSL-5</a:t>
            </a:r>
            <a:endParaRPr lang="en-US" sz="3100" dirty="0"/>
          </a:p>
        </p:txBody>
      </p:sp>
      <p:sp>
        <p:nvSpPr>
          <p:cNvPr id="5" name="Shape 3"/>
          <p:cNvSpPr/>
          <p:nvPr/>
        </p:nvSpPr>
        <p:spPr>
          <a:xfrm>
            <a:off x="502920" y="1600200"/>
            <a:ext cx="11183112" cy="777240"/>
          </a:xfrm>
          <a:prstGeom prst="roundRect">
            <a:avLst>
              <a:gd name="adj" fmla="val 9412"/>
            </a:avLst>
          </a:prstGeom>
          <a:solidFill>
            <a:srgbClr val="F4436C">
              <a:alpha val="12000"/>
            </a:srgbClr>
          </a:solidFill>
          <a:ln w="12700">
            <a:solidFill>
              <a:srgbClr val="F4436C">
                <a:alpha val="60000"/>
              </a:srgbClr>
            </a:solidFill>
            <a:prstDash val="solid"/>
          </a:ln>
        </p:spPr>
      </p:sp>
      <p:sp>
        <p:nvSpPr>
          <p:cNvPr id="6" name="Text 4"/>
          <p:cNvSpPr txBox="1"/>
          <p:nvPr/>
        </p:nvSpPr>
        <p:spPr>
          <a:xfrm>
            <a:off x="777240" y="1600200"/>
            <a:ext cx="10634472" cy="777240"/>
          </a:xfrm>
          <a:prstGeom prst="rect">
            <a:avLst/>
          </a:prstGeom>
          <a:noFill/>
          <a:ln/>
        </p:spPr>
        <p:txBody>
          <a:bodyPr wrap="square" lIns="0" tIns="0" rIns="0" bIns="0" rtlCol="0" anchor="ctr"/>
          <a:lstStyle/>
          <a:p>
            <a:pPr indent="0" marL="0">
              <a:buNone/>
            </a:pPr>
            <a:r>
              <a:rPr lang="en-US" sz="1100" b="1" dirty="0">
                <a:solidFill>
                  <a:srgbClr val="F4436C"/>
                </a:solidFill>
                <a:latin typeface="Calibri" pitchFamily="34" charset="0"/>
                <a:ea typeface="Calibri" pitchFamily="34" charset="-122"/>
                <a:cs typeface="Calibri" pitchFamily="34" charset="-120"/>
              </a:rPr>
              <a:t>ATSL-5  ·  RISK  ·  HIGH IMPACT      </a:t>
            </a:r>
            <a:pPr indent="0" marL="0">
              <a:buNone/>
            </a:pPr>
            <a:r>
              <a:rPr lang="en-US" sz="1600" b="1" dirty="0">
                <a:solidFill>
                  <a:srgbClr val="100B2E"/>
                </a:solidFill>
                <a:latin typeface="Calibri" pitchFamily="34" charset="0"/>
                <a:ea typeface="Calibri" pitchFamily="34" charset="-122"/>
                <a:cs typeface="Calibri" pitchFamily="34" charset="-120"/>
              </a:rPr>
              <a:t>AI Prediction API may not be available on time</a:t>
            </a:r>
            <a:endParaRPr lang="en-US" sz="1100" dirty="0"/>
          </a:p>
        </p:txBody>
      </p:sp>
      <p:sp>
        <p:nvSpPr>
          <p:cNvPr id="7" name="Shape 5"/>
          <p:cNvSpPr/>
          <p:nvPr/>
        </p:nvSpPr>
        <p:spPr>
          <a:xfrm>
            <a:off x="502920" y="2542032"/>
            <a:ext cx="2603754" cy="1737360"/>
          </a:xfrm>
          <a:prstGeom prst="roundRect">
            <a:avLst>
              <a:gd name="adj" fmla="val 3158"/>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8" name="Shape 6"/>
          <p:cNvSpPr/>
          <p:nvPr/>
        </p:nvSpPr>
        <p:spPr>
          <a:xfrm>
            <a:off x="740664" y="2779776"/>
            <a:ext cx="420624" cy="420624"/>
          </a:xfrm>
          <a:prstGeom prst="ellipse">
            <a:avLst/>
          </a:prstGeom>
          <a:solidFill>
            <a:srgbClr val="1364F4"/>
          </a:solidFill>
          <a:ln w="12700">
            <a:solidFill>
              <a:srgbClr val="1364F4"/>
            </a:solidFill>
            <a:prstDash val="solid"/>
          </a:ln>
        </p:spPr>
      </p:sp>
      <p:sp>
        <p:nvSpPr>
          <p:cNvPr id="9" name="Text 7"/>
          <p:cNvSpPr txBox="1"/>
          <p:nvPr/>
        </p:nvSpPr>
        <p:spPr>
          <a:xfrm>
            <a:off x="740664" y="27797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a:t>
            </a:r>
            <a:endParaRPr lang="en-US" sz="1300" dirty="0"/>
          </a:p>
        </p:txBody>
      </p:sp>
      <p:sp>
        <p:nvSpPr>
          <p:cNvPr id="10" name="Text 8"/>
          <p:cNvSpPr txBox="1"/>
          <p:nvPr/>
        </p:nvSpPr>
        <p:spPr>
          <a:xfrm>
            <a:off x="740664" y="3291840"/>
            <a:ext cx="212826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Impact</a:t>
            </a:r>
            <a:endParaRPr lang="en-US" sz="1500" dirty="0"/>
          </a:p>
        </p:txBody>
      </p:sp>
      <p:sp>
        <p:nvSpPr>
          <p:cNvPr id="11" name="Text 9"/>
          <p:cNvSpPr txBox="1"/>
          <p:nvPr/>
        </p:nvSpPr>
        <p:spPr>
          <a:xfrm>
            <a:off x="740664" y="3694176"/>
            <a:ext cx="2128266" cy="36576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ATSL-2 priority prediction may be delayed, which puts the Sprint 1 delivery goal at risk.</a:t>
            </a:r>
            <a:endParaRPr lang="en-US" sz="1200" dirty="0"/>
          </a:p>
        </p:txBody>
      </p:sp>
      <p:sp>
        <p:nvSpPr>
          <p:cNvPr id="12" name="Shape 10"/>
          <p:cNvSpPr/>
          <p:nvPr/>
        </p:nvSpPr>
        <p:spPr>
          <a:xfrm>
            <a:off x="3362706" y="2542032"/>
            <a:ext cx="2603754" cy="1737360"/>
          </a:xfrm>
          <a:prstGeom prst="roundRect">
            <a:avLst>
              <a:gd name="adj" fmla="val 3158"/>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13" name="Shape 11"/>
          <p:cNvSpPr/>
          <p:nvPr/>
        </p:nvSpPr>
        <p:spPr>
          <a:xfrm>
            <a:off x="3600450" y="2779776"/>
            <a:ext cx="420624" cy="420624"/>
          </a:xfrm>
          <a:prstGeom prst="ellipse">
            <a:avLst/>
          </a:prstGeom>
          <a:solidFill>
            <a:srgbClr val="00B3A4"/>
          </a:solidFill>
          <a:ln w="12700">
            <a:solidFill>
              <a:srgbClr val="00B3A4"/>
            </a:solidFill>
            <a:prstDash val="solid"/>
          </a:ln>
        </p:spPr>
      </p:sp>
      <p:sp>
        <p:nvSpPr>
          <p:cNvPr id="14" name="Text 12"/>
          <p:cNvSpPr txBox="1"/>
          <p:nvPr/>
        </p:nvSpPr>
        <p:spPr>
          <a:xfrm>
            <a:off x="3600450" y="27797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a:t>
            </a:r>
            <a:endParaRPr lang="en-US" sz="1300" dirty="0"/>
          </a:p>
        </p:txBody>
      </p:sp>
      <p:sp>
        <p:nvSpPr>
          <p:cNvPr id="15" name="Text 13"/>
          <p:cNvSpPr txBox="1"/>
          <p:nvPr/>
        </p:nvSpPr>
        <p:spPr>
          <a:xfrm>
            <a:off x="3600450" y="3291840"/>
            <a:ext cx="212826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Owner</a:t>
            </a:r>
            <a:endParaRPr lang="en-US" sz="1500" dirty="0"/>
          </a:p>
        </p:txBody>
      </p:sp>
      <p:sp>
        <p:nvSpPr>
          <p:cNvPr id="16" name="Text 14"/>
          <p:cNvSpPr txBox="1"/>
          <p:nvPr/>
        </p:nvSpPr>
        <p:spPr>
          <a:xfrm>
            <a:off x="3600450" y="3694176"/>
            <a:ext cx="2128266" cy="36576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Named engineering owner in the AI/ML team, recorded on the work item rather than agreed verbally.</a:t>
            </a:r>
            <a:endParaRPr lang="en-US" sz="1200" dirty="0"/>
          </a:p>
        </p:txBody>
      </p:sp>
      <p:sp>
        <p:nvSpPr>
          <p:cNvPr id="17" name="Shape 15"/>
          <p:cNvSpPr/>
          <p:nvPr/>
        </p:nvSpPr>
        <p:spPr>
          <a:xfrm>
            <a:off x="6222492" y="2542032"/>
            <a:ext cx="2603754" cy="1737360"/>
          </a:xfrm>
          <a:prstGeom prst="roundRect">
            <a:avLst>
              <a:gd name="adj" fmla="val 3158"/>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18" name="Shape 16"/>
          <p:cNvSpPr/>
          <p:nvPr/>
        </p:nvSpPr>
        <p:spPr>
          <a:xfrm>
            <a:off x="6460236" y="2779776"/>
            <a:ext cx="420624" cy="420624"/>
          </a:xfrm>
          <a:prstGeom prst="ellipse">
            <a:avLst/>
          </a:prstGeom>
          <a:solidFill>
            <a:srgbClr val="F4436C"/>
          </a:solidFill>
          <a:ln w="12700">
            <a:solidFill>
              <a:srgbClr val="F4436C"/>
            </a:solidFill>
            <a:prstDash val="solid"/>
          </a:ln>
        </p:spPr>
      </p:sp>
      <p:sp>
        <p:nvSpPr>
          <p:cNvPr id="19" name="Text 17"/>
          <p:cNvSpPr txBox="1"/>
          <p:nvPr/>
        </p:nvSpPr>
        <p:spPr>
          <a:xfrm>
            <a:off x="6460236" y="27797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t>
            </a:r>
            <a:endParaRPr lang="en-US" sz="1300" dirty="0"/>
          </a:p>
        </p:txBody>
      </p:sp>
      <p:sp>
        <p:nvSpPr>
          <p:cNvPr id="20" name="Text 18"/>
          <p:cNvSpPr txBox="1"/>
          <p:nvPr/>
        </p:nvSpPr>
        <p:spPr>
          <a:xfrm>
            <a:off x="6460236" y="3291840"/>
            <a:ext cx="212826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Mitigation</a:t>
            </a:r>
            <a:endParaRPr lang="en-US" sz="1500" dirty="0"/>
          </a:p>
        </p:txBody>
      </p:sp>
      <p:sp>
        <p:nvSpPr>
          <p:cNvPr id="21" name="Text 19"/>
          <p:cNvSpPr txBox="1"/>
          <p:nvPr/>
        </p:nvSpPr>
        <p:spPr>
          <a:xfrm>
            <a:off x="6460236" y="3694176"/>
            <a:ext cx="2128266" cy="36576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Confirm API availability and the integration contract; build against a mock API in parallel so work continues.</a:t>
            </a:r>
            <a:endParaRPr lang="en-US" sz="1200" dirty="0"/>
          </a:p>
        </p:txBody>
      </p:sp>
      <p:sp>
        <p:nvSpPr>
          <p:cNvPr id="22" name="Shape 20"/>
          <p:cNvSpPr/>
          <p:nvPr/>
        </p:nvSpPr>
        <p:spPr>
          <a:xfrm>
            <a:off x="9082278" y="2542032"/>
            <a:ext cx="2603754" cy="1737360"/>
          </a:xfrm>
          <a:prstGeom prst="roundRect">
            <a:avLst>
              <a:gd name="adj" fmla="val 3158"/>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23" name="Shape 21"/>
          <p:cNvSpPr/>
          <p:nvPr/>
        </p:nvSpPr>
        <p:spPr>
          <a:xfrm>
            <a:off x="9320022" y="2779776"/>
            <a:ext cx="420624" cy="420624"/>
          </a:xfrm>
          <a:prstGeom prst="ellipse">
            <a:avLst/>
          </a:prstGeom>
          <a:solidFill>
            <a:srgbClr val="8036F0"/>
          </a:solidFill>
          <a:ln w="12700">
            <a:solidFill>
              <a:srgbClr val="8036F0"/>
            </a:solidFill>
            <a:prstDash val="solid"/>
          </a:ln>
        </p:spPr>
      </p:sp>
      <p:sp>
        <p:nvSpPr>
          <p:cNvPr id="24" name="Text 22"/>
          <p:cNvSpPr txBox="1"/>
          <p:nvPr/>
        </p:nvSpPr>
        <p:spPr>
          <a:xfrm>
            <a:off x="9320022" y="27797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5" name="Text 23"/>
          <p:cNvSpPr txBox="1"/>
          <p:nvPr/>
        </p:nvSpPr>
        <p:spPr>
          <a:xfrm>
            <a:off x="9320022" y="3291840"/>
            <a:ext cx="212826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Checkpoint</a:t>
            </a:r>
            <a:endParaRPr lang="en-US" sz="1500" dirty="0"/>
          </a:p>
        </p:txBody>
      </p:sp>
      <p:sp>
        <p:nvSpPr>
          <p:cNvPr id="26" name="Text 24"/>
          <p:cNvSpPr txBox="1"/>
          <p:nvPr/>
        </p:nvSpPr>
        <p:spPr>
          <a:xfrm>
            <a:off x="9320022" y="3694176"/>
            <a:ext cx="2128266" cy="36576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A dated readiness confirmation covering authentication, response format and latency.</a:t>
            </a:r>
            <a:endParaRPr lang="en-US" sz="1200" dirty="0"/>
          </a:p>
        </p:txBody>
      </p:sp>
      <p:sp>
        <p:nvSpPr>
          <p:cNvPr id="27" name="Shape 25"/>
          <p:cNvSpPr/>
          <p:nvPr/>
        </p:nvSpPr>
        <p:spPr>
          <a:xfrm>
            <a:off x="502920" y="4526280"/>
            <a:ext cx="11183112" cy="420624"/>
          </a:xfrm>
          <a:prstGeom prst="roundRect">
            <a:avLst>
              <a:gd name="adj" fmla="val 17391"/>
            </a:avLst>
          </a:prstGeom>
          <a:solidFill>
            <a:srgbClr val="F3F5FD"/>
          </a:solidFill>
          <a:ln w="12700">
            <a:solidFill>
              <a:srgbClr val="F3F5FD"/>
            </a:solidFill>
            <a:prstDash val="solid"/>
          </a:ln>
        </p:spPr>
      </p:sp>
      <p:sp>
        <p:nvSpPr>
          <p:cNvPr id="28" name="Shape 26"/>
          <p:cNvSpPr/>
          <p:nvPr/>
        </p:nvSpPr>
        <p:spPr>
          <a:xfrm>
            <a:off x="704088" y="4581144"/>
            <a:ext cx="310896" cy="310896"/>
          </a:xfrm>
          <a:prstGeom prst="ellipse">
            <a:avLst/>
          </a:prstGeom>
          <a:solidFill>
            <a:srgbClr val="1364F4"/>
          </a:solidFill>
          <a:ln w="12700">
            <a:solidFill>
              <a:srgbClr val="1364F4"/>
            </a:solidFill>
            <a:prstDash val="solid"/>
          </a:ln>
        </p:spPr>
      </p:sp>
      <p:sp>
        <p:nvSpPr>
          <p:cNvPr id="29" name="Text 27"/>
          <p:cNvSpPr txBox="1"/>
          <p:nvPr/>
        </p:nvSpPr>
        <p:spPr>
          <a:xfrm>
            <a:off x="704088" y="45811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Text 28"/>
          <p:cNvSpPr txBox="1"/>
          <p:nvPr/>
        </p:nvSpPr>
        <p:spPr>
          <a:xfrm>
            <a:off x="1124712" y="4572000"/>
            <a:ext cx="10341864" cy="32918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Risk comments are status updates.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Each comment on ATSL-5 states blocker, impact, owner, mitigation and target — structured, not conversational.</a:t>
            </a:r>
            <a:endParaRPr lang="en-US" sz="1300" dirty="0"/>
          </a:p>
        </p:txBody>
      </p:sp>
      <p:sp>
        <p:nvSpPr>
          <p:cNvPr id="31" name="Shape 29"/>
          <p:cNvSpPr/>
          <p:nvPr/>
        </p:nvSpPr>
        <p:spPr>
          <a:xfrm>
            <a:off x="502920" y="5074920"/>
            <a:ext cx="11183112" cy="420624"/>
          </a:xfrm>
          <a:prstGeom prst="roundRect">
            <a:avLst>
              <a:gd name="adj" fmla="val 17391"/>
            </a:avLst>
          </a:prstGeom>
          <a:solidFill>
            <a:srgbClr val="F3F5FD"/>
          </a:solidFill>
          <a:ln w="12700">
            <a:solidFill>
              <a:srgbClr val="F3F5FD"/>
            </a:solidFill>
            <a:prstDash val="solid"/>
          </a:ln>
        </p:spPr>
      </p:sp>
      <p:sp>
        <p:nvSpPr>
          <p:cNvPr id="32" name="Shape 30"/>
          <p:cNvSpPr/>
          <p:nvPr/>
        </p:nvSpPr>
        <p:spPr>
          <a:xfrm>
            <a:off x="704088" y="5129784"/>
            <a:ext cx="310896" cy="310896"/>
          </a:xfrm>
          <a:prstGeom prst="ellipse">
            <a:avLst/>
          </a:prstGeom>
          <a:solidFill>
            <a:srgbClr val="00B3A4"/>
          </a:solidFill>
          <a:ln w="12700">
            <a:solidFill>
              <a:srgbClr val="00B3A4"/>
            </a:solidFill>
            <a:prstDash val="solid"/>
          </a:ln>
        </p:spPr>
      </p:sp>
      <p:sp>
        <p:nvSpPr>
          <p:cNvPr id="33" name="Text 31"/>
          <p:cNvSpPr txBox="1"/>
          <p:nvPr/>
        </p:nvSpPr>
        <p:spPr>
          <a:xfrm>
            <a:off x="704088" y="51297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 name="Text 32"/>
          <p:cNvSpPr txBox="1"/>
          <p:nvPr/>
        </p:nvSpPr>
        <p:spPr>
          <a:xfrm>
            <a:off x="1124712" y="5120640"/>
            <a:ext cx="10341864" cy="32918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A risk stays open until it is validated.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The blocker is cleared when the dependency is proven to work, not when someone reports that it is ready.</a:t>
            </a:r>
            <a:endParaRPr lang="en-US" sz="1300" dirty="0"/>
          </a:p>
        </p:txBody>
      </p:sp>
      <p:sp>
        <p:nvSpPr>
          <p:cNvPr id="35" name="Shape 33"/>
          <p:cNvSpPr/>
          <p:nvPr/>
        </p:nvSpPr>
        <p:spPr>
          <a:xfrm>
            <a:off x="502920" y="5623560"/>
            <a:ext cx="11183112" cy="420624"/>
          </a:xfrm>
          <a:prstGeom prst="roundRect">
            <a:avLst>
              <a:gd name="adj" fmla="val 17391"/>
            </a:avLst>
          </a:prstGeom>
          <a:solidFill>
            <a:srgbClr val="F3F5FD"/>
          </a:solidFill>
          <a:ln w="12700">
            <a:solidFill>
              <a:srgbClr val="F3F5FD"/>
            </a:solidFill>
            <a:prstDash val="solid"/>
          </a:ln>
        </p:spPr>
      </p:sp>
      <p:sp>
        <p:nvSpPr>
          <p:cNvPr id="36" name="Shape 34"/>
          <p:cNvSpPr/>
          <p:nvPr/>
        </p:nvSpPr>
        <p:spPr>
          <a:xfrm>
            <a:off x="704088" y="5678424"/>
            <a:ext cx="310896" cy="310896"/>
          </a:xfrm>
          <a:prstGeom prst="ellipse">
            <a:avLst/>
          </a:prstGeom>
          <a:solidFill>
            <a:srgbClr val="F4436C"/>
          </a:solidFill>
          <a:ln w="12700">
            <a:solidFill>
              <a:srgbClr val="F4436C"/>
            </a:solidFill>
            <a:prstDash val="solid"/>
          </a:ln>
        </p:spPr>
      </p:sp>
      <p:sp>
        <p:nvSpPr>
          <p:cNvPr id="37" name="Text 35"/>
          <p:cNvSpPr txBox="1"/>
          <p:nvPr/>
        </p:nvSpPr>
        <p:spPr>
          <a:xfrm>
            <a:off x="704088" y="56784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6"/>
          <p:cNvSpPr txBox="1"/>
          <p:nvPr/>
        </p:nvSpPr>
        <p:spPr>
          <a:xfrm>
            <a:off x="1124712" y="5669280"/>
            <a:ext cx="10341864" cy="32918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The risk is queryable.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Labelled so the saved filter TPM - AI Risks surfaces it on the dashboard without manual curation.</a:t>
            </a:r>
            <a:endParaRPr lang="en-US" sz="1300" dirty="0"/>
          </a:p>
        </p:txBody>
      </p:sp>
      <p:sp>
        <p:nvSpPr>
          <p:cNvPr id="39" name="Text 37"/>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40" name="Shape 38"/>
          <p:cNvSpPr/>
          <p:nvPr/>
        </p:nvSpPr>
        <p:spPr>
          <a:xfrm>
            <a:off x="11375136" y="6382512"/>
            <a:ext cx="310896" cy="310896"/>
          </a:xfrm>
          <a:prstGeom prst="ellipse">
            <a:avLst/>
          </a:prstGeom>
          <a:solidFill>
            <a:srgbClr val="EAEEFB"/>
          </a:solidFill>
          <a:ln w="12700">
            <a:solidFill>
              <a:srgbClr val="EAEEFB"/>
            </a:solidFill>
            <a:prstDash val="solid"/>
          </a:ln>
        </p:spPr>
      </p:sp>
      <p:sp>
        <p:nvSpPr>
          <p:cNvPr id="41" name="Text 39"/>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068373"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2068373"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ESCALATION</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A repeatable escalation pattern</a:t>
            </a:r>
            <a:endParaRPr lang="en-US" sz="3100" dirty="0"/>
          </a:p>
        </p:txBody>
      </p:sp>
      <p:sp>
        <p:nvSpPr>
          <p:cNvPr id="5" name="Text 3"/>
          <p:cNvSpPr txBox="1"/>
          <p:nvPr/>
        </p:nvSpPr>
        <p:spPr>
          <a:xfrm>
            <a:off x="502920" y="1572768"/>
            <a:ext cx="11183112" cy="365760"/>
          </a:xfrm>
          <a:prstGeom prst="rect">
            <a:avLst/>
          </a:prstGeom>
          <a:noFill/>
          <a:ln/>
        </p:spPr>
        <p:txBody>
          <a:bodyPr wrap="square" lIns="0" tIns="0" rIns="0" bIns="0" rtlCol="0" anchor="ctr"/>
          <a:lstStyle/>
          <a:p>
            <a:pPr indent="0" marL="0">
              <a:buNone/>
            </a:pPr>
            <a:r>
              <a:rPr lang="en-US" sz="1350" dirty="0">
                <a:solidFill>
                  <a:srgbClr val="5B6180"/>
                </a:solidFill>
                <a:latin typeface="Calibri" pitchFamily="34" charset="0"/>
                <a:ea typeface="Calibri" pitchFamily="34" charset="-122"/>
                <a:cs typeface="Calibri" pitchFamily="34" charset="-120"/>
              </a:rPr>
              <a:t>The same five-part structure was used for every escalation, so stakeholders always receive a decision request rather than a status complaint.</a:t>
            </a:r>
            <a:endParaRPr lang="en-US" sz="1350" dirty="0"/>
          </a:p>
        </p:txBody>
      </p:sp>
      <p:sp>
        <p:nvSpPr>
          <p:cNvPr id="6" name="Shape 4"/>
          <p:cNvSpPr/>
          <p:nvPr/>
        </p:nvSpPr>
        <p:spPr>
          <a:xfrm>
            <a:off x="502920" y="2011680"/>
            <a:ext cx="3557016" cy="1746504"/>
          </a:xfrm>
          <a:prstGeom prst="roundRect">
            <a:avLst>
              <a:gd name="adj" fmla="val 3141"/>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7" name="Shape 5"/>
          <p:cNvSpPr/>
          <p:nvPr/>
        </p:nvSpPr>
        <p:spPr>
          <a:xfrm>
            <a:off x="740664" y="2249424"/>
            <a:ext cx="420624" cy="420624"/>
          </a:xfrm>
          <a:prstGeom prst="ellipse">
            <a:avLst/>
          </a:prstGeom>
          <a:solidFill>
            <a:srgbClr val="1364F4"/>
          </a:solidFill>
          <a:ln w="12700">
            <a:solidFill>
              <a:srgbClr val="1364F4"/>
            </a:solidFill>
            <a:prstDash val="solid"/>
          </a:ln>
        </p:spPr>
      </p:sp>
      <p:sp>
        <p:nvSpPr>
          <p:cNvPr id="8" name="Text 6"/>
          <p:cNvSpPr txBox="1"/>
          <p:nvPr/>
        </p:nvSpPr>
        <p:spPr>
          <a:xfrm>
            <a:off x="740664" y="22494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740664" y="2761488"/>
            <a:ext cx="3081528"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Risk statement</a:t>
            </a:r>
            <a:endParaRPr lang="en-US" sz="1500" dirty="0"/>
          </a:p>
        </p:txBody>
      </p:sp>
      <p:sp>
        <p:nvSpPr>
          <p:cNvPr id="10" name="Text 8"/>
          <p:cNvSpPr txBox="1"/>
          <p:nvPr/>
        </p:nvSpPr>
        <p:spPr>
          <a:xfrm>
            <a:off x="740664" y="3163824"/>
            <a:ext cx="3081528" cy="37490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What may happen, and why it matters to the delivery outcome — in one sentence, in business language.</a:t>
            </a:r>
            <a:endParaRPr lang="en-US" sz="1200" dirty="0"/>
          </a:p>
        </p:txBody>
      </p:sp>
      <p:sp>
        <p:nvSpPr>
          <p:cNvPr id="11" name="Shape 9"/>
          <p:cNvSpPr/>
          <p:nvPr/>
        </p:nvSpPr>
        <p:spPr>
          <a:xfrm>
            <a:off x="4315968" y="2011680"/>
            <a:ext cx="3557016" cy="1746504"/>
          </a:xfrm>
          <a:prstGeom prst="roundRect">
            <a:avLst>
              <a:gd name="adj" fmla="val 3141"/>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12" name="Shape 10"/>
          <p:cNvSpPr/>
          <p:nvPr/>
        </p:nvSpPr>
        <p:spPr>
          <a:xfrm>
            <a:off x="4553712" y="2249424"/>
            <a:ext cx="420624" cy="420624"/>
          </a:xfrm>
          <a:prstGeom prst="ellipse">
            <a:avLst/>
          </a:prstGeom>
          <a:solidFill>
            <a:srgbClr val="00B3A4"/>
          </a:solidFill>
          <a:ln w="12700">
            <a:solidFill>
              <a:srgbClr val="00B3A4"/>
            </a:solidFill>
            <a:prstDash val="solid"/>
          </a:ln>
        </p:spPr>
      </p:sp>
      <p:sp>
        <p:nvSpPr>
          <p:cNvPr id="13" name="Text 11"/>
          <p:cNvSpPr txBox="1"/>
          <p:nvPr/>
        </p:nvSpPr>
        <p:spPr>
          <a:xfrm>
            <a:off x="4553712" y="22494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53712" y="2761488"/>
            <a:ext cx="3081528"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Impact</a:t>
            </a:r>
            <a:endParaRPr lang="en-US" sz="1500" dirty="0"/>
          </a:p>
        </p:txBody>
      </p:sp>
      <p:sp>
        <p:nvSpPr>
          <p:cNvPr id="15" name="Text 13"/>
          <p:cNvSpPr txBox="1"/>
          <p:nvPr/>
        </p:nvSpPr>
        <p:spPr>
          <a:xfrm>
            <a:off x="4553712" y="3163824"/>
            <a:ext cx="3081528" cy="37490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The specific story, sprint or downstream capability affected, named rather than implied.</a:t>
            </a:r>
            <a:endParaRPr lang="en-US" sz="1200" dirty="0"/>
          </a:p>
        </p:txBody>
      </p:sp>
      <p:sp>
        <p:nvSpPr>
          <p:cNvPr id="16" name="Shape 14"/>
          <p:cNvSpPr/>
          <p:nvPr/>
        </p:nvSpPr>
        <p:spPr>
          <a:xfrm>
            <a:off x="8129016" y="2011680"/>
            <a:ext cx="3557016" cy="1746504"/>
          </a:xfrm>
          <a:prstGeom prst="roundRect">
            <a:avLst>
              <a:gd name="adj" fmla="val 3141"/>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17" name="Shape 15"/>
          <p:cNvSpPr/>
          <p:nvPr/>
        </p:nvSpPr>
        <p:spPr>
          <a:xfrm>
            <a:off x="8366760" y="2249424"/>
            <a:ext cx="420624" cy="420624"/>
          </a:xfrm>
          <a:prstGeom prst="ellipse">
            <a:avLst/>
          </a:prstGeom>
          <a:solidFill>
            <a:srgbClr val="F4436C"/>
          </a:solidFill>
          <a:ln w="12700">
            <a:solidFill>
              <a:srgbClr val="F4436C"/>
            </a:solidFill>
            <a:prstDash val="solid"/>
          </a:ln>
        </p:spPr>
      </p:sp>
      <p:sp>
        <p:nvSpPr>
          <p:cNvPr id="18" name="Text 16"/>
          <p:cNvSpPr txBox="1"/>
          <p:nvPr/>
        </p:nvSpPr>
        <p:spPr>
          <a:xfrm>
            <a:off x="8366760" y="22494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66760" y="2761488"/>
            <a:ext cx="3081528"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Escalation</a:t>
            </a:r>
            <a:endParaRPr lang="en-US" sz="1500" dirty="0"/>
          </a:p>
        </p:txBody>
      </p:sp>
      <p:sp>
        <p:nvSpPr>
          <p:cNvPr id="20" name="Text 18"/>
          <p:cNvSpPr txBox="1"/>
          <p:nvPr/>
        </p:nvSpPr>
        <p:spPr>
          <a:xfrm>
            <a:off x="8366760" y="3163824"/>
            <a:ext cx="3081528" cy="37490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The responsible engineering or team owner, and the exact decision being asked for.</a:t>
            </a:r>
            <a:endParaRPr lang="en-US" sz="1200" dirty="0"/>
          </a:p>
        </p:txBody>
      </p:sp>
      <p:sp>
        <p:nvSpPr>
          <p:cNvPr id="21" name="Shape 19"/>
          <p:cNvSpPr/>
          <p:nvPr/>
        </p:nvSpPr>
        <p:spPr>
          <a:xfrm>
            <a:off x="502920" y="4014216"/>
            <a:ext cx="3557016" cy="1746504"/>
          </a:xfrm>
          <a:prstGeom prst="roundRect">
            <a:avLst>
              <a:gd name="adj" fmla="val 3141"/>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22" name="Shape 20"/>
          <p:cNvSpPr/>
          <p:nvPr/>
        </p:nvSpPr>
        <p:spPr>
          <a:xfrm>
            <a:off x="740664" y="4251960"/>
            <a:ext cx="420624" cy="420624"/>
          </a:xfrm>
          <a:prstGeom prst="ellipse">
            <a:avLst/>
          </a:prstGeom>
          <a:solidFill>
            <a:srgbClr val="8036F0"/>
          </a:solidFill>
          <a:ln w="12700">
            <a:solidFill>
              <a:srgbClr val="8036F0"/>
            </a:solidFill>
            <a:prstDash val="solid"/>
          </a:ln>
        </p:spPr>
      </p:sp>
      <p:sp>
        <p:nvSpPr>
          <p:cNvPr id="23" name="Text 21"/>
          <p:cNvSpPr txBox="1"/>
          <p:nvPr/>
        </p:nvSpPr>
        <p:spPr>
          <a:xfrm>
            <a:off x="740664" y="42519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40664" y="4764024"/>
            <a:ext cx="3081528"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Recovery plan</a:t>
            </a:r>
            <a:endParaRPr lang="en-US" sz="1500" dirty="0"/>
          </a:p>
        </p:txBody>
      </p:sp>
      <p:sp>
        <p:nvSpPr>
          <p:cNvPr id="25" name="Text 23"/>
          <p:cNvSpPr txBox="1"/>
          <p:nvPr/>
        </p:nvSpPr>
        <p:spPr>
          <a:xfrm>
            <a:off x="740664" y="5166360"/>
            <a:ext cx="3081528" cy="37490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Parallelise, mock the dependency, resequence delivery, or communicate a schedule change.</a:t>
            </a:r>
            <a:endParaRPr lang="en-US" sz="1200" dirty="0"/>
          </a:p>
        </p:txBody>
      </p:sp>
      <p:sp>
        <p:nvSpPr>
          <p:cNvPr id="26" name="Shape 24"/>
          <p:cNvSpPr/>
          <p:nvPr/>
        </p:nvSpPr>
        <p:spPr>
          <a:xfrm>
            <a:off x="4315968" y="4014216"/>
            <a:ext cx="3557016" cy="1746504"/>
          </a:xfrm>
          <a:prstGeom prst="roundRect">
            <a:avLst>
              <a:gd name="adj" fmla="val 3141"/>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27" name="Shape 25"/>
          <p:cNvSpPr/>
          <p:nvPr/>
        </p:nvSpPr>
        <p:spPr>
          <a:xfrm>
            <a:off x="4553712" y="4251960"/>
            <a:ext cx="420624" cy="420624"/>
          </a:xfrm>
          <a:prstGeom prst="ellipse">
            <a:avLst/>
          </a:prstGeom>
          <a:solidFill>
            <a:srgbClr val="FFB01F"/>
          </a:solidFill>
          <a:ln w="12700">
            <a:solidFill>
              <a:srgbClr val="FFB01F"/>
            </a:solidFill>
            <a:prstDash val="solid"/>
          </a:ln>
        </p:spPr>
      </p:sp>
      <p:sp>
        <p:nvSpPr>
          <p:cNvPr id="28" name="Text 26"/>
          <p:cNvSpPr txBox="1"/>
          <p:nvPr/>
        </p:nvSpPr>
        <p:spPr>
          <a:xfrm>
            <a:off x="4553712" y="42519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4553712" y="4764024"/>
            <a:ext cx="3081528"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Next checkpoint</a:t>
            </a:r>
            <a:endParaRPr lang="en-US" sz="1500" dirty="0"/>
          </a:p>
        </p:txBody>
      </p:sp>
      <p:sp>
        <p:nvSpPr>
          <p:cNvPr id="30" name="Text 28"/>
          <p:cNvSpPr txBox="1"/>
          <p:nvPr/>
        </p:nvSpPr>
        <p:spPr>
          <a:xfrm>
            <a:off x="4553712" y="5166360"/>
            <a:ext cx="3081528" cy="37490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A concrete date or trigger. Without it, the escalation quietly expires.</a:t>
            </a:r>
            <a:endParaRPr lang="en-US" sz="1200" dirty="0"/>
          </a:p>
        </p:txBody>
      </p:sp>
      <p:sp>
        <p:nvSpPr>
          <p:cNvPr id="31" name="Shape 29"/>
          <p:cNvSpPr/>
          <p:nvPr/>
        </p:nvSpPr>
        <p:spPr>
          <a:xfrm>
            <a:off x="8129016" y="4014216"/>
            <a:ext cx="3557016" cy="1746504"/>
          </a:xfrm>
          <a:prstGeom prst="roundRect">
            <a:avLst>
              <a:gd name="adj" fmla="val 3141"/>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32" name="Shape 30"/>
          <p:cNvSpPr/>
          <p:nvPr/>
        </p:nvSpPr>
        <p:spPr>
          <a:xfrm>
            <a:off x="8366760" y="4251960"/>
            <a:ext cx="420624" cy="420624"/>
          </a:xfrm>
          <a:prstGeom prst="ellipse">
            <a:avLst/>
          </a:prstGeom>
          <a:solidFill>
            <a:srgbClr val="16A34A"/>
          </a:solidFill>
          <a:ln w="12700">
            <a:solidFill>
              <a:srgbClr val="16A34A"/>
            </a:solidFill>
            <a:prstDash val="solid"/>
          </a:ln>
        </p:spPr>
      </p:sp>
      <p:sp>
        <p:nvSpPr>
          <p:cNvPr id="33" name="Text 31"/>
          <p:cNvSpPr txBox="1"/>
          <p:nvPr/>
        </p:nvSpPr>
        <p:spPr>
          <a:xfrm>
            <a:off x="8366760" y="42519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8366760" y="4764024"/>
            <a:ext cx="3081528"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Close the loop</a:t>
            </a:r>
            <a:endParaRPr lang="en-US" sz="1500" dirty="0"/>
          </a:p>
        </p:txBody>
      </p:sp>
      <p:sp>
        <p:nvSpPr>
          <p:cNvPr id="35" name="Text 33"/>
          <p:cNvSpPr txBox="1"/>
          <p:nvPr/>
        </p:nvSpPr>
        <p:spPr>
          <a:xfrm>
            <a:off x="8366760" y="5166360"/>
            <a:ext cx="3081528" cy="37490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State publicly when the risk is validated and cleared, so trust in the reporting survives.</a:t>
            </a:r>
            <a:endParaRPr lang="en-US" sz="1200" dirty="0"/>
          </a:p>
        </p:txBody>
      </p:sp>
      <p:sp>
        <p:nvSpPr>
          <p:cNvPr id="36" name="Text 34"/>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37" name="Shape 35"/>
          <p:cNvSpPr/>
          <p:nvPr/>
        </p:nvSpPr>
        <p:spPr>
          <a:xfrm>
            <a:off x="11375136" y="6382512"/>
            <a:ext cx="310896" cy="310896"/>
          </a:xfrm>
          <a:prstGeom prst="ellipse">
            <a:avLst/>
          </a:prstGeom>
          <a:solidFill>
            <a:srgbClr val="EAEEFB"/>
          </a:solidFill>
          <a:ln w="12700">
            <a:solidFill>
              <a:srgbClr val="EAEEFB"/>
            </a:solidFill>
            <a:prstDash val="solid"/>
          </a:ln>
        </p:spPr>
      </p:sp>
      <p:sp>
        <p:nvSpPr>
          <p:cNvPr id="38" name="Text 36"/>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441094"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441094"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JQL</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used on this project</a:t>
            </a:r>
            <a:endParaRPr lang="en-US" sz="3100" dirty="0"/>
          </a:p>
        </p:txBody>
      </p:sp>
      <p:sp>
        <p:nvSpPr>
          <p:cNvPr id="5" name="Shape 3"/>
          <p:cNvSpPr/>
          <p:nvPr/>
        </p:nvSpPr>
        <p:spPr>
          <a:xfrm>
            <a:off x="502920" y="1645920"/>
            <a:ext cx="11183112" cy="566928"/>
          </a:xfrm>
          <a:prstGeom prst="roundRect">
            <a:avLst>
              <a:gd name="adj" fmla="val 9677"/>
            </a:avLst>
          </a:prstGeom>
          <a:solidFill>
            <a:srgbClr val="F3F5FD"/>
          </a:solidFill>
          <a:ln w="12700">
            <a:solidFill>
              <a:srgbClr val="D8DEF2"/>
            </a:solidFill>
            <a:prstDash val="solid"/>
          </a:ln>
        </p:spPr>
      </p:sp>
      <p:sp>
        <p:nvSpPr>
          <p:cNvPr id="6" name="Shape 4"/>
          <p:cNvSpPr/>
          <p:nvPr/>
        </p:nvSpPr>
        <p:spPr>
          <a:xfrm>
            <a:off x="704088" y="1773936"/>
            <a:ext cx="310896" cy="310896"/>
          </a:xfrm>
          <a:prstGeom prst="ellipse">
            <a:avLst/>
          </a:prstGeom>
          <a:solidFill>
            <a:srgbClr val="1364F4"/>
          </a:solidFill>
          <a:ln w="12700">
            <a:solidFill>
              <a:srgbClr val="1364F4"/>
            </a:solidFill>
            <a:prstDash val="solid"/>
          </a:ln>
        </p:spPr>
      </p:sp>
      <p:sp>
        <p:nvSpPr>
          <p:cNvPr id="7" name="Text 5"/>
          <p:cNvSpPr txBox="1"/>
          <p:nvPr/>
        </p:nvSpPr>
        <p:spPr>
          <a:xfrm>
            <a:off x="704088" y="17739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124712" y="1645920"/>
            <a:ext cx="5943600" cy="566928"/>
          </a:xfrm>
          <a:prstGeom prst="rect">
            <a:avLst/>
          </a:prstGeom>
          <a:noFill/>
          <a:ln/>
        </p:spPr>
        <p:txBody>
          <a:bodyPr wrap="square" lIns="0" tIns="0" rIns="0" bIns="0" rtlCol="0" anchor="ctr"/>
          <a:lstStyle/>
          <a:p>
            <a:pPr indent="0" marL="0">
              <a:buNone/>
            </a:pPr>
            <a:r>
              <a:rPr lang="en-US" sz="1200" b="1" dirty="0">
                <a:solidFill>
                  <a:srgbClr val="100B2E"/>
                </a:solidFill>
                <a:latin typeface="Courier New" pitchFamily="34" charset="0"/>
                <a:ea typeface="Courier New" pitchFamily="34" charset="-122"/>
                <a:cs typeface="Courier New" pitchFamily="34" charset="-120"/>
              </a:rPr>
              <a:t>project = ATSL AND status = "In Progress"</a:t>
            </a:r>
            <a:endParaRPr lang="en-US" sz="1200" dirty="0"/>
          </a:p>
        </p:txBody>
      </p:sp>
      <p:sp>
        <p:nvSpPr>
          <p:cNvPr id="9" name="Text 7"/>
          <p:cNvSpPr txBox="1"/>
          <p:nvPr/>
        </p:nvSpPr>
        <p:spPr>
          <a:xfrm>
            <a:off x="7178040" y="1645920"/>
            <a:ext cx="4325112" cy="566928"/>
          </a:xfrm>
          <a:prstGeom prst="rect">
            <a:avLst/>
          </a:prstGeom>
          <a:noFill/>
          <a:ln/>
        </p:spPr>
        <p:txBody>
          <a:bodyPr wrap="square" lIns="0" tIns="0" rIns="0" bIns="0" rtlCol="0" anchor="ctr"/>
          <a:lstStyle/>
          <a:p>
            <a:pPr indent="0" marL="0">
              <a:buNone/>
            </a:pPr>
            <a:r>
              <a:rPr lang="en-US" sz="1200" b="1" dirty="0">
                <a:solidFill>
                  <a:srgbClr val="1364F4"/>
                </a:solidFill>
                <a:latin typeface="Calibri" pitchFamily="34" charset="0"/>
                <a:ea typeface="Calibri" pitchFamily="34" charset="-122"/>
                <a:cs typeface="Calibri" pitchFamily="34" charset="-120"/>
              </a:rPr>
              <a:t>What is actively being worked on right now</a:t>
            </a:r>
            <a:endParaRPr lang="en-US" sz="1200" dirty="0"/>
          </a:p>
        </p:txBody>
      </p:sp>
      <p:sp>
        <p:nvSpPr>
          <p:cNvPr id="10" name="Shape 8"/>
          <p:cNvSpPr/>
          <p:nvPr/>
        </p:nvSpPr>
        <p:spPr>
          <a:xfrm>
            <a:off x="502920" y="2331720"/>
            <a:ext cx="11183112" cy="566928"/>
          </a:xfrm>
          <a:prstGeom prst="roundRect">
            <a:avLst>
              <a:gd name="adj" fmla="val 9677"/>
            </a:avLst>
          </a:prstGeom>
          <a:solidFill>
            <a:srgbClr val="F3F5FD"/>
          </a:solidFill>
          <a:ln w="12700">
            <a:solidFill>
              <a:srgbClr val="D8DEF2"/>
            </a:solidFill>
            <a:prstDash val="solid"/>
          </a:ln>
        </p:spPr>
      </p:sp>
      <p:sp>
        <p:nvSpPr>
          <p:cNvPr id="11" name="Shape 9"/>
          <p:cNvSpPr/>
          <p:nvPr/>
        </p:nvSpPr>
        <p:spPr>
          <a:xfrm>
            <a:off x="704088" y="2459736"/>
            <a:ext cx="310896" cy="310896"/>
          </a:xfrm>
          <a:prstGeom prst="ellipse">
            <a:avLst/>
          </a:prstGeom>
          <a:solidFill>
            <a:srgbClr val="00B3A4"/>
          </a:solidFill>
          <a:ln w="12700">
            <a:solidFill>
              <a:srgbClr val="00B3A4"/>
            </a:solidFill>
            <a:prstDash val="solid"/>
          </a:ln>
        </p:spPr>
      </p:sp>
      <p:sp>
        <p:nvSpPr>
          <p:cNvPr id="12" name="Text 10"/>
          <p:cNvSpPr txBox="1"/>
          <p:nvPr/>
        </p:nvSpPr>
        <p:spPr>
          <a:xfrm>
            <a:off x="704088" y="24597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124712" y="2331720"/>
            <a:ext cx="5943600" cy="566928"/>
          </a:xfrm>
          <a:prstGeom prst="rect">
            <a:avLst/>
          </a:prstGeom>
          <a:noFill/>
          <a:ln/>
        </p:spPr>
        <p:txBody>
          <a:bodyPr wrap="square" lIns="0" tIns="0" rIns="0" bIns="0" rtlCol="0" anchor="ctr"/>
          <a:lstStyle/>
          <a:p>
            <a:pPr indent="0" marL="0">
              <a:buNone/>
            </a:pPr>
            <a:r>
              <a:rPr lang="en-US" sz="1200" b="1" dirty="0">
                <a:solidFill>
                  <a:srgbClr val="100B2E"/>
                </a:solidFill>
                <a:latin typeface="Courier New" pitchFamily="34" charset="0"/>
                <a:ea typeface="Courier New" pitchFamily="34" charset="-122"/>
                <a:cs typeface="Courier New" pitchFamily="34" charset="-120"/>
              </a:rPr>
              <a:t>project = ATSL AND status != Done</a:t>
            </a:r>
            <a:endParaRPr lang="en-US" sz="1200" dirty="0"/>
          </a:p>
        </p:txBody>
      </p:sp>
      <p:sp>
        <p:nvSpPr>
          <p:cNvPr id="14" name="Text 12"/>
          <p:cNvSpPr txBox="1"/>
          <p:nvPr/>
        </p:nvSpPr>
        <p:spPr>
          <a:xfrm>
            <a:off x="7178040" y="2331720"/>
            <a:ext cx="4325112" cy="566928"/>
          </a:xfrm>
          <a:prstGeom prst="rect">
            <a:avLst/>
          </a:prstGeom>
          <a:noFill/>
          <a:ln/>
        </p:spPr>
        <p:txBody>
          <a:bodyPr wrap="square" lIns="0" tIns="0" rIns="0" bIns="0" rtlCol="0" anchor="ctr"/>
          <a:lstStyle/>
          <a:p>
            <a:pPr indent="0" marL="0">
              <a:buNone/>
            </a:pPr>
            <a:r>
              <a:rPr lang="en-US" sz="1200" b="1" dirty="0">
                <a:solidFill>
                  <a:srgbClr val="00B3A4"/>
                </a:solidFill>
                <a:latin typeface="Calibri" pitchFamily="34" charset="0"/>
                <a:ea typeface="Calibri" pitchFamily="34" charset="-122"/>
                <a:cs typeface="Calibri" pitchFamily="34" charset="-120"/>
              </a:rPr>
              <a:t>All outstanding delivery work</a:t>
            </a:r>
            <a:endParaRPr lang="en-US" sz="1200" dirty="0"/>
          </a:p>
        </p:txBody>
      </p:sp>
      <p:sp>
        <p:nvSpPr>
          <p:cNvPr id="15" name="Shape 13"/>
          <p:cNvSpPr/>
          <p:nvPr/>
        </p:nvSpPr>
        <p:spPr>
          <a:xfrm>
            <a:off x="502920" y="3017520"/>
            <a:ext cx="11183112" cy="566928"/>
          </a:xfrm>
          <a:prstGeom prst="roundRect">
            <a:avLst>
              <a:gd name="adj" fmla="val 9677"/>
            </a:avLst>
          </a:prstGeom>
          <a:solidFill>
            <a:srgbClr val="F3F5FD"/>
          </a:solidFill>
          <a:ln w="12700">
            <a:solidFill>
              <a:srgbClr val="D8DEF2"/>
            </a:solidFill>
            <a:prstDash val="solid"/>
          </a:ln>
        </p:spPr>
      </p:sp>
      <p:sp>
        <p:nvSpPr>
          <p:cNvPr id="16" name="Shape 14"/>
          <p:cNvSpPr/>
          <p:nvPr/>
        </p:nvSpPr>
        <p:spPr>
          <a:xfrm>
            <a:off x="704088" y="3145536"/>
            <a:ext cx="310896" cy="310896"/>
          </a:xfrm>
          <a:prstGeom prst="ellipse">
            <a:avLst/>
          </a:prstGeom>
          <a:solidFill>
            <a:srgbClr val="F4436C"/>
          </a:solidFill>
          <a:ln w="12700">
            <a:solidFill>
              <a:srgbClr val="F4436C"/>
            </a:solidFill>
            <a:prstDash val="solid"/>
          </a:ln>
        </p:spPr>
      </p:sp>
      <p:sp>
        <p:nvSpPr>
          <p:cNvPr id="17" name="Text 15"/>
          <p:cNvSpPr txBox="1"/>
          <p:nvPr/>
        </p:nvSpPr>
        <p:spPr>
          <a:xfrm>
            <a:off x="704088" y="31455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124712" y="3017520"/>
            <a:ext cx="5943600" cy="566928"/>
          </a:xfrm>
          <a:prstGeom prst="rect">
            <a:avLst/>
          </a:prstGeom>
          <a:noFill/>
          <a:ln/>
        </p:spPr>
        <p:txBody>
          <a:bodyPr wrap="square" lIns="0" tIns="0" rIns="0" bIns="0" rtlCol="0" anchor="ctr"/>
          <a:lstStyle/>
          <a:p>
            <a:pPr indent="0" marL="0">
              <a:buNone/>
            </a:pPr>
            <a:r>
              <a:rPr lang="en-US" sz="1200" b="1" dirty="0">
                <a:solidFill>
                  <a:srgbClr val="100B2E"/>
                </a:solidFill>
                <a:latin typeface="Courier New" pitchFamily="34" charset="0"/>
                <a:ea typeface="Courier New" pitchFamily="34" charset="-122"/>
                <a:cs typeface="Courier New" pitchFamily="34" charset="-120"/>
              </a:rPr>
              <a:t>project = ATSL AND priority in (Highest, High)</a:t>
            </a:r>
            <a:endParaRPr lang="en-US" sz="1200" dirty="0"/>
          </a:p>
        </p:txBody>
      </p:sp>
      <p:sp>
        <p:nvSpPr>
          <p:cNvPr id="19" name="Text 17"/>
          <p:cNvSpPr txBox="1"/>
          <p:nvPr/>
        </p:nvSpPr>
        <p:spPr>
          <a:xfrm>
            <a:off x="7178040" y="3017520"/>
            <a:ext cx="4325112" cy="566928"/>
          </a:xfrm>
          <a:prstGeom prst="rect">
            <a:avLst/>
          </a:prstGeom>
          <a:noFill/>
          <a:ln/>
        </p:spPr>
        <p:txBody>
          <a:bodyPr wrap="square" lIns="0" tIns="0" rIns="0" bIns="0" rtlCol="0" anchor="ctr"/>
          <a:lstStyle/>
          <a:p>
            <a:pPr indent="0" marL="0">
              <a:buNone/>
            </a:pPr>
            <a:r>
              <a:rPr lang="en-US" sz="1200" b="1" dirty="0">
                <a:solidFill>
                  <a:srgbClr val="F4436C"/>
                </a:solidFill>
                <a:latin typeface="Calibri" pitchFamily="34" charset="0"/>
                <a:ea typeface="Calibri" pitchFamily="34" charset="-122"/>
                <a:cs typeface="Calibri" pitchFamily="34" charset="-120"/>
              </a:rPr>
              <a:t>What deserves attention first</a:t>
            </a:r>
            <a:endParaRPr lang="en-US" sz="1200" dirty="0"/>
          </a:p>
        </p:txBody>
      </p:sp>
      <p:sp>
        <p:nvSpPr>
          <p:cNvPr id="20" name="Shape 18"/>
          <p:cNvSpPr/>
          <p:nvPr/>
        </p:nvSpPr>
        <p:spPr>
          <a:xfrm>
            <a:off x="502920" y="3703320"/>
            <a:ext cx="11183112" cy="566928"/>
          </a:xfrm>
          <a:prstGeom prst="roundRect">
            <a:avLst>
              <a:gd name="adj" fmla="val 9677"/>
            </a:avLst>
          </a:prstGeom>
          <a:solidFill>
            <a:srgbClr val="F3F5FD"/>
          </a:solidFill>
          <a:ln w="12700">
            <a:solidFill>
              <a:srgbClr val="D8DEF2"/>
            </a:solidFill>
            <a:prstDash val="solid"/>
          </a:ln>
        </p:spPr>
      </p:sp>
      <p:sp>
        <p:nvSpPr>
          <p:cNvPr id="21" name="Shape 19"/>
          <p:cNvSpPr/>
          <p:nvPr/>
        </p:nvSpPr>
        <p:spPr>
          <a:xfrm>
            <a:off x="704088" y="3831336"/>
            <a:ext cx="310896" cy="310896"/>
          </a:xfrm>
          <a:prstGeom prst="ellipse">
            <a:avLst/>
          </a:prstGeom>
          <a:solidFill>
            <a:srgbClr val="8036F0"/>
          </a:solidFill>
          <a:ln w="12700">
            <a:solidFill>
              <a:srgbClr val="8036F0"/>
            </a:solidFill>
            <a:prstDash val="solid"/>
          </a:ln>
        </p:spPr>
      </p:sp>
      <p:sp>
        <p:nvSpPr>
          <p:cNvPr id="22" name="Text 20"/>
          <p:cNvSpPr txBox="1"/>
          <p:nvPr/>
        </p:nvSpPr>
        <p:spPr>
          <a:xfrm>
            <a:off x="704088" y="38313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124712" y="3703320"/>
            <a:ext cx="5943600" cy="566928"/>
          </a:xfrm>
          <a:prstGeom prst="rect">
            <a:avLst/>
          </a:prstGeom>
          <a:noFill/>
          <a:ln/>
        </p:spPr>
        <p:txBody>
          <a:bodyPr wrap="square" lIns="0" tIns="0" rIns="0" bIns="0" rtlCol="0" anchor="ctr"/>
          <a:lstStyle/>
          <a:p>
            <a:pPr indent="0" marL="0">
              <a:buNone/>
            </a:pPr>
            <a:r>
              <a:rPr lang="en-US" sz="1200" b="1" dirty="0">
                <a:solidFill>
                  <a:srgbClr val="100B2E"/>
                </a:solidFill>
                <a:latin typeface="Courier New" pitchFamily="34" charset="0"/>
                <a:ea typeface="Courier New" pitchFamily="34" charset="-122"/>
                <a:cs typeface="Courier New" pitchFamily="34" charset="-120"/>
              </a:rPr>
              <a:t>project = ATSL AND assignee = currentUser()</a:t>
            </a:r>
            <a:endParaRPr lang="en-US" sz="1200" dirty="0"/>
          </a:p>
        </p:txBody>
      </p:sp>
      <p:sp>
        <p:nvSpPr>
          <p:cNvPr id="24" name="Text 22"/>
          <p:cNvSpPr txBox="1"/>
          <p:nvPr/>
        </p:nvSpPr>
        <p:spPr>
          <a:xfrm>
            <a:off x="7178040" y="3703320"/>
            <a:ext cx="4325112" cy="566928"/>
          </a:xfrm>
          <a:prstGeom prst="rect">
            <a:avLst/>
          </a:prstGeom>
          <a:noFill/>
          <a:ln/>
        </p:spPr>
        <p:txBody>
          <a:bodyPr wrap="square" lIns="0" tIns="0" rIns="0" bIns="0" rtlCol="0" anchor="ctr"/>
          <a:lstStyle/>
          <a:p>
            <a:pPr indent="0" marL="0">
              <a:buNone/>
            </a:pPr>
            <a:r>
              <a:rPr lang="en-US" sz="1200" b="1" dirty="0">
                <a:solidFill>
                  <a:srgbClr val="8036F0"/>
                </a:solidFill>
                <a:latin typeface="Calibri" pitchFamily="34" charset="0"/>
                <a:ea typeface="Calibri" pitchFamily="34" charset="-122"/>
                <a:cs typeface="Calibri" pitchFamily="34" charset="-120"/>
              </a:rPr>
              <a:t>Personal execution view</a:t>
            </a:r>
            <a:endParaRPr lang="en-US" sz="1200" dirty="0"/>
          </a:p>
        </p:txBody>
      </p:sp>
      <p:sp>
        <p:nvSpPr>
          <p:cNvPr id="25" name="Shape 23"/>
          <p:cNvSpPr/>
          <p:nvPr/>
        </p:nvSpPr>
        <p:spPr>
          <a:xfrm>
            <a:off x="502920" y="4389120"/>
            <a:ext cx="11183112" cy="566928"/>
          </a:xfrm>
          <a:prstGeom prst="roundRect">
            <a:avLst>
              <a:gd name="adj" fmla="val 9677"/>
            </a:avLst>
          </a:prstGeom>
          <a:solidFill>
            <a:srgbClr val="F3F5FD"/>
          </a:solidFill>
          <a:ln w="12700">
            <a:solidFill>
              <a:srgbClr val="D8DEF2"/>
            </a:solidFill>
            <a:prstDash val="solid"/>
          </a:ln>
        </p:spPr>
      </p:sp>
      <p:sp>
        <p:nvSpPr>
          <p:cNvPr id="26" name="Shape 24"/>
          <p:cNvSpPr/>
          <p:nvPr/>
        </p:nvSpPr>
        <p:spPr>
          <a:xfrm>
            <a:off x="704088" y="4517136"/>
            <a:ext cx="310896" cy="310896"/>
          </a:xfrm>
          <a:prstGeom prst="ellipse">
            <a:avLst/>
          </a:prstGeom>
          <a:solidFill>
            <a:srgbClr val="FFB01F"/>
          </a:solidFill>
          <a:ln w="12700">
            <a:solidFill>
              <a:srgbClr val="FFB01F"/>
            </a:solidFill>
            <a:prstDash val="solid"/>
          </a:ln>
        </p:spPr>
      </p:sp>
      <p:sp>
        <p:nvSpPr>
          <p:cNvPr id="27" name="Text 25"/>
          <p:cNvSpPr txBox="1"/>
          <p:nvPr/>
        </p:nvSpPr>
        <p:spPr>
          <a:xfrm>
            <a:off x="704088" y="45171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1124712" y="4389120"/>
            <a:ext cx="5943600" cy="566928"/>
          </a:xfrm>
          <a:prstGeom prst="rect">
            <a:avLst/>
          </a:prstGeom>
          <a:noFill/>
          <a:ln/>
        </p:spPr>
        <p:txBody>
          <a:bodyPr wrap="square" lIns="0" tIns="0" rIns="0" bIns="0" rtlCol="0" anchor="ctr"/>
          <a:lstStyle/>
          <a:p>
            <a:pPr indent="0" marL="0">
              <a:buNone/>
            </a:pPr>
            <a:r>
              <a:rPr lang="en-US" sz="1200" b="1" dirty="0">
                <a:solidFill>
                  <a:srgbClr val="100B2E"/>
                </a:solidFill>
                <a:latin typeface="Courier New" pitchFamily="34" charset="0"/>
                <a:ea typeface="Courier New" pitchFamily="34" charset="-122"/>
                <a:cs typeface="Courier New" pitchFamily="34" charset="-120"/>
              </a:rPr>
              <a:t>project = KAN AND workItemLinkType = "is blocked by"</a:t>
            </a:r>
            <a:endParaRPr lang="en-US" sz="1200" dirty="0"/>
          </a:p>
        </p:txBody>
      </p:sp>
      <p:sp>
        <p:nvSpPr>
          <p:cNvPr id="29" name="Text 27"/>
          <p:cNvSpPr txBox="1"/>
          <p:nvPr/>
        </p:nvSpPr>
        <p:spPr>
          <a:xfrm>
            <a:off x="7178040" y="4389120"/>
            <a:ext cx="4325112" cy="566928"/>
          </a:xfrm>
          <a:prstGeom prst="rect">
            <a:avLst/>
          </a:prstGeom>
          <a:noFill/>
          <a:ln/>
        </p:spPr>
        <p:txBody>
          <a:bodyPr wrap="square" lIns="0" tIns="0" rIns="0" bIns="0" rtlCol="0" anchor="ctr"/>
          <a:lstStyle/>
          <a:p>
            <a:pPr indent="0" marL="0">
              <a:buNone/>
            </a:pPr>
            <a:r>
              <a:rPr lang="en-US" sz="1200" b="1" dirty="0">
                <a:solidFill>
                  <a:srgbClr val="FFB01F"/>
                </a:solidFill>
                <a:latin typeface="Calibri" pitchFamily="34" charset="0"/>
                <a:ea typeface="Calibri" pitchFamily="34" charset="-122"/>
                <a:cs typeface="Calibri" pitchFamily="34" charset="-120"/>
              </a:rPr>
              <a:t>Every blocked item in the cloud workstream</a:t>
            </a:r>
            <a:endParaRPr lang="en-US" sz="1200" dirty="0"/>
          </a:p>
        </p:txBody>
      </p:sp>
      <p:sp>
        <p:nvSpPr>
          <p:cNvPr id="30" name="Shape 28"/>
          <p:cNvSpPr/>
          <p:nvPr/>
        </p:nvSpPr>
        <p:spPr>
          <a:xfrm>
            <a:off x="502920" y="5074920"/>
            <a:ext cx="11183112" cy="566928"/>
          </a:xfrm>
          <a:prstGeom prst="roundRect">
            <a:avLst>
              <a:gd name="adj" fmla="val 9677"/>
            </a:avLst>
          </a:prstGeom>
          <a:solidFill>
            <a:srgbClr val="F3F5FD"/>
          </a:solidFill>
          <a:ln w="12700">
            <a:solidFill>
              <a:srgbClr val="D8DEF2"/>
            </a:solidFill>
            <a:prstDash val="solid"/>
          </a:ln>
        </p:spPr>
      </p:sp>
      <p:sp>
        <p:nvSpPr>
          <p:cNvPr id="31" name="Shape 29"/>
          <p:cNvSpPr/>
          <p:nvPr/>
        </p:nvSpPr>
        <p:spPr>
          <a:xfrm>
            <a:off x="704088" y="5202936"/>
            <a:ext cx="310896" cy="310896"/>
          </a:xfrm>
          <a:prstGeom prst="ellipse">
            <a:avLst/>
          </a:prstGeom>
          <a:solidFill>
            <a:srgbClr val="16A34A"/>
          </a:solidFill>
          <a:ln w="12700">
            <a:solidFill>
              <a:srgbClr val="16A34A"/>
            </a:solidFill>
            <a:prstDash val="solid"/>
          </a:ln>
        </p:spPr>
      </p:sp>
      <p:sp>
        <p:nvSpPr>
          <p:cNvPr id="32" name="Text 30"/>
          <p:cNvSpPr txBox="1"/>
          <p:nvPr/>
        </p:nvSpPr>
        <p:spPr>
          <a:xfrm>
            <a:off x="704088" y="52029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1124712" y="5074920"/>
            <a:ext cx="5943600" cy="566928"/>
          </a:xfrm>
          <a:prstGeom prst="rect">
            <a:avLst/>
          </a:prstGeom>
          <a:noFill/>
          <a:ln/>
        </p:spPr>
        <p:txBody>
          <a:bodyPr wrap="square" lIns="0" tIns="0" rIns="0" bIns="0" rtlCol="0" anchor="ctr"/>
          <a:lstStyle/>
          <a:p>
            <a:pPr indent="0" marL="0">
              <a:buNone/>
            </a:pPr>
            <a:r>
              <a:rPr lang="en-US" sz="1200" b="1" dirty="0">
                <a:solidFill>
                  <a:srgbClr val="100B2E"/>
                </a:solidFill>
                <a:latin typeface="Courier New" pitchFamily="34" charset="0"/>
                <a:ea typeface="Courier New" pitchFamily="34" charset="-122"/>
                <a:cs typeface="Courier New" pitchFamily="34" charset="-120"/>
              </a:rPr>
              <a:t>project = KAN ORDER BY Rank ASC</a:t>
            </a:r>
            <a:endParaRPr lang="en-US" sz="1200" dirty="0"/>
          </a:p>
        </p:txBody>
      </p:sp>
      <p:sp>
        <p:nvSpPr>
          <p:cNvPr id="34" name="Text 32"/>
          <p:cNvSpPr txBox="1"/>
          <p:nvPr/>
        </p:nvSpPr>
        <p:spPr>
          <a:xfrm>
            <a:off x="7178040" y="5074920"/>
            <a:ext cx="4325112" cy="566928"/>
          </a:xfrm>
          <a:prstGeom prst="rect">
            <a:avLst/>
          </a:prstGeom>
          <a:noFill/>
          <a:ln/>
        </p:spPr>
        <p:txBody>
          <a:bodyPr wrap="square" lIns="0" tIns="0" rIns="0" bIns="0" rtlCol="0" anchor="ctr"/>
          <a:lstStyle/>
          <a:p>
            <a:pPr indent="0" marL="0">
              <a:buNone/>
            </a:pPr>
            <a:r>
              <a:rPr lang="en-US" sz="1200" b="1" dirty="0">
                <a:solidFill>
                  <a:srgbClr val="16A34A"/>
                </a:solidFill>
                <a:latin typeface="Calibri" pitchFamily="34" charset="0"/>
                <a:ea typeface="Calibri" pitchFamily="34" charset="-122"/>
                <a:cs typeface="Calibri" pitchFamily="34" charset="-120"/>
              </a:rPr>
              <a:t>The ranked backlog in delivery order</a:t>
            </a:r>
            <a:endParaRPr lang="en-US" sz="1200" dirty="0"/>
          </a:p>
        </p:txBody>
      </p:sp>
      <p:sp>
        <p:nvSpPr>
          <p:cNvPr id="35" name="Text 33"/>
          <p:cNvSpPr txBox="1"/>
          <p:nvPr/>
        </p:nvSpPr>
        <p:spPr>
          <a:xfrm>
            <a:off x="502920" y="5742432"/>
            <a:ext cx="11183112" cy="365760"/>
          </a:xfrm>
          <a:prstGeom prst="rect">
            <a:avLst/>
          </a:prstGeom>
          <a:noFill/>
          <a:ln/>
        </p:spPr>
        <p:txBody>
          <a:bodyPr wrap="square" lIns="0" tIns="0" rIns="0" bIns="0" rtlCol="0" anchor="ctr"/>
          <a:lstStyle/>
          <a:p>
            <a:pPr indent="0" marL="0">
              <a:buNone/>
            </a:pPr>
            <a:r>
              <a:rPr lang="en-US" sz="1200" i="1" dirty="0">
                <a:solidFill>
                  <a:srgbClr val="5B6180"/>
                </a:solidFill>
                <a:latin typeface="Calibri" pitchFamily="34" charset="0"/>
                <a:ea typeface="Calibri" pitchFamily="34" charset="-122"/>
                <a:cs typeface="Calibri" pitchFamily="34" charset="-120"/>
              </a:rPr>
              <a:t>A negative result is still evidence: running the blocked-by query against ATSL returned no rows, which proved the dependency lived in the KAN project rather than being missing altogether.</a:t>
            </a:r>
            <a:endParaRPr lang="en-US" sz="1200" dirty="0"/>
          </a:p>
        </p:txBody>
      </p:sp>
      <p:sp>
        <p:nvSpPr>
          <p:cNvPr id="36" name="Text 34"/>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37" name="Shape 35"/>
          <p:cNvSpPr/>
          <p:nvPr/>
        </p:nvSpPr>
        <p:spPr>
          <a:xfrm>
            <a:off x="11375136" y="6382512"/>
            <a:ext cx="310896" cy="310896"/>
          </a:xfrm>
          <a:prstGeom prst="ellipse">
            <a:avLst/>
          </a:prstGeom>
          <a:solidFill>
            <a:srgbClr val="EAEEFB"/>
          </a:solidFill>
          <a:ln w="12700">
            <a:solidFill>
              <a:srgbClr val="EAEEFB"/>
            </a:solidFill>
            <a:prstDash val="solid"/>
          </a:ln>
        </p:spPr>
      </p:sp>
      <p:sp>
        <p:nvSpPr>
          <p:cNvPr id="38" name="Text 36"/>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FILTERS</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Saved filters as reusable data sources</a:t>
            </a:r>
            <a:endParaRPr lang="en-US" sz="3100" dirty="0"/>
          </a:p>
        </p:txBody>
      </p:sp>
      <p:sp>
        <p:nvSpPr>
          <p:cNvPr id="5" name="Shape 3"/>
          <p:cNvSpPr/>
          <p:nvPr/>
        </p:nvSpPr>
        <p:spPr>
          <a:xfrm>
            <a:off x="502920" y="1645920"/>
            <a:ext cx="11183112" cy="841248"/>
          </a:xfrm>
          <a:prstGeom prst="roundRect">
            <a:avLst>
              <a:gd name="adj" fmla="val 8696"/>
            </a:avLst>
          </a:prstGeom>
          <a:solidFill>
            <a:srgbClr val="FFFFFF"/>
          </a:solidFill>
          <a:ln w="12700">
            <a:solidFill>
              <a:srgbClr val="D8DEF2"/>
            </a:solidFill>
            <a:prstDash val="solid"/>
          </a:ln>
          <a:effectLst>
            <a:outerShdw sx="100000" sy="100000" kx="0" ky="0" algn="bl" rotWithShape="0" blurRad="88900" dist="19050" dir="5400000">
              <a:srgbClr val="8A93C0">
                <a:alpha val="15000"/>
              </a:srgbClr>
            </a:outerShdw>
          </a:effectLst>
        </p:spPr>
      </p:sp>
      <p:sp>
        <p:nvSpPr>
          <p:cNvPr id="6" name="Shape 4"/>
          <p:cNvSpPr/>
          <p:nvPr/>
        </p:nvSpPr>
        <p:spPr>
          <a:xfrm>
            <a:off x="758952" y="1874520"/>
            <a:ext cx="384048" cy="384048"/>
          </a:xfrm>
          <a:prstGeom prst="ellipse">
            <a:avLst/>
          </a:prstGeom>
          <a:solidFill>
            <a:srgbClr val="F4436C"/>
          </a:solidFill>
          <a:ln w="12700">
            <a:solidFill>
              <a:srgbClr val="F4436C"/>
            </a:solidFill>
            <a:prstDash val="solid"/>
          </a:ln>
        </p:spPr>
      </p:sp>
      <p:sp>
        <p:nvSpPr>
          <p:cNvPr id="7" name="Text 5"/>
          <p:cNvSpPr txBox="1"/>
          <p:nvPr/>
        </p:nvSpPr>
        <p:spPr>
          <a:xfrm>
            <a:off x="758952"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8" name="Text 6"/>
          <p:cNvSpPr txBox="1"/>
          <p:nvPr/>
        </p:nvSpPr>
        <p:spPr>
          <a:xfrm>
            <a:off x="1289304" y="1645920"/>
            <a:ext cx="5852160" cy="841248"/>
          </a:xfrm>
          <a:prstGeom prst="rect">
            <a:avLst/>
          </a:prstGeom>
          <a:noFill/>
          <a:ln/>
        </p:spPr>
        <p:txBody>
          <a:bodyPr wrap="square" lIns="0" tIns="0" rIns="0" bIns="0" rtlCol="0" anchor="ctr"/>
          <a:lstStyle/>
          <a:p>
            <a:pPr indent="0" marL="0">
              <a:lnSpc>
                <a:spcPts val="1700"/>
              </a:lnSpc>
              <a:buNone/>
            </a:pPr>
            <a:r>
              <a:rPr lang="en-US" sz="1400" b="1" dirty="0">
                <a:solidFill>
                  <a:srgbClr val="100B2E"/>
                </a:solidFill>
                <a:latin typeface="Calibri" pitchFamily="34" charset="0"/>
                <a:ea typeface="Calibri" pitchFamily="34" charset="-122"/>
                <a:cs typeface="Calibri" pitchFamily="34" charset="-120"/>
              </a:rPr>
              <a:t>TPM - AI Risks
</a:t>
            </a:r>
            <a:pPr indent="0" marL="0">
              <a:lnSpc>
                <a:spcPts val="1700"/>
              </a:lnSpc>
              <a:buNone/>
            </a:pPr>
            <a:r>
              <a:rPr lang="en-US" sz="1100" dirty="0">
                <a:solidFill>
                  <a:srgbClr val="5B6180"/>
                </a:solidFill>
                <a:latin typeface="Courier New" pitchFamily="34" charset="0"/>
                <a:ea typeface="Courier New" pitchFamily="34" charset="-122"/>
                <a:cs typeface="Courier New" pitchFamily="34" charset="-120"/>
              </a:rPr>
              <a:t>project = ATSL AND labels = risk</a:t>
            </a:r>
            <a:endParaRPr lang="en-US" sz="1400" dirty="0"/>
          </a:p>
        </p:txBody>
      </p:sp>
      <p:sp>
        <p:nvSpPr>
          <p:cNvPr id="9" name="Text 7"/>
          <p:cNvSpPr txBox="1"/>
          <p:nvPr/>
        </p:nvSpPr>
        <p:spPr>
          <a:xfrm>
            <a:off x="7269480" y="1645920"/>
            <a:ext cx="4233672" cy="841248"/>
          </a:xfrm>
          <a:prstGeom prst="rect">
            <a:avLst/>
          </a:prstGeom>
          <a:noFill/>
          <a:ln/>
        </p:spPr>
        <p:txBody>
          <a:bodyPr wrap="square" lIns="0" tIns="0" rIns="0" bIns="0" rtlCol="0" anchor="ctr"/>
          <a:lstStyle/>
          <a:p>
            <a:pPr indent="0" marL="0">
              <a:buNone/>
            </a:pPr>
            <a:r>
              <a:rPr lang="en-US" sz="1200" dirty="0">
                <a:solidFill>
                  <a:srgbClr val="5B6180"/>
                </a:solidFill>
                <a:latin typeface="Calibri" pitchFamily="34" charset="0"/>
                <a:ea typeface="Calibri" pitchFamily="34" charset="-122"/>
                <a:cs typeface="Calibri" pitchFamily="34" charset="-120"/>
              </a:rPr>
              <a:t>Surfaces ATSL-5 on the dashboard automatically, with no manual curation.</a:t>
            </a:r>
            <a:endParaRPr lang="en-US" sz="1200" dirty="0"/>
          </a:p>
        </p:txBody>
      </p:sp>
      <p:sp>
        <p:nvSpPr>
          <p:cNvPr id="10" name="Shape 8"/>
          <p:cNvSpPr/>
          <p:nvPr/>
        </p:nvSpPr>
        <p:spPr>
          <a:xfrm>
            <a:off x="502920" y="2633472"/>
            <a:ext cx="11183112" cy="841248"/>
          </a:xfrm>
          <a:prstGeom prst="roundRect">
            <a:avLst>
              <a:gd name="adj" fmla="val 8696"/>
            </a:avLst>
          </a:prstGeom>
          <a:solidFill>
            <a:srgbClr val="FFFFFF"/>
          </a:solidFill>
          <a:ln w="12700">
            <a:solidFill>
              <a:srgbClr val="D8DEF2"/>
            </a:solidFill>
            <a:prstDash val="solid"/>
          </a:ln>
          <a:effectLst>
            <a:outerShdw sx="100000" sy="100000" kx="0" ky="0" algn="bl" rotWithShape="0" blurRad="88900" dist="19050" dir="5400000">
              <a:srgbClr val="8A93C0">
                <a:alpha val="15000"/>
              </a:srgbClr>
            </a:outerShdw>
          </a:effectLst>
        </p:spPr>
      </p:sp>
      <p:sp>
        <p:nvSpPr>
          <p:cNvPr id="11" name="Shape 9"/>
          <p:cNvSpPr/>
          <p:nvPr/>
        </p:nvSpPr>
        <p:spPr>
          <a:xfrm>
            <a:off x="758952" y="2862072"/>
            <a:ext cx="384048" cy="384048"/>
          </a:xfrm>
          <a:prstGeom prst="ellipse">
            <a:avLst/>
          </a:prstGeom>
          <a:solidFill>
            <a:srgbClr val="FFB01F"/>
          </a:solidFill>
          <a:ln w="12700">
            <a:solidFill>
              <a:srgbClr val="FFB01F"/>
            </a:solidFill>
            <a:prstDash val="solid"/>
          </a:ln>
        </p:spPr>
      </p:sp>
      <p:sp>
        <p:nvSpPr>
          <p:cNvPr id="12" name="Text 10"/>
          <p:cNvSpPr txBox="1"/>
          <p:nvPr/>
        </p:nvSpPr>
        <p:spPr>
          <a:xfrm>
            <a:off x="758952" y="28620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3" name="Text 11"/>
          <p:cNvSpPr txBox="1"/>
          <p:nvPr/>
        </p:nvSpPr>
        <p:spPr>
          <a:xfrm>
            <a:off x="1289304" y="2633472"/>
            <a:ext cx="5852160" cy="841248"/>
          </a:xfrm>
          <a:prstGeom prst="rect">
            <a:avLst/>
          </a:prstGeom>
          <a:noFill/>
          <a:ln/>
        </p:spPr>
        <p:txBody>
          <a:bodyPr wrap="square" lIns="0" tIns="0" rIns="0" bIns="0" rtlCol="0" anchor="ctr"/>
          <a:lstStyle/>
          <a:p>
            <a:pPr indent="0" marL="0">
              <a:lnSpc>
                <a:spcPts val="1700"/>
              </a:lnSpc>
              <a:buNone/>
            </a:pPr>
            <a:r>
              <a:rPr lang="en-US" sz="1400" b="1" dirty="0">
                <a:solidFill>
                  <a:srgbClr val="100B2E"/>
                </a:solidFill>
                <a:latin typeface="Calibri" pitchFamily="34" charset="0"/>
                <a:ea typeface="Calibri" pitchFamily="34" charset="-122"/>
                <a:cs typeface="Calibri" pitchFamily="34" charset="-120"/>
              </a:rPr>
              <a:t>TPM - High Priority Open Work
</a:t>
            </a:r>
            <a:pPr indent="0" marL="0">
              <a:lnSpc>
                <a:spcPts val="1700"/>
              </a:lnSpc>
              <a:buNone/>
            </a:pPr>
            <a:r>
              <a:rPr lang="en-US" sz="1100" dirty="0">
                <a:solidFill>
                  <a:srgbClr val="5B6180"/>
                </a:solidFill>
                <a:latin typeface="Courier New" pitchFamily="34" charset="0"/>
                <a:ea typeface="Courier New" pitchFamily="34" charset="-122"/>
                <a:cs typeface="Courier New" pitchFamily="34" charset="-120"/>
              </a:rPr>
              <a:t>High-priority unresolved delivery work</a:t>
            </a:r>
            <a:endParaRPr lang="en-US" sz="1400" dirty="0"/>
          </a:p>
        </p:txBody>
      </p:sp>
      <p:sp>
        <p:nvSpPr>
          <p:cNvPr id="14" name="Text 12"/>
          <p:cNvSpPr txBox="1"/>
          <p:nvPr/>
        </p:nvSpPr>
        <p:spPr>
          <a:xfrm>
            <a:off x="7269480" y="2633472"/>
            <a:ext cx="4233672" cy="841248"/>
          </a:xfrm>
          <a:prstGeom prst="rect">
            <a:avLst/>
          </a:prstGeom>
          <a:noFill/>
          <a:ln/>
        </p:spPr>
        <p:txBody>
          <a:bodyPr wrap="square" lIns="0" tIns="0" rIns="0" bIns="0" rtlCol="0" anchor="ctr"/>
          <a:lstStyle/>
          <a:p>
            <a:pPr indent="0" marL="0">
              <a:buNone/>
            </a:pPr>
            <a:r>
              <a:rPr lang="en-US" sz="1200" dirty="0">
                <a:solidFill>
                  <a:srgbClr val="5B6180"/>
                </a:solidFill>
                <a:latin typeface="Calibri" pitchFamily="34" charset="0"/>
                <a:ea typeface="Calibri" pitchFamily="34" charset="-122"/>
                <a:cs typeface="Calibri" pitchFamily="34" charset="-120"/>
              </a:rPr>
              <a:t>Answers 'what is urgent' in one click for any stakeholder.</a:t>
            </a:r>
            <a:endParaRPr lang="en-US" sz="1200" dirty="0"/>
          </a:p>
        </p:txBody>
      </p:sp>
      <p:sp>
        <p:nvSpPr>
          <p:cNvPr id="15" name="Shape 13"/>
          <p:cNvSpPr/>
          <p:nvPr/>
        </p:nvSpPr>
        <p:spPr>
          <a:xfrm>
            <a:off x="502920" y="3621024"/>
            <a:ext cx="11183112" cy="841248"/>
          </a:xfrm>
          <a:prstGeom prst="roundRect">
            <a:avLst>
              <a:gd name="adj" fmla="val 8696"/>
            </a:avLst>
          </a:prstGeom>
          <a:solidFill>
            <a:srgbClr val="FFFFFF"/>
          </a:solidFill>
          <a:ln w="12700">
            <a:solidFill>
              <a:srgbClr val="D8DEF2"/>
            </a:solidFill>
            <a:prstDash val="solid"/>
          </a:ln>
          <a:effectLst>
            <a:outerShdw sx="100000" sy="100000" kx="0" ky="0" algn="bl" rotWithShape="0" blurRad="88900" dist="19050" dir="5400000">
              <a:srgbClr val="8A93C0">
                <a:alpha val="15000"/>
              </a:srgbClr>
            </a:outerShdw>
          </a:effectLst>
        </p:spPr>
      </p:sp>
      <p:sp>
        <p:nvSpPr>
          <p:cNvPr id="16" name="Shape 14"/>
          <p:cNvSpPr/>
          <p:nvPr/>
        </p:nvSpPr>
        <p:spPr>
          <a:xfrm>
            <a:off x="758952" y="3849624"/>
            <a:ext cx="384048" cy="384048"/>
          </a:xfrm>
          <a:prstGeom prst="ellipse">
            <a:avLst/>
          </a:prstGeom>
          <a:solidFill>
            <a:srgbClr val="1364F4"/>
          </a:solidFill>
          <a:ln w="12700">
            <a:solidFill>
              <a:srgbClr val="1364F4"/>
            </a:solidFill>
            <a:prstDash val="solid"/>
          </a:ln>
        </p:spPr>
      </p:sp>
      <p:sp>
        <p:nvSpPr>
          <p:cNvPr id="17" name="Text 15"/>
          <p:cNvSpPr txBox="1"/>
          <p:nvPr/>
        </p:nvSpPr>
        <p:spPr>
          <a:xfrm>
            <a:off x="758952" y="3849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8" name="Text 16"/>
          <p:cNvSpPr txBox="1"/>
          <p:nvPr/>
        </p:nvSpPr>
        <p:spPr>
          <a:xfrm>
            <a:off x="1289304" y="3621024"/>
            <a:ext cx="5852160" cy="841248"/>
          </a:xfrm>
          <a:prstGeom prst="rect">
            <a:avLst/>
          </a:prstGeom>
          <a:noFill/>
          <a:ln/>
        </p:spPr>
        <p:txBody>
          <a:bodyPr wrap="square" lIns="0" tIns="0" rIns="0" bIns="0" rtlCol="0" anchor="ctr"/>
          <a:lstStyle/>
          <a:p>
            <a:pPr indent="0" marL="0">
              <a:lnSpc>
                <a:spcPts val="1700"/>
              </a:lnSpc>
              <a:buNone/>
            </a:pPr>
            <a:r>
              <a:rPr lang="en-US" sz="1400" b="1" dirty="0">
                <a:solidFill>
                  <a:srgbClr val="100B2E"/>
                </a:solidFill>
                <a:latin typeface="Calibri" pitchFamily="34" charset="0"/>
                <a:ea typeface="Calibri" pitchFamily="34" charset="-122"/>
                <a:cs typeface="Calibri" pitchFamily="34" charset="-120"/>
              </a:rPr>
              <a:t>TPM - KAN Blockers
</a:t>
            </a:r>
            <a:pPr indent="0" marL="0">
              <a:lnSpc>
                <a:spcPts val="1700"/>
              </a:lnSpc>
              <a:buNone/>
            </a:pPr>
            <a:r>
              <a:rPr lang="en-US" sz="1100" dirty="0">
                <a:solidFill>
                  <a:srgbClr val="5B6180"/>
                </a:solidFill>
                <a:latin typeface="Courier New" pitchFamily="34" charset="0"/>
                <a:ea typeface="Courier New" pitchFamily="34" charset="-122"/>
                <a:cs typeface="Courier New" pitchFamily="34" charset="-120"/>
              </a:rPr>
              <a:t>project = KAN AND workItemLinkType = "is blocked by"</a:t>
            </a:r>
            <a:endParaRPr lang="en-US" sz="1400" dirty="0"/>
          </a:p>
        </p:txBody>
      </p:sp>
      <p:sp>
        <p:nvSpPr>
          <p:cNvPr id="19" name="Text 17"/>
          <p:cNvSpPr txBox="1"/>
          <p:nvPr/>
        </p:nvSpPr>
        <p:spPr>
          <a:xfrm>
            <a:off x="7269480" y="3621024"/>
            <a:ext cx="4233672" cy="841248"/>
          </a:xfrm>
          <a:prstGeom prst="rect">
            <a:avLst/>
          </a:prstGeom>
          <a:noFill/>
          <a:ln/>
        </p:spPr>
        <p:txBody>
          <a:bodyPr wrap="square" lIns="0" tIns="0" rIns="0" bIns="0" rtlCol="0" anchor="ctr"/>
          <a:lstStyle/>
          <a:p>
            <a:pPr indent="0" marL="0">
              <a:buNone/>
            </a:pPr>
            <a:r>
              <a:rPr lang="en-US" sz="1200" dirty="0">
                <a:solidFill>
                  <a:srgbClr val="5B6180"/>
                </a:solidFill>
                <a:latin typeface="Calibri" pitchFamily="34" charset="0"/>
                <a:ea typeface="Calibri" pitchFamily="34" charset="-122"/>
                <a:cs typeface="Calibri" pitchFamily="34" charset="-120"/>
              </a:rPr>
              <a:t>Answers 'what is blocked' for the cloud workstream.</a:t>
            </a:r>
            <a:endParaRPr lang="en-US" sz="1200" dirty="0"/>
          </a:p>
        </p:txBody>
      </p:sp>
      <p:sp>
        <p:nvSpPr>
          <p:cNvPr id="20" name="Shape 18"/>
          <p:cNvSpPr/>
          <p:nvPr/>
        </p:nvSpPr>
        <p:spPr>
          <a:xfrm>
            <a:off x="502920" y="4608576"/>
            <a:ext cx="11183112" cy="841248"/>
          </a:xfrm>
          <a:prstGeom prst="roundRect">
            <a:avLst>
              <a:gd name="adj" fmla="val 8696"/>
            </a:avLst>
          </a:prstGeom>
          <a:solidFill>
            <a:srgbClr val="FFFFFF"/>
          </a:solidFill>
          <a:ln w="12700">
            <a:solidFill>
              <a:srgbClr val="D8DEF2"/>
            </a:solidFill>
            <a:prstDash val="solid"/>
          </a:ln>
          <a:effectLst>
            <a:outerShdw sx="100000" sy="100000" kx="0" ky="0" algn="bl" rotWithShape="0" blurRad="88900" dist="19050" dir="5400000">
              <a:srgbClr val="8A93C0">
                <a:alpha val="15000"/>
              </a:srgbClr>
            </a:outerShdw>
          </a:effectLst>
        </p:spPr>
      </p:sp>
      <p:sp>
        <p:nvSpPr>
          <p:cNvPr id="21" name="Shape 19"/>
          <p:cNvSpPr/>
          <p:nvPr/>
        </p:nvSpPr>
        <p:spPr>
          <a:xfrm>
            <a:off x="758952" y="4837176"/>
            <a:ext cx="384048" cy="384048"/>
          </a:xfrm>
          <a:prstGeom prst="ellipse">
            <a:avLst/>
          </a:prstGeom>
          <a:solidFill>
            <a:srgbClr val="00B3A4"/>
          </a:solidFill>
          <a:ln w="12700">
            <a:solidFill>
              <a:srgbClr val="00B3A4"/>
            </a:solidFill>
            <a:prstDash val="solid"/>
          </a:ln>
        </p:spPr>
      </p:sp>
      <p:sp>
        <p:nvSpPr>
          <p:cNvPr id="22" name="Text 20"/>
          <p:cNvSpPr txBox="1"/>
          <p:nvPr/>
        </p:nvSpPr>
        <p:spPr>
          <a:xfrm>
            <a:off x="758952" y="4837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23" name="Text 21"/>
          <p:cNvSpPr txBox="1"/>
          <p:nvPr/>
        </p:nvSpPr>
        <p:spPr>
          <a:xfrm>
            <a:off x="1289304" y="4608576"/>
            <a:ext cx="5852160" cy="841248"/>
          </a:xfrm>
          <a:prstGeom prst="rect">
            <a:avLst/>
          </a:prstGeom>
          <a:noFill/>
          <a:ln/>
        </p:spPr>
        <p:txBody>
          <a:bodyPr wrap="square" lIns="0" tIns="0" rIns="0" bIns="0" rtlCol="0" anchor="ctr"/>
          <a:lstStyle/>
          <a:p>
            <a:pPr indent="0" marL="0">
              <a:lnSpc>
                <a:spcPts val="1700"/>
              </a:lnSpc>
              <a:buNone/>
            </a:pPr>
            <a:r>
              <a:rPr lang="en-US" sz="1400" b="1" dirty="0">
                <a:solidFill>
                  <a:srgbClr val="100B2E"/>
                </a:solidFill>
                <a:latin typeface="Calibri" pitchFamily="34" charset="0"/>
                <a:ea typeface="Calibri" pitchFamily="34" charset="-122"/>
                <a:cs typeface="Calibri" pitchFamily="34" charset="-120"/>
              </a:rPr>
              <a:t>AI TPM Scrum Practice
</a:t>
            </a:r>
            <a:pPr indent="0" marL="0">
              <a:lnSpc>
                <a:spcPts val="1700"/>
              </a:lnSpc>
              <a:buNone/>
            </a:pPr>
            <a:r>
              <a:rPr lang="en-US" sz="1100" dirty="0">
                <a:solidFill>
                  <a:srgbClr val="5B6180"/>
                </a:solidFill>
                <a:latin typeface="Courier New" pitchFamily="34" charset="0"/>
                <a:ea typeface="Courier New" pitchFamily="34" charset="-122"/>
                <a:cs typeface="Courier New" pitchFamily="34" charset="-120"/>
              </a:rPr>
              <a:t>project = KAN ORDER BY Rank ASC</a:t>
            </a:r>
            <a:endParaRPr lang="en-US" sz="1400" dirty="0"/>
          </a:p>
        </p:txBody>
      </p:sp>
      <p:sp>
        <p:nvSpPr>
          <p:cNvPr id="24" name="Text 22"/>
          <p:cNvSpPr txBox="1"/>
          <p:nvPr/>
        </p:nvSpPr>
        <p:spPr>
          <a:xfrm>
            <a:off x="7269480" y="4608576"/>
            <a:ext cx="4233672" cy="841248"/>
          </a:xfrm>
          <a:prstGeom prst="rect">
            <a:avLst/>
          </a:prstGeom>
          <a:noFill/>
          <a:ln/>
        </p:spPr>
        <p:txBody>
          <a:bodyPr wrap="square" lIns="0" tIns="0" rIns="0" bIns="0" rtlCol="0" anchor="ctr"/>
          <a:lstStyle/>
          <a:p>
            <a:pPr indent="0" marL="0">
              <a:buNone/>
            </a:pPr>
            <a:r>
              <a:rPr lang="en-US" sz="1200" dirty="0">
                <a:solidFill>
                  <a:srgbClr val="5B6180"/>
                </a:solidFill>
                <a:latin typeface="Calibri" pitchFamily="34" charset="0"/>
                <a:ea typeface="Calibri" pitchFamily="34" charset="-122"/>
                <a:cs typeface="Calibri" pitchFamily="34" charset="-120"/>
              </a:rPr>
              <a:t>The ranked master list feeding the dashboard filter gadget.</a:t>
            </a:r>
            <a:endParaRPr lang="en-US" sz="1200" dirty="0"/>
          </a:p>
        </p:txBody>
      </p:sp>
      <p:sp>
        <p:nvSpPr>
          <p:cNvPr id="25" name="Shape 23"/>
          <p:cNvSpPr/>
          <p:nvPr/>
        </p:nvSpPr>
        <p:spPr>
          <a:xfrm>
            <a:off x="502920" y="5577840"/>
            <a:ext cx="11183112" cy="548640"/>
          </a:xfrm>
          <a:prstGeom prst="roundRect">
            <a:avLst>
              <a:gd name="adj" fmla="val 13333"/>
            </a:avLst>
          </a:prstGeom>
          <a:solidFill>
            <a:srgbClr val="00B3A4">
              <a:alpha val="10000"/>
            </a:srgbClr>
          </a:solidFill>
          <a:ln w="12700">
            <a:solidFill>
              <a:srgbClr val="00B3A4">
                <a:alpha val="45000"/>
              </a:srgbClr>
            </a:solidFill>
            <a:prstDash val="solid"/>
          </a:ln>
        </p:spPr>
      </p:sp>
      <p:sp>
        <p:nvSpPr>
          <p:cNvPr id="26" name="Text 24"/>
          <p:cNvSpPr txBox="1"/>
          <p:nvPr/>
        </p:nvSpPr>
        <p:spPr>
          <a:xfrm>
            <a:off x="777240" y="5577840"/>
            <a:ext cx="10634472" cy="548640"/>
          </a:xfrm>
          <a:prstGeom prst="rect">
            <a:avLst/>
          </a:prstGeom>
          <a:noFill/>
          <a:ln/>
        </p:spPr>
        <p:txBody>
          <a:bodyPr wrap="square" lIns="0" tIns="0" rIns="0" bIns="0" rtlCol="0" anchor="ctr"/>
          <a:lstStyle/>
          <a:p>
            <a:pPr indent="0" marL="0">
              <a:buNone/>
            </a:pPr>
            <a:r>
              <a:rPr lang="en-US" sz="1250" b="1" dirty="0">
                <a:solidFill>
                  <a:srgbClr val="100B2E"/>
                </a:solidFill>
                <a:latin typeface="Calibri" pitchFamily="34" charset="0"/>
                <a:ea typeface="Calibri" pitchFamily="34" charset="-122"/>
                <a:cs typeface="Calibri" pitchFamily="34" charset="-120"/>
              </a:rPr>
              <a:t>A saved filter is the difference between a report someone has to rebuild and a report that maintains itself.</a:t>
            </a:r>
            <a:endParaRPr lang="en-US" sz="1250" dirty="0"/>
          </a:p>
        </p:txBody>
      </p:sp>
      <p:sp>
        <p:nvSpPr>
          <p:cNvPr id="27" name="Text 2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8" name="Shape 26"/>
          <p:cNvSpPr/>
          <p:nvPr/>
        </p:nvSpPr>
        <p:spPr>
          <a:xfrm>
            <a:off x="11375136" y="6382512"/>
            <a:ext cx="310896" cy="310896"/>
          </a:xfrm>
          <a:prstGeom prst="ellipse">
            <a:avLst/>
          </a:prstGeom>
          <a:solidFill>
            <a:srgbClr val="EAEEFB"/>
          </a:solidFill>
          <a:ln w="12700">
            <a:solidFill>
              <a:srgbClr val="EAEEFB"/>
            </a:solidFill>
            <a:prstDash val="solid"/>
          </a:ln>
        </p:spPr>
      </p:sp>
      <p:sp>
        <p:nvSpPr>
          <p:cNvPr id="29" name="Text 2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978762"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1978762"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REPORTING</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Reading the burndown and sprint report</a:t>
            </a:r>
            <a:endParaRPr lang="en-US" sz="3100" dirty="0"/>
          </a:p>
        </p:txBody>
      </p:sp>
      <p:graphicFrame>
        <p:nvGraphicFramePr>
          <p:cNvPr id="5" name="Chart 0" descr=""/>
          <p:cNvGraphicFramePr/>
          <p:nvPr/>
        </p:nvGraphicFramePr>
        <p:xfrm>
          <a:off x="502920" y="1627632"/>
          <a:ext cx="6309360" cy="27432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040880" y="1691640"/>
            <a:ext cx="4645152" cy="694944"/>
          </a:xfrm>
          <a:prstGeom prst="roundRect">
            <a:avLst>
              <a:gd name="adj" fmla="val 10526"/>
            </a:avLst>
          </a:prstGeom>
          <a:solidFill>
            <a:srgbClr val="F3F5FD"/>
          </a:solidFill>
          <a:ln w="12700">
            <a:solidFill>
              <a:srgbClr val="F3F5FD"/>
            </a:solidFill>
            <a:prstDash val="solid"/>
          </a:ln>
        </p:spPr>
      </p:sp>
      <p:sp>
        <p:nvSpPr>
          <p:cNvPr id="7" name="Shape 4"/>
          <p:cNvSpPr/>
          <p:nvPr/>
        </p:nvSpPr>
        <p:spPr>
          <a:xfrm>
            <a:off x="7242048" y="1883664"/>
            <a:ext cx="310896" cy="310896"/>
          </a:xfrm>
          <a:prstGeom prst="ellipse">
            <a:avLst/>
          </a:prstGeom>
          <a:solidFill>
            <a:srgbClr val="1364F4"/>
          </a:solidFill>
          <a:ln w="12700">
            <a:solidFill>
              <a:srgbClr val="1364F4"/>
            </a:solidFill>
            <a:prstDash val="solid"/>
          </a:ln>
        </p:spPr>
      </p:sp>
      <p:sp>
        <p:nvSpPr>
          <p:cNvPr id="8" name="Text 5"/>
          <p:cNvSpPr txBox="1"/>
          <p:nvPr/>
        </p:nvSpPr>
        <p:spPr>
          <a:xfrm>
            <a:off x="7242048" y="18836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7662672" y="1737360"/>
            <a:ext cx="3803904" cy="60350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The flat line is the signal.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Points only dropped when ATSL-1 completed; the plateau after it is the API dependency, not slow engineering.</a:t>
            </a:r>
            <a:endParaRPr lang="en-US" sz="1300" dirty="0"/>
          </a:p>
        </p:txBody>
      </p:sp>
      <p:sp>
        <p:nvSpPr>
          <p:cNvPr id="10" name="Shape 7"/>
          <p:cNvSpPr/>
          <p:nvPr/>
        </p:nvSpPr>
        <p:spPr>
          <a:xfrm>
            <a:off x="7040880" y="2514600"/>
            <a:ext cx="4645152" cy="694944"/>
          </a:xfrm>
          <a:prstGeom prst="roundRect">
            <a:avLst>
              <a:gd name="adj" fmla="val 10526"/>
            </a:avLst>
          </a:prstGeom>
          <a:solidFill>
            <a:srgbClr val="F3F5FD"/>
          </a:solidFill>
          <a:ln w="12700">
            <a:solidFill>
              <a:srgbClr val="F3F5FD"/>
            </a:solidFill>
            <a:prstDash val="solid"/>
          </a:ln>
        </p:spPr>
      </p:sp>
      <p:sp>
        <p:nvSpPr>
          <p:cNvPr id="11" name="Shape 8"/>
          <p:cNvSpPr/>
          <p:nvPr/>
        </p:nvSpPr>
        <p:spPr>
          <a:xfrm>
            <a:off x="7242048" y="2706624"/>
            <a:ext cx="310896" cy="310896"/>
          </a:xfrm>
          <a:prstGeom prst="ellipse">
            <a:avLst/>
          </a:prstGeom>
          <a:solidFill>
            <a:srgbClr val="00B3A4"/>
          </a:solidFill>
          <a:ln w="12700">
            <a:solidFill>
              <a:srgbClr val="00B3A4"/>
            </a:solidFill>
            <a:prstDash val="solid"/>
          </a:ln>
        </p:spPr>
      </p:sp>
      <p:sp>
        <p:nvSpPr>
          <p:cNvPr id="12" name="Text 9"/>
          <p:cNvSpPr txBox="1"/>
          <p:nvPr/>
        </p:nvSpPr>
        <p:spPr>
          <a:xfrm>
            <a:off x="7242048" y="27066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7662672" y="2560320"/>
            <a:ext cx="3803904" cy="60350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Burndown asks, it does not answer.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Is scope changing, is delivery slower, or is a dependency constraining throughput? The chart cannot tell you which.</a:t>
            </a:r>
            <a:endParaRPr lang="en-US" sz="1300" dirty="0"/>
          </a:p>
        </p:txBody>
      </p:sp>
      <p:sp>
        <p:nvSpPr>
          <p:cNvPr id="14" name="Shape 11"/>
          <p:cNvSpPr/>
          <p:nvPr/>
        </p:nvSpPr>
        <p:spPr>
          <a:xfrm>
            <a:off x="7040880" y="3337560"/>
            <a:ext cx="4645152" cy="694944"/>
          </a:xfrm>
          <a:prstGeom prst="roundRect">
            <a:avLst>
              <a:gd name="adj" fmla="val 10526"/>
            </a:avLst>
          </a:prstGeom>
          <a:solidFill>
            <a:srgbClr val="F3F5FD"/>
          </a:solidFill>
          <a:ln w="12700">
            <a:solidFill>
              <a:srgbClr val="F3F5FD"/>
            </a:solidFill>
            <a:prstDash val="solid"/>
          </a:ln>
        </p:spPr>
      </p:sp>
      <p:sp>
        <p:nvSpPr>
          <p:cNvPr id="15" name="Shape 12"/>
          <p:cNvSpPr/>
          <p:nvPr/>
        </p:nvSpPr>
        <p:spPr>
          <a:xfrm>
            <a:off x="7242048" y="3529584"/>
            <a:ext cx="310896" cy="310896"/>
          </a:xfrm>
          <a:prstGeom prst="ellipse">
            <a:avLst/>
          </a:prstGeom>
          <a:solidFill>
            <a:srgbClr val="F4436C"/>
          </a:solidFill>
          <a:ln w="12700">
            <a:solidFill>
              <a:srgbClr val="F4436C"/>
            </a:solidFill>
            <a:prstDash val="solid"/>
          </a:ln>
        </p:spPr>
      </p:sp>
      <p:sp>
        <p:nvSpPr>
          <p:cNvPr id="16" name="Text 13"/>
          <p:cNvSpPr txBox="1"/>
          <p:nvPr/>
        </p:nvSpPr>
        <p:spPr>
          <a:xfrm>
            <a:off x="7242048" y="35295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7662672" y="3383280"/>
            <a:ext cx="3803904" cy="60350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The sprint report pairs with it.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ATSL-1 completed and closed at 5 points; ATSL-2 and ATSL-3 carried, each with a stated reason.</a:t>
            </a:r>
            <a:endParaRPr lang="en-US" sz="1300" dirty="0"/>
          </a:p>
        </p:txBody>
      </p:sp>
      <p:sp>
        <p:nvSpPr>
          <p:cNvPr id="18" name="Shape 15"/>
          <p:cNvSpPr/>
          <p:nvPr/>
        </p:nvSpPr>
        <p:spPr>
          <a:xfrm>
            <a:off x="7040880" y="4160520"/>
            <a:ext cx="4645152" cy="694944"/>
          </a:xfrm>
          <a:prstGeom prst="roundRect">
            <a:avLst>
              <a:gd name="adj" fmla="val 10526"/>
            </a:avLst>
          </a:prstGeom>
          <a:solidFill>
            <a:srgbClr val="F3F5FD"/>
          </a:solidFill>
          <a:ln w="12700">
            <a:solidFill>
              <a:srgbClr val="F3F5FD"/>
            </a:solidFill>
            <a:prstDash val="solid"/>
          </a:ln>
        </p:spPr>
      </p:sp>
      <p:sp>
        <p:nvSpPr>
          <p:cNvPr id="19" name="Shape 16"/>
          <p:cNvSpPr/>
          <p:nvPr/>
        </p:nvSpPr>
        <p:spPr>
          <a:xfrm>
            <a:off x="7242048" y="4352544"/>
            <a:ext cx="310896" cy="310896"/>
          </a:xfrm>
          <a:prstGeom prst="ellipse">
            <a:avLst/>
          </a:prstGeom>
          <a:solidFill>
            <a:srgbClr val="8036F0"/>
          </a:solidFill>
          <a:ln w="12700">
            <a:solidFill>
              <a:srgbClr val="8036F0"/>
            </a:solidFill>
            <a:prstDash val="solid"/>
          </a:ln>
        </p:spPr>
      </p:sp>
      <p:sp>
        <p:nvSpPr>
          <p:cNvPr id="20" name="Text 17"/>
          <p:cNvSpPr txBox="1"/>
          <p:nvPr/>
        </p:nvSpPr>
        <p:spPr>
          <a:xfrm>
            <a:off x="7242048" y="43525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7662672" y="4206240"/>
            <a:ext cx="3803904" cy="60350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Never report the chart alone.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A deviation without a root cause is a number, not a status update.</a:t>
            </a:r>
            <a:endParaRPr lang="en-US" sz="1300" dirty="0"/>
          </a:p>
        </p:txBody>
      </p:sp>
      <p:sp>
        <p:nvSpPr>
          <p:cNvPr id="22" name="Shape 19"/>
          <p:cNvSpPr/>
          <p:nvPr/>
        </p:nvSpPr>
        <p:spPr>
          <a:xfrm>
            <a:off x="7040880" y="4983480"/>
            <a:ext cx="4645152" cy="694944"/>
          </a:xfrm>
          <a:prstGeom prst="roundRect">
            <a:avLst>
              <a:gd name="adj" fmla="val 10526"/>
            </a:avLst>
          </a:prstGeom>
          <a:solidFill>
            <a:srgbClr val="F3F5FD"/>
          </a:solidFill>
          <a:ln w="12700">
            <a:solidFill>
              <a:srgbClr val="F3F5FD"/>
            </a:solidFill>
            <a:prstDash val="solid"/>
          </a:ln>
        </p:spPr>
      </p:sp>
      <p:sp>
        <p:nvSpPr>
          <p:cNvPr id="23" name="Shape 20"/>
          <p:cNvSpPr/>
          <p:nvPr/>
        </p:nvSpPr>
        <p:spPr>
          <a:xfrm>
            <a:off x="7242048" y="5175504"/>
            <a:ext cx="310896" cy="310896"/>
          </a:xfrm>
          <a:prstGeom prst="ellipse">
            <a:avLst/>
          </a:prstGeom>
          <a:solidFill>
            <a:srgbClr val="FFB01F"/>
          </a:solidFill>
          <a:ln w="12700">
            <a:solidFill>
              <a:srgbClr val="FFB01F"/>
            </a:solidFill>
            <a:prstDash val="solid"/>
          </a:ln>
        </p:spPr>
      </p:sp>
      <p:sp>
        <p:nvSpPr>
          <p:cNvPr id="24" name="Text 21"/>
          <p:cNvSpPr txBox="1"/>
          <p:nvPr/>
        </p:nvSpPr>
        <p:spPr>
          <a:xfrm>
            <a:off x="7242048" y="51755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7662672" y="5029200"/>
            <a:ext cx="3803904" cy="60350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What was actually reported.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Goal partially met, one story delivered, one dependency-blocked, and a dated API checkpoint agreed with the engineering owner.</a:t>
            </a:r>
            <a:endParaRPr lang="en-US" sz="1300" dirty="0"/>
          </a:p>
        </p:txBody>
      </p:sp>
      <p:sp>
        <p:nvSpPr>
          <p:cNvPr id="26" name="Shape 23"/>
          <p:cNvSpPr/>
          <p:nvPr/>
        </p:nvSpPr>
        <p:spPr>
          <a:xfrm>
            <a:off x="502920" y="4572000"/>
            <a:ext cx="6309360" cy="1188720"/>
          </a:xfrm>
          <a:prstGeom prst="roundRect">
            <a:avLst>
              <a:gd name="adj" fmla="val 6154"/>
            </a:avLst>
          </a:prstGeom>
          <a:solidFill>
            <a:srgbClr val="F3F5FD"/>
          </a:solidFill>
          <a:ln w="12700">
            <a:solidFill>
              <a:srgbClr val="D8DEF2"/>
            </a:solidFill>
            <a:prstDash val="solid"/>
          </a:ln>
        </p:spPr>
      </p:sp>
      <p:sp>
        <p:nvSpPr>
          <p:cNvPr id="27" name="Text 24"/>
          <p:cNvSpPr txBox="1"/>
          <p:nvPr/>
        </p:nvSpPr>
        <p:spPr>
          <a:xfrm>
            <a:off x="758952" y="4572000"/>
            <a:ext cx="5797296" cy="1188720"/>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Sprint Report outcome.  </a:t>
            </a:r>
            <a:pPr indent="0" marL="0">
              <a:lnSpc>
                <a:spcPts val="1700"/>
              </a:lnSpc>
              <a:buNone/>
            </a:pPr>
            <a:r>
              <a:rPr lang="en-US" sz="1200" dirty="0">
                <a:solidFill>
                  <a:srgbClr val="5B6180"/>
                </a:solidFill>
                <a:latin typeface="Calibri" pitchFamily="34" charset="0"/>
                <a:ea typeface="Calibri" pitchFamily="34" charset="-122"/>
                <a:cs typeface="Calibri" pitchFamily="34" charset="-120"/>
              </a:rPr>
              <a:t>Completed: ATSL-1 (5 pts, Done). Not completed: ATSL-2 (In Progress, blocked by the API risk) and ATSL-3 (To Do, awaiting routing rules). Both carried forward with a documented reason rather than a silent rollover.</a:t>
            </a:r>
            <a:endParaRPr lang="en-US" sz="1300" dirty="0"/>
          </a:p>
        </p:txBody>
      </p:sp>
      <p:sp>
        <p:nvSpPr>
          <p:cNvPr id="28" name="Text 2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9" name="Shape 26"/>
          <p:cNvSpPr/>
          <p:nvPr/>
        </p:nvSpPr>
        <p:spPr>
          <a:xfrm>
            <a:off x="11375136" y="6382512"/>
            <a:ext cx="310896" cy="310896"/>
          </a:xfrm>
          <a:prstGeom prst="ellipse">
            <a:avLst/>
          </a:prstGeom>
          <a:solidFill>
            <a:srgbClr val="EAEEFB"/>
          </a:solidFill>
          <a:ln w="12700">
            <a:solidFill>
              <a:srgbClr val="EAEEFB"/>
            </a:solidFill>
            <a:prstDash val="solid"/>
          </a:ln>
        </p:spPr>
      </p:sp>
      <p:sp>
        <p:nvSpPr>
          <p:cNvPr id="30" name="Text 2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530706"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530706"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FLOW</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Cumulative flow and status analysis</a:t>
            </a:r>
            <a:endParaRPr lang="en-US" sz="3100" dirty="0"/>
          </a:p>
        </p:txBody>
      </p:sp>
      <p:graphicFrame>
        <p:nvGraphicFramePr>
          <p:cNvPr id="5" name="Chart 0" descr=""/>
          <p:cNvGraphicFramePr/>
          <p:nvPr/>
        </p:nvGraphicFramePr>
        <p:xfrm>
          <a:off x="502920" y="1627632"/>
          <a:ext cx="630936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040880" y="1691640"/>
            <a:ext cx="4645152" cy="740664"/>
          </a:xfrm>
          <a:prstGeom prst="roundRect">
            <a:avLst>
              <a:gd name="adj" fmla="val 9877"/>
            </a:avLst>
          </a:prstGeom>
          <a:solidFill>
            <a:srgbClr val="F3F5FD"/>
          </a:solidFill>
          <a:ln w="12700">
            <a:solidFill>
              <a:srgbClr val="F3F5FD"/>
            </a:solidFill>
            <a:prstDash val="solid"/>
          </a:ln>
        </p:spPr>
      </p:sp>
      <p:sp>
        <p:nvSpPr>
          <p:cNvPr id="7" name="Shape 4"/>
          <p:cNvSpPr/>
          <p:nvPr/>
        </p:nvSpPr>
        <p:spPr>
          <a:xfrm>
            <a:off x="7242048" y="1906524"/>
            <a:ext cx="310896" cy="310896"/>
          </a:xfrm>
          <a:prstGeom prst="ellipse">
            <a:avLst/>
          </a:prstGeom>
          <a:solidFill>
            <a:srgbClr val="1364F4"/>
          </a:solidFill>
          <a:ln w="12700">
            <a:solidFill>
              <a:srgbClr val="1364F4"/>
            </a:solidFill>
            <a:prstDash val="solid"/>
          </a:ln>
        </p:spPr>
      </p:sp>
      <p:sp>
        <p:nvSpPr>
          <p:cNvPr id="8" name="Text 5"/>
          <p:cNvSpPr txBox="1"/>
          <p:nvPr/>
        </p:nvSpPr>
        <p:spPr>
          <a:xfrm>
            <a:off x="7242048" y="19065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txBox="1"/>
          <p:nvPr/>
        </p:nvSpPr>
        <p:spPr>
          <a:xfrm>
            <a:off x="7662672" y="1737360"/>
            <a:ext cx="3803904" cy="64922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Accumulation, not activity.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Cumulative flow shows how work piles up in each status over time — the shape matters more than any single day.</a:t>
            </a:r>
            <a:endParaRPr lang="en-US" sz="1300" dirty="0"/>
          </a:p>
        </p:txBody>
      </p:sp>
      <p:sp>
        <p:nvSpPr>
          <p:cNvPr id="10" name="Shape 7"/>
          <p:cNvSpPr/>
          <p:nvPr/>
        </p:nvSpPr>
        <p:spPr>
          <a:xfrm>
            <a:off x="7040880" y="2560320"/>
            <a:ext cx="4645152" cy="740664"/>
          </a:xfrm>
          <a:prstGeom prst="roundRect">
            <a:avLst>
              <a:gd name="adj" fmla="val 9877"/>
            </a:avLst>
          </a:prstGeom>
          <a:solidFill>
            <a:srgbClr val="F3F5FD"/>
          </a:solidFill>
          <a:ln w="12700">
            <a:solidFill>
              <a:srgbClr val="F3F5FD"/>
            </a:solidFill>
            <a:prstDash val="solid"/>
          </a:ln>
        </p:spPr>
      </p:sp>
      <p:sp>
        <p:nvSpPr>
          <p:cNvPr id="11" name="Shape 8"/>
          <p:cNvSpPr/>
          <p:nvPr/>
        </p:nvSpPr>
        <p:spPr>
          <a:xfrm>
            <a:off x="7242048" y="2775204"/>
            <a:ext cx="310896" cy="310896"/>
          </a:xfrm>
          <a:prstGeom prst="ellipse">
            <a:avLst/>
          </a:prstGeom>
          <a:solidFill>
            <a:srgbClr val="00B3A4"/>
          </a:solidFill>
          <a:ln w="12700">
            <a:solidFill>
              <a:srgbClr val="00B3A4"/>
            </a:solidFill>
            <a:prstDash val="solid"/>
          </a:ln>
        </p:spPr>
      </p:sp>
      <p:sp>
        <p:nvSpPr>
          <p:cNvPr id="12" name="Text 9"/>
          <p:cNvSpPr txBox="1"/>
          <p:nvPr/>
        </p:nvSpPr>
        <p:spPr>
          <a:xfrm>
            <a:off x="7242048" y="27752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txBox="1"/>
          <p:nvPr/>
        </p:nvSpPr>
        <p:spPr>
          <a:xfrm>
            <a:off x="7662672" y="2606040"/>
            <a:ext cx="3803904" cy="64922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A widening band is a bottleneck.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In Progress growing while Done stays flat means intake is outrunning completion.</a:t>
            </a:r>
            <a:endParaRPr lang="en-US" sz="1300" dirty="0"/>
          </a:p>
        </p:txBody>
      </p:sp>
      <p:sp>
        <p:nvSpPr>
          <p:cNvPr id="14" name="Shape 11"/>
          <p:cNvSpPr/>
          <p:nvPr/>
        </p:nvSpPr>
        <p:spPr>
          <a:xfrm>
            <a:off x="7040880" y="3429000"/>
            <a:ext cx="4645152" cy="740664"/>
          </a:xfrm>
          <a:prstGeom prst="roundRect">
            <a:avLst>
              <a:gd name="adj" fmla="val 9877"/>
            </a:avLst>
          </a:prstGeom>
          <a:solidFill>
            <a:srgbClr val="F3F5FD"/>
          </a:solidFill>
          <a:ln w="12700">
            <a:solidFill>
              <a:srgbClr val="F3F5FD"/>
            </a:solidFill>
            <a:prstDash val="solid"/>
          </a:ln>
        </p:spPr>
      </p:sp>
      <p:sp>
        <p:nvSpPr>
          <p:cNvPr id="15" name="Shape 12"/>
          <p:cNvSpPr/>
          <p:nvPr/>
        </p:nvSpPr>
        <p:spPr>
          <a:xfrm>
            <a:off x="7242048" y="3643884"/>
            <a:ext cx="310896" cy="310896"/>
          </a:xfrm>
          <a:prstGeom prst="ellipse">
            <a:avLst/>
          </a:prstGeom>
          <a:solidFill>
            <a:srgbClr val="F4436C"/>
          </a:solidFill>
          <a:ln w="12700">
            <a:solidFill>
              <a:srgbClr val="F4436C"/>
            </a:solidFill>
            <a:prstDash val="solid"/>
          </a:ln>
        </p:spPr>
      </p:sp>
      <p:sp>
        <p:nvSpPr>
          <p:cNvPr id="16" name="Text 13"/>
          <p:cNvSpPr txBox="1"/>
          <p:nvPr/>
        </p:nvSpPr>
        <p:spPr>
          <a:xfrm>
            <a:off x="7242048" y="36438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4"/>
          <p:cNvSpPr txBox="1"/>
          <p:nvPr/>
        </p:nvSpPr>
        <p:spPr>
          <a:xfrm>
            <a:off x="7662672" y="3474720"/>
            <a:ext cx="3803904" cy="64922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Stable flow is balanced.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Intake, execution and completion have to move at comparable rates or the board stops predicting anything.</a:t>
            </a:r>
            <a:endParaRPr lang="en-US" sz="1300" dirty="0"/>
          </a:p>
        </p:txBody>
      </p:sp>
      <p:sp>
        <p:nvSpPr>
          <p:cNvPr id="18" name="Shape 15"/>
          <p:cNvSpPr/>
          <p:nvPr/>
        </p:nvSpPr>
        <p:spPr>
          <a:xfrm>
            <a:off x="7040880" y="4297680"/>
            <a:ext cx="4645152" cy="740664"/>
          </a:xfrm>
          <a:prstGeom prst="roundRect">
            <a:avLst>
              <a:gd name="adj" fmla="val 9877"/>
            </a:avLst>
          </a:prstGeom>
          <a:solidFill>
            <a:srgbClr val="F3F5FD"/>
          </a:solidFill>
          <a:ln w="12700">
            <a:solidFill>
              <a:srgbClr val="F3F5FD"/>
            </a:solidFill>
            <a:prstDash val="solid"/>
          </a:ln>
        </p:spPr>
      </p:sp>
      <p:sp>
        <p:nvSpPr>
          <p:cNvPr id="19" name="Shape 16"/>
          <p:cNvSpPr/>
          <p:nvPr/>
        </p:nvSpPr>
        <p:spPr>
          <a:xfrm>
            <a:off x="7242048" y="4512564"/>
            <a:ext cx="310896" cy="310896"/>
          </a:xfrm>
          <a:prstGeom prst="ellipse">
            <a:avLst/>
          </a:prstGeom>
          <a:solidFill>
            <a:srgbClr val="8036F0"/>
          </a:solidFill>
          <a:ln w="12700">
            <a:solidFill>
              <a:srgbClr val="8036F0"/>
            </a:solidFill>
            <a:prstDash val="solid"/>
          </a:ln>
        </p:spPr>
      </p:sp>
      <p:sp>
        <p:nvSpPr>
          <p:cNvPr id="20" name="Text 17"/>
          <p:cNvSpPr txBox="1"/>
          <p:nvPr/>
        </p:nvSpPr>
        <p:spPr>
          <a:xfrm>
            <a:off x="7242048" y="45125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txBox="1"/>
          <p:nvPr/>
        </p:nvSpPr>
        <p:spPr>
          <a:xfrm>
            <a:off x="7662672" y="4343400"/>
            <a:ext cx="3803904" cy="649224"/>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The status split is the executive view.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10 items — 5 To Do, 3 In Progress, 2 Done — is the one number an executive audience actually retains.</a:t>
            </a:r>
            <a:endParaRPr lang="en-US" sz="1300" dirty="0"/>
          </a:p>
        </p:txBody>
      </p:sp>
      <p:sp>
        <p:nvSpPr>
          <p:cNvPr id="22" name="Shape 19"/>
          <p:cNvSpPr/>
          <p:nvPr/>
        </p:nvSpPr>
        <p:spPr>
          <a:xfrm>
            <a:off x="502920" y="5349240"/>
            <a:ext cx="11183112" cy="548640"/>
          </a:xfrm>
          <a:prstGeom prst="roundRect">
            <a:avLst>
              <a:gd name="adj" fmla="val 13333"/>
            </a:avLst>
          </a:prstGeom>
          <a:solidFill>
            <a:srgbClr val="00B3A4">
              <a:alpha val="10000"/>
            </a:srgbClr>
          </a:solidFill>
          <a:ln w="12700">
            <a:solidFill>
              <a:srgbClr val="00B3A4">
                <a:alpha val="45000"/>
              </a:srgbClr>
            </a:solidFill>
            <a:prstDash val="solid"/>
          </a:ln>
        </p:spPr>
      </p:sp>
      <p:sp>
        <p:nvSpPr>
          <p:cNvPr id="23" name="Text 20"/>
          <p:cNvSpPr txBox="1"/>
          <p:nvPr/>
        </p:nvSpPr>
        <p:spPr>
          <a:xfrm>
            <a:off x="777240" y="5349240"/>
            <a:ext cx="10634472" cy="548640"/>
          </a:xfrm>
          <a:prstGeom prst="rect">
            <a:avLst/>
          </a:prstGeom>
          <a:noFill/>
          <a:ln/>
        </p:spPr>
        <p:txBody>
          <a:bodyPr wrap="square" lIns="0" tIns="0" rIns="0" bIns="0" rtlCol="0" anchor="ctr"/>
          <a:lstStyle/>
          <a:p>
            <a:pPr indent="0" marL="0">
              <a:buNone/>
            </a:pPr>
            <a:r>
              <a:rPr lang="en-US" sz="1250" b="1" dirty="0">
                <a:solidFill>
                  <a:srgbClr val="100B2E"/>
                </a:solidFill>
                <a:latin typeface="Calibri" pitchFamily="34" charset="0"/>
                <a:ea typeface="Calibri" pitchFamily="34" charset="-122"/>
                <a:cs typeface="Calibri" pitchFamily="34" charset="-120"/>
              </a:rPr>
              <a:t>Read together: the burndown says whether the sprint will land, cumulative flow says why, and the status split says what to tell the executive audience.</a:t>
            </a:r>
            <a:endParaRPr lang="en-US" sz="1250" dirty="0"/>
          </a:p>
        </p:txBody>
      </p:sp>
      <p:sp>
        <p:nvSpPr>
          <p:cNvPr id="24" name="Text 21"/>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5" name="Shape 22"/>
          <p:cNvSpPr/>
          <p:nvPr/>
        </p:nvSpPr>
        <p:spPr>
          <a:xfrm>
            <a:off x="11375136" y="6382512"/>
            <a:ext cx="310896" cy="310896"/>
          </a:xfrm>
          <a:prstGeom prst="ellipse">
            <a:avLst/>
          </a:prstGeom>
          <a:solidFill>
            <a:srgbClr val="EAEEFB"/>
          </a:solidFill>
          <a:ln w="12700">
            <a:solidFill>
              <a:srgbClr val="EAEEFB"/>
            </a:solidFill>
            <a:prstDash val="solid"/>
          </a:ln>
        </p:spPr>
      </p:sp>
      <p:sp>
        <p:nvSpPr>
          <p:cNvPr id="26" name="Text 23"/>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978762" cy="292608"/>
          </a:xfrm>
          <a:prstGeom prst="roundRect">
            <a:avLst>
              <a:gd name="adj" fmla="val 50000"/>
            </a:avLst>
          </a:prstGeom>
          <a:solidFill>
            <a:srgbClr val="FFB01F"/>
          </a:solidFill>
          <a:ln w="12700">
            <a:solidFill>
              <a:srgbClr val="FFB01F"/>
            </a:solidFill>
            <a:prstDash val="solid"/>
          </a:ln>
        </p:spPr>
      </p:sp>
      <p:sp>
        <p:nvSpPr>
          <p:cNvPr id="3" name="Text 1"/>
          <p:cNvSpPr txBox="1"/>
          <p:nvPr/>
        </p:nvSpPr>
        <p:spPr>
          <a:xfrm>
            <a:off x="502920" y="384048"/>
            <a:ext cx="1978762"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DASHBOARD</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Designing the AI TPM Delivery Dashboard</a:t>
            </a:r>
            <a:endParaRPr lang="en-US" sz="3100" dirty="0"/>
          </a:p>
        </p:txBody>
      </p:sp>
      <p:sp>
        <p:nvSpPr>
          <p:cNvPr id="5" name="Text 3"/>
          <p:cNvSpPr txBox="1"/>
          <p:nvPr/>
        </p:nvSpPr>
        <p:spPr>
          <a:xfrm>
            <a:off x="502920" y="1572768"/>
            <a:ext cx="11183112" cy="384048"/>
          </a:xfrm>
          <a:prstGeom prst="rect">
            <a:avLst/>
          </a:prstGeom>
          <a:noFill/>
          <a:ln/>
        </p:spPr>
        <p:txBody>
          <a:bodyPr wrap="square" lIns="0" tIns="0" rIns="0" bIns="0" rtlCol="0" anchor="ctr"/>
          <a:lstStyle/>
          <a:p>
            <a:pPr indent="0" marL="0">
              <a:buNone/>
            </a:pPr>
            <a:r>
              <a:rPr lang="en-US" sz="1350" dirty="0">
                <a:solidFill>
                  <a:srgbClr val="5B6180"/>
                </a:solidFill>
                <a:latin typeface="Calibri" pitchFamily="34" charset="0"/>
                <a:ea typeface="Calibri" pitchFamily="34" charset="-122"/>
                <a:cs typeface="Calibri" pitchFamily="34" charset="-120"/>
              </a:rPr>
              <a:t>Every gadget on the dashboard answers one standing TPM question. Gadgets that answered nothing were removed, because dashboard noise is indistinguishable from dashboard failure.</a:t>
            </a:r>
            <a:endParaRPr lang="en-US" sz="1350" dirty="0"/>
          </a:p>
        </p:txBody>
      </p:sp>
      <p:sp>
        <p:nvSpPr>
          <p:cNvPr id="6" name="Shape 4"/>
          <p:cNvSpPr/>
          <p:nvPr/>
        </p:nvSpPr>
        <p:spPr>
          <a:xfrm>
            <a:off x="502920" y="2084832"/>
            <a:ext cx="2075688" cy="2331720"/>
          </a:xfrm>
          <a:prstGeom prst="roundRect">
            <a:avLst>
              <a:gd name="adj" fmla="val 3524"/>
            </a:avLst>
          </a:prstGeom>
          <a:solidFill>
            <a:srgbClr val="FFFFFF"/>
          </a:solidFill>
          <a:ln w="12700">
            <a:solidFill>
              <a:srgbClr val="D8DEF2"/>
            </a:solidFill>
            <a:prstDash val="solid"/>
          </a:ln>
          <a:effectLst>
            <a:outerShdw sx="100000" sy="100000" kx="0" ky="0" algn="bl" rotWithShape="0" blurRad="101600" dist="19050" dir="5400000">
              <a:srgbClr val="8A93C0">
                <a:alpha val="16000"/>
              </a:srgbClr>
            </a:outerShdw>
          </a:effectLst>
        </p:spPr>
      </p:sp>
      <p:sp>
        <p:nvSpPr>
          <p:cNvPr id="7" name="Shape 5"/>
          <p:cNvSpPr/>
          <p:nvPr/>
        </p:nvSpPr>
        <p:spPr>
          <a:xfrm>
            <a:off x="704088" y="2286000"/>
            <a:ext cx="1673352" cy="347472"/>
          </a:xfrm>
          <a:prstGeom prst="roundRect">
            <a:avLst>
              <a:gd name="adj" fmla="val 21053"/>
            </a:avLst>
          </a:prstGeom>
          <a:solidFill>
            <a:srgbClr val="1364F4"/>
          </a:solidFill>
          <a:ln w="12700">
            <a:solidFill>
              <a:srgbClr val="1364F4"/>
            </a:solidFill>
            <a:prstDash val="solid"/>
          </a:ln>
        </p:spPr>
      </p:sp>
      <p:sp>
        <p:nvSpPr>
          <p:cNvPr id="8" name="Text 6"/>
          <p:cNvSpPr txBox="1"/>
          <p:nvPr/>
        </p:nvSpPr>
        <p:spPr>
          <a:xfrm>
            <a:off x="704088" y="2286000"/>
            <a:ext cx="167335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is progressing?</a:t>
            </a:r>
            <a:endParaRPr lang="en-US" sz="1100" dirty="0"/>
          </a:p>
        </p:txBody>
      </p:sp>
      <p:sp>
        <p:nvSpPr>
          <p:cNvPr id="9" name="Text 7"/>
          <p:cNvSpPr txBox="1"/>
          <p:nvPr/>
        </p:nvSpPr>
        <p:spPr>
          <a:xfrm>
            <a:off x="704088" y="2743200"/>
            <a:ext cx="1673352" cy="566928"/>
          </a:xfrm>
          <a:prstGeom prst="rect">
            <a:avLst/>
          </a:prstGeom>
          <a:noFill/>
          <a:ln/>
        </p:spPr>
        <p:txBody>
          <a:bodyPr wrap="square" lIns="0" tIns="0" rIns="0" bIns="0" rtlCol="0" anchor="ctr"/>
          <a:lstStyle/>
          <a:p>
            <a:pPr indent="0" marL="0">
              <a:buNone/>
            </a:pPr>
            <a:r>
              <a:rPr lang="en-US" sz="1300" b="1" dirty="0">
                <a:solidFill>
                  <a:srgbClr val="100B2E"/>
                </a:solidFill>
                <a:latin typeface="Calibri" pitchFamily="34" charset="0"/>
                <a:ea typeface="Calibri" pitchFamily="34" charset="-122"/>
                <a:cs typeface="Calibri" pitchFamily="34" charset="-120"/>
              </a:rPr>
              <a:t>Status Pie Chart</a:t>
            </a:r>
            <a:endParaRPr lang="en-US" sz="1300" dirty="0"/>
          </a:p>
        </p:txBody>
      </p:sp>
      <p:sp>
        <p:nvSpPr>
          <p:cNvPr id="10" name="Text 8"/>
          <p:cNvSpPr txBox="1"/>
          <p:nvPr/>
        </p:nvSpPr>
        <p:spPr>
          <a:xfrm>
            <a:off x="704088" y="3310128"/>
            <a:ext cx="1673352" cy="987552"/>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Status distribution across all ten tracked work items.</a:t>
            </a:r>
            <a:endParaRPr lang="en-US" sz="1150" dirty="0"/>
          </a:p>
        </p:txBody>
      </p:sp>
      <p:sp>
        <p:nvSpPr>
          <p:cNvPr id="11" name="Shape 9"/>
          <p:cNvSpPr/>
          <p:nvPr/>
        </p:nvSpPr>
        <p:spPr>
          <a:xfrm>
            <a:off x="2779776" y="2084832"/>
            <a:ext cx="2075688" cy="2331720"/>
          </a:xfrm>
          <a:prstGeom prst="roundRect">
            <a:avLst>
              <a:gd name="adj" fmla="val 3524"/>
            </a:avLst>
          </a:prstGeom>
          <a:solidFill>
            <a:srgbClr val="FFFFFF"/>
          </a:solidFill>
          <a:ln w="12700">
            <a:solidFill>
              <a:srgbClr val="D8DEF2"/>
            </a:solidFill>
            <a:prstDash val="solid"/>
          </a:ln>
          <a:effectLst>
            <a:outerShdw sx="100000" sy="100000" kx="0" ky="0" algn="bl" rotWithShape="0" blurRad="101600" dist="19050" dir="5400000">
              <a:srgbClr val="8A93C0">
                <a:alpha val="16000"/>
              </a:srgbClr>
            </a:outerShdw>
          </a:effectLst>
        </p:spPr>
      </p:sp>
      <p:sp>
        <p:nvSpPr>
          <p:cNvPr id="12" name="Shape 10"/>
          <p:cNvSpPr/>
          <p:nvPr/>
        </p:nvSpPr>
        <p:spPr>
          <a:xfrm>
            <a:off x="2980944" y="2286000"/>
            <a:ext cx="1673352" cy="347472"/>
          </a:xfrm>
          <a:prstGeom prst="roundRect">
            <a:avLst>
              <a:gd name="adj" fmla="val 21053"/>
            </a:avLst>
          </a:prstGeom>
          <a:solidFill>
            <a:srgbClr val="FFB01F"/>
          </a:solidFill>
          <a:ln w="12700">
            <a:solidFill>
              <a:srgbClr val="FFB01F"/>
            </a:solidFill>
            <a:prstDash val="solid"/>
          </a:ln>
        </p:spPr>
      </p:sp>
      <p:sp>
        <p:nvSpPr>
          <p:cNvPr id="13" name="Text 11"/>
          <p:cNvSpPr txBox="1"/>
          <p:nvPr/>
        </p:nvSpPr>
        <p:spPr>
          <a:xfrm>
            <a:off x="2980944" y="2286000"/>
            <a:ext cx="167335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is urgent?</a:t>
            </a:r>
            <a:endParaRPr lang="en-US" sz="1100" dirty="0"/>
          </a:p>
        </p:txBody>
      </p:sp>
      <p:sp>
        <p:nvSpPr>
          <p:cNvPr id="14" name="Text 12"/>
          <p:cNvSpPr txBox="1"/>
          <p:nvPr/>
        </p:nvSpPr>
        <p:spPr>
          <a:xfrm>
            <a:off x="2980944" y="2743200"/>
            <a:ext cx="1673352" cy="566928"/>
          </a:xfrm>
          <a:prstGeom prst="rect">
            <a:avLst/>
          </a:prstGeom>
          <a:noFill/>
          <a:ln/>
        </p:spPr>
        <p:txBody>
          <a:bodyPr wrap="square" lIns="0" tIns="0" rIns="0" bIns="0" rtlCol="0" anchor="ctr"/>
          <a:lstStyle/>
          <a:p>
            <a:pPr indent="0" marL="0">
              <a:buNone/>
            </a:pPr>
            <a:r>
              <a:rPr lang="en-US" sz="1300" b="1" dirty="0">
                <a:solidFill>
                  <a:srgbClr val="100B2E"/>
                </a:solidFill>
                <a:latin typeface="Calibri" pitchFamily="34" charset="0"/>
                <a:ea typeface="Calibri" pitchFamily="34" charset="-122"/>
                <a:cs typeface="Calibri" pitchFamily="34" charset="-120"/>
              </a:rPr>
              <a:t>TPM - High Priority Open Work</a:t>
            </a:r>
            <a:endParaRPr lang="en-US" sz="1300" dirty="0"/>
          </a:p>
        </p:txBody>
      </p:sp>
      <p:sp>
        <p:nvSpPr>
          <p:cNvPr id="15" name="Text 13"/>
          <p:cNvSpPr txBox="1"/>
          <p:nvPr/>
        </p:nvSpPr>
        <p:spPr>
          <a:xfrm>
            <a:off x="2980944" y="3310128"/>
            <a:ext cx="1673352" cy="987552"/>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High-priority unresolved items, currently surfacing the ATSL-5 risk.</a:t>
            </a:r>
            <a:endParaRPr lang="en-US" sz="1150" dirty="0"/>
          </a:p>
        </p:txBody>
      </p:sp>
      <p:sp>
        <p:nvSpPr>
          <p:cNvPr id="16" name="Shape 14"/>
          <p:cNvSpPr/>
          <p:nvPr/>
        </p:nvSpPr>
        <p:spPr>
          <a:xfrm>
            <a:off x="5056632" y="2084832"/>
            <a:ext cx="2075688" cy="2331720"/>
          </a:xfrm>
          <a:prstGeom prst="roundRect">
            <a:avLst>
              <a:gd name="adj" fmla="val 3524"/>
            </a:avLst>
          </a:prstGeom>
          <a:solidFill>
            <a:srgbClr val="FFFFFF"/>
          </a:solidFill>
          <a:ln w="12700">
            <a:solidFill>
              <a:srgbClr val="D8DEF2"/>
            </a:solidFill>
            <a:prstDash val="solid"/>
          </a:ln>
          <a:effectLst>
            <a:outerShdw sx="100000" sy="100000" kx="0" ky="0" algn="bl" rotWithShape="0" blurRad="101600" dist="19050" dir="5400000">
              <a:srgbClr val="8A93C0">
                <a:alpha val="16000"/>
              </a:srgbClr>
            </a:outerShdw>
          </a:effectLst>
        </p:spPr>
      </p:sp>
      <p:sp>
        <p:nvSpPr>
          <p:cNvPr id="17" name="Shape 15"/>
          <p:cNvSpPr/>
          <p:nvPr/>
        </p:nvSpPr>
        <p:spPr>
          <a:xfrm>
            <a:off x="5257800" y="2286000"/>
            <a:ext cx="1673352" cy="347472"/>
          </a:xfrm>
          <a:prstGeom prst="roundRect">
            <a:avLst>
              <a:gd name="adj" fmla="val 21053"/>
            </a:avLst>
          </a:prstGeom>
          <a:solidFill>
            <a:srgbClr val="F4436C"/>
          </a:solidFill>
          <a:ln w="12700">
            <a:solidFill>
              <a:srgbClr val="F4436C"/>
            </a:solidFill>
            <a:prstDash val="solid"/>
          </a:ln>
        </p:spPr>
      </p:sp>
      <p:sp>
        <p:nvSpPr>
          <p:cNvPr id="18" name="Text 16"/>
          <p:cNvSpPr txBox="1"/>
          <p:nvPr/>
        </p:nvSpPr>
        <p:spPr>
          <a:xfrm>
            <a:off x="5257800" y="2286000"/>
            <a:ext cx="167335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is risky?</a:t>
            </a:r>
            <a:endParaRPr lang="en-US" sz="1100" dirty="0"/>
          </a:p>
        </p:txBody>
      </p:sp>
      <p:sp>
        <p:nvSpPr>
          <p:cNvPr id="19" name="Text 17"/>
          <p:cNvSpPr txBox="1"/>
          <p:nvPr/>
        </p:nvSpPr>
        <p:spPr>
          <a:xfrm>
            <a:off x="5257800" y="2743200"/>
            <a:ext cx="1673352" cy="566928"/>
          </a:xfrm>
          <a:prstGeom prst="rect">
            <a:avLst/>
          </a:prstGeom>
          <a:noFill/>
          <a:ln/>
        </p:spPr>
        <p:txBody>
          <a:bodyPr wrap="square" lIns="0" tIns="0" rIns="0" bIns="0" rtlCol="0" anchor="ctr"/>
          <a:lstStyle/>
          <a:p>
            <a:pPr indent="0" marL="0">
              <a:buNone/>
            </a:pPr>
            <a:r>
              <a:rPr lang="en-US" sz="1300" b="1" dirty="0">
                <a:solidFill>
                  <a:srgbClr val="100B2E"/>
                </a:solidFill>
                <a:latin typeface="Calibri" pitchFamily="34" charset="0"/>
                <a:ea typeface="Calibri" pitchFamily="34" charset="-122"/>
                <a:cs typeface="Calibri" pitchFamily="34" charset="-120"/>
              </a:rPr>
              <a:t>TPM - AI Risks</a:t>
            </a:r>
            <a:endParaRPr lang="en-US" sz="1300" dirty="0"/>
          </a:p>
        </p:txBody>
      </p:sp>
      <p:sp>
        <p:nvSpPr>
          <p:cNvPr id="20" name="Text 18"/>
          <p:cNvSpPr txBox="1"/>
          <p:nvPr/>
        </p:nvSpPr>
        <p:spPr>
          <a:xfrm>
            <a:off x="5257800" y="3310128"/>
            <a:ext cx="1673352" cy="987552"/>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Label-driven risk view showing ATSL-5 and its live status.</a:t>
            </a:r>
            <a:endParaRPr lang="en-US" sz="1150" dirty="0"/>
          </a:p>
        </p:txBody>
      </p:sp>
      <p:sp>
        <p:nvSpPr>
          <p:cNvPr id="21" name="Shape 19"/>
          <p:cNvSpPr/>
          <p:nvPr/>
        </p:nvSpPr>
        <p:spPr>
          <a:xfrm>
            <a:off x="7333488" y="2084832"/>
            <a:ext cx="2075688" cy="2331720"/>
          </a:xfrm>
          <a:prstGeom prst="roundRect">
            <a:avLst>
              <a:gd name="adj" fmla="val 3524"/>
            </a:avLst>
          </a:prstGeom>
          <a:solidFill>
            <a:srgbClr val="FFFFFF"/>
          </a:solidFill>
          <a:ln w="12700">
            <a:solidFill>
              <a:srgbClr val="D8DEF2"/>
            </a:solidFill>
            <a:prstDash val="solid"/>
          </a:ln>
          <a:effectLst>
            <a:outerShdw sx="100000" sy="100000" kx="0" ky="0" algn="bl" rotWithShape="0" blurRad="101600" dist="19050" dir="5400000">
              <a:srgbClr val="8A93C0">
                <a:alpha val="16000"/>
              </a:srgbClr>
            </a:outerShdw>
          </a:effectLst>
        </p:spPr>
      </p:sp>
      <p:sp>
        <p:nvSpPr>
          <p:cNvPr id="22" name="Shape 20"/>
          <p:cNvSpPr/>
          <p:nvPr/>
        </p:nvSpPr>
        <p:spPr>
          <a:xfrm>
            <a:off x="7534656" y="2286000"/>
            <a:ext cx="1673352" cy="347472"/>
          </a:xfrm>
          <a:prstGeom prst="roundRect">
            <a:avLst>
              <a:gd name="adj" fmla="val 21053"/>
            </a:avLst>
          </a:prstGeom>
          <a:solidFill>
            <a:srgbClr val="8036F0"/>
          </a:solidFill>
          <a:ln w="12700">
            <a:solidFill>
              <a:srgbClr val="8036F0"/>
            </a:solidFill>
            <a:prstDash val="solid"/>
          </a:ln>
        </p:spPr>
      </p:sp>
      <p:sp>
        <p:nvSpPr>
          <p:cNvPr id="23" name="Text 21"/>
          <p:cNvSpPr txBox="1"/>
          <p:nvPr/>
        </p:nvSpPr>
        <p:spPr>
          <a:xfrm>
            <a:off x="7534656" y="2286000"/>
            <a:ext cx="167335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is blocked?</a:t>
            </a:r>
            <a:endParaRPr lang="en-US" sz="1100" dirty="0"/>
          </a:p>
        </p:txBody>
      </p:sp>
      <p:sp>
        <p:nvSpPr>
          <p:cNvPr id="24" name="Text 22"/>
          <p:cNvSpPr txBox="1"/>
          <p:nvPr/>
        </p:nvSpPr>
        <p:spPr>
          <a:xfrm>
            <a:off x="7534656" y="2743200"/>
            <a:ext cx="1673352" cy="566928"/>
          </a:xfrm>
          <a:prstGeom prst="rect">
            <a:avLst/>
          </a:prstGeom>
          <a:noFill/>
          <a:ln/>
        </p:spPr>
        <p:txBody>
          <a:bodyPr wrap="square" lIns="0" tIns="0" rIns="0" bIns="0" rtlCol="0" anchor="ctr"/>
          <a:lstStyle/>
          <a:p>
            <a:pPr indent="0" marL="0">
              <a:buNone/>
            </a:pPr>
            <a:r>
              <a:rPr lang="en-US" sz="1300" b="1" dirty="0">
                <a:solidFill>
                  <a:srgbClr val="100B2E"/>
                </a:solidFill>
                <a:latin typeface="Calibri" pitchFamily="34" charset="0"/>
                <a:ea typeface="Calibri" pitchFamily="34" charset="-122"/>
                <a:cs typeface="Calibri" pitchFamily="34" charset="-120"/>
              </a:rPr>
              <a:t>TPM - KAN Blockers</a:t>
            </a:r>
            <a:endParaRPr lang="en-US" sz="1300" dirty="0"/>
          </a:p>
        </p:txBody>
      </p:sp>
      <p:sp>
        <p:nvSpPr>
          <p:cNvPr id="25" name="Text 23"/>
          <p:cNvSpPr txBox="1"/>
          <p:nvPr/>
        </p:nvSpPr>
        <p:spPr>
          <a:xfrm>
            <a:off x="7534656" y="3310128"/>
            <a:ext cx="1673352" cy="987552"/>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Blocked-by query surfacing KAN-8 in the cloud workstream.</a:t>
            </a:r>
            <a:endParaRPr lang="en-US" sz="1150" dirty="0"/>
          </a:p>
        </p:txBody>
      </p:sp>
      <p:sp>
        <p:nvSpPr>
          <p:cNvPr id="26" name="Shape 24"/>
          <p:cNvSpPr/>
          <p:nvPr/>
        </p:nvSpPr>
        <p:spPr>
          <a:xfrm>
            <a:off x="9610344" y="2084832"/>
            <a:ext cx="2075688" cy="2331720"/>
          </a:xfrm>
          <a:prstGeom prst="roundRect">
            <a:avLst>
              <a:gd name="adj" fmla="val 3524"/>
            </a:avLst>
          </a:prstGeom>
          <a:solidFill>
            <a:srgbClr val="FFFFFF"/>
          </a:solidFill>
          <a:ln w="12700">
            <a:solidFill>
              <a:srgbClr val="D8DEF2"/>
            </a:solidFill>
            <a:prstDash val="solid"/>
          </a:ln>
          <a:effectLst>
            <a:outerShdw sx="100000" sy="100000" kx="0" ky="0" algn="bl" rotWithShape="0" blurRad="101600" dist="19050" dir="5400000">
              <a:srgbClr val="8A93C0">
                <a:alpha val="16000"/>
              </a:srgbClr>
            </a:outerShdw>
          </a:effectLst>
        </p:spPr>
      </p:sp>
      <p:sp>
        <p:nvSpPr>
          <p:cNvPr id="27" name="Shape 25"/>
          <p:cNvSpPr/>
          <p:nvPr/>
        </p:nvSpPr>
        <p:spPr>
          <a:xfrm>
            <a:off x="9811512" y="2286000"/>
            <a:ext cx="1673352" cy="347472"/>
          </a:xfrm>
          <a:prstGeom prst="roundRect">
            <a:avLst>
              <a:gd name="adj" fmla="val 21053"/>
            </a:avLst>
          </a:prstGeom>
          <a:solidFill>
            <a:srgbClr val="00B3A4"/>
          </a:solidFill>
          <a:ln w="12700">
            <a:solidFill>
              <a:srgbClr val="00B3A4"/>
            </a:solidFill>
            <a:prstDash val="solid"/>
          </a:ln>
        </p:spPr>
      </p:sp>
      <p:sp>
        <p:nvSpPr>
          <p:cNvPr id="28" name="Text 26"/>
          <p:cNvSpPr txBox="1"/>
          <p:nvPr/>
        </p:nvSpPr>
        <p:spPr>
          <a:xfrm>
            <a:off x="9811512" y="2286000"/>
            <a:ext cx="167335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do I own?</a:t>
            </a:r>
            <a:endParaRPr lang="en-US" sz="1100" dirty="0"/>
          </a:p>
        </p:txBody>
      </p:sp>
      <p:sp>
        <p:nvSpPr>
          <p:cNvPr id="29" name="Text 27"/>
          <p:cNvSpPr txBox="1"/>
          <p:nvPr/>
        </p:nvSpPr>
        <p:spPr>
          <a:xfrm>
            <a:off x="9811512" y="2743200"/>
            <a:ext cx="1673352" cy="566928"/>
          </a:xfrm>
          <a:prstGeom prst="rect">
            <a:avLst/>
          </a:prstGeom>
          <a:noFill/>
          <a:ln/>
        </p:spPr>
        <p:txBody>
          <a:bodyPr wrap="square" lIns="0" tIns="0" rIns="0" bIns="0" rtlCol="0" anchor="ctr"/>
          <a:lstStyle/>
          <a:p>
            <a:pPr indent="0" marL="0">
              <a:buNone/>
            </a:pPr>
            <a:r>
              <a:rPr lang="en-US" sz="1300" b="1" dirty="0">
                <a:solidFill>
                  <a:srgbClr val="100B2E"/>
                </a:solidFill>
                <a:latin typeface="Calibri" pitchFamily="34" charset="0"/>
                <a:ea typeface="Calibri" pitchFamily="34" charset="-122"/>
                <a:cs typeface="Calibri" pitchFamily="34" charset="-120"/>
              </a:rPr>
              <a:t>Assigned to Me</a:t>
            </a:r>
            <a:endParaRPr lang="en-US" sz="1300" dirty="0"/>
          </a:p>
        </p:txBody>
      </p:sp>
      <p:sp>
        <p:nvSpPr>
          <p:cNvPr id="30" name="Text 28"/>
          <p:cNvSpPr txBox="1"/>
          <p:nvPr/>
        </p:nvSpPr>
        <p:spPr>
          <a:xfrm>
            <a:off x="9811512" y="3310128"/>
            <a:ext cx="1673352" cy="987552"/>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Personal execution visibility across both projects.</a:t>
            </a:r>
            <a:endParaRPr lang="en-US" sz="1150" dirty="0"/>
          </a:p>
        </p:txBody>
      </p:sp>
      <p:sp>
        <p:nvSpPr>
          <p:cNvPr id="31" name="Shape 29"/>
          <p:cNvSpPr/>
          <p:nvPr/>
        </p:nvSpPr>
        <p:spPr>
          <a:xfrm>
            <a:off x="502920" y="4617720"/>
            <a:ext cx="11183112" cy="457200"/>
          </a:xfrm>
          <a:prstGeom prst="roundRect">
            <a:avLst>
              <a:gd name="adj" fmla="val 16000"/>
            </a:avLst>
          </a:prstGeom>
          <a:solidFill>
            <a:srgbClr val="F3F5FD"/>
          </a:solidFill>
          <a:ln w="12700">
            <a:solidFill>
              <a:srgbClr val="F3F5FD"/>
            </a:solidFill>
            <a:prstDash val="solid"/>
          </a:ln>
        </p:spPr>
      </p:sp>
      <p:sp>
        <p:nvSpPr>
          <p:cNvPr id="32" name="Shape 30"/>
          <p:cNvSpPr/>
          <p:nvPr/>
        </p:nvSpPr>
        <p:spPr>
          <a:xfrm>
            <a:off x="704088" y="4690872"/>
            <a:ext cx="310896" cy="310896"/>
          </a:xfrm>
          <a:prstGeom prst="ellipse">
            <a:avLst/>
          </a:prstGeom>
          <a:solidFill>
            <a:srgbClr val="1364F4"/>
          </a:solidFill>
          <a:ln w="12700">
            <a:solidFill>
              <a:srgbClr val="1364F4"/>
            </a:solidFill>
            <a:prstDash val="solid"/>
          </a:ln>
        </p:spPr>
      </p:sp>
      <p:sp>
        <p:nvSpPr>
          <p:cNvPr id="33" name="Text 31"/>
          <p:cNvSpPr txBox="1"/>
          <p:nvPr/>
        </p:nvSpPr>
        <p:spPr>
          <a:xfrm>
            <a:off x="704088" y="46908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4" name="Text 32"/>
          <p:cNvSpPr txBox="1"/>
          <p:nvPr/>
        </p:nvSpPr>
        <p:spPr>
          <a:xfrm>
            <a:off x="1124712" y="4663440"/>
            <a:ext cx="10341864" cy="365760"/>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Filters first, gadgets second.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Each gadget points at a saved filter, so the query logic lives in one place and can be reused elsewhere.</a:t>
            </a:r>
            <a:endParaRPr lang="en-US" sz="1300" dirty="0"/>
          </a:p>
        </p:txBody>
      </p:sp>
      <p:sp>
        <p:nvSpPr>
          <p:cNvPr id="35" name="Shape 33"/>
          <p:cNvSpPr/>
          <p:nvPr/>
        </p:nvSpPr>
        <p:spPr>
          <a:xfrm>
            <a:off x="502920" y="5202936"/>
            <a:ext cx="11183112" cy="457200"/>
          </a:xfrm>
          <a:prstGeom prst="roundRect">
            <a:avLst>
              <a:gd name="adj" fmla="val 16000"/>
            </a:avLst>
          </a:prstGeom>
          <a:solidFill>
            <a:srgbClr val="F3F5FD"/>
          </a:solidFill>
          <a:ln w="12700">
            <a:solidFill>
              <a:srgbClr val="F3F5FD"/>
            </a:solidFill>
            <a:prstDash val="solid"/>
          </a:ln>
        </p:spPr>
      </p:sp>
      <p:sp>
        <p:nvSpPr>
          <p:cNvPr id="36" name="Shape 34"/>
          <p:cNvSpPr/>
          <p:nvPr/>
        </p:nvSpPr>
        <p:spPr>
          <a:xfrm>
            <a:off x="704088" y="5276088"/>
            <a:ext cx="310896" cy="310896"/>
          </a:xfrm>
          <a:prstGeom prst="ellipse">
            <a:avLst/>
          </a:prstGeom>
          <a:solidFill>
            <a:srgbClr val="00B3A4"/>
          </a:solidFill>
          <a:ln w="12700">
            <a:solidFill>
              <a:srgbClr val="00B3A4"/>
            </a:solidFill>
            <a:prstDash val="solid"/>
          </a:ln>
        </p:spPr>
      </p:sp>
      <p:sp>
        <p:nvSpPr>
          <p:cNvPr id="37" name="Text 35"/>
          <p:cNvSpPr txBox="1"/>
          <p:nvPr/>
        </p:nvSpPr>
        <p:spPr>
          <a:xfrm>
            <a:off x="704088" y="52760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8" name="Text 36"/>
          <p:cNvSpPr txBox="1"/>
          <p:nvPr/>
        </p:nvSpPr>
        <p:spPr>
          <a:xfrm>
            <a:off x="1124712" y="5248656"/>
            <a:ext cx="10341864" cy="365760"/>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Built for a question, not a screenshot.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The dashboard is an operating mechanism reviewed in stand-ups, not an artefact produced for a report.</a:t>
            </a:r>
            <a:endParaRPr lang="en-US" sz="1300" dirty="0"/>
          </a:p>
        </p:txBody>
      </p:sp>
      <p:sp>
        <p:nvSpPr>
          <p:cNvPr id="39" name="Text 37"/>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40" name="Shape 38"/>
          <p:cNvSpPr/>
          <p:nvPr/>
        </p:nvSpPr>
        <p:spPr>
          <a:xfrm>
            <a:off x="11375136" y="6382512"/>
            <a:ext cx="310896" cy="310896"/>
          </a:xfrm>
          <a:prstGeom prst="ellipse">
            <a:avLst/>
          </a:prstGeom>
          <a:solidFill>
            <a:srgbClr val="EAEEFB"/>
          </a:solidFill>
          <a:ln w="12700">
            <a:solidFill>
              <a:srgbClr val="EAEEFB"/>
            </a:solidFill>
            <a:prstDash val="solid"/>
          </a:ln>
        </p:spPr>
      </p:sp>
      <p:sp>
        <p:nvSpPr>
          <p:cNvPr id="41" name="Text 39"/>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09928" cy="292608"/>
          </a:xfrm>
          <a:prstGeom prst="roundRect">
            <a:avLst>
              <a:gd name="adj" fmla="val 50000"/>
            </a:avLst>
          </a:prstGeom>
          <a:solidFill>
            <a:srgbClr val="16A34A"/>
          </a:solidFill>
          <a:ln w="12700">
            <a:solidFill>
              <a:srgbClr val="16A34A"/>
            </a:solidFill>
            <a:prstDash val="solid"/>
          </a:ln>
        </p:spPr>
      </p:sp>
      <p:sp>
        <p:nvSpPr>
          <p:cNvPr id="3" name="Text 1"/>
          <p:cNvSpPr txBox="1"/>
          <p:nvPr/>
        </p:nvSpPr>
        <p:spPr>
          <a:xfrm>
            <a:off x="502920" y="384048"/>
            <a:ext cx="1709928"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RESULT</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Final dashboard snapshot</a:t>
            </a:r>
            <a:endParaRPr lang="en-US" sz="3100" dirty="0"/>
          </a:p>
        </p:txBody>
      </p:sp>
      <p:sp>
        <p:nvSpPr>
          <p:cNvPr id="5" name="Shape 3"/>
          <p:cNvSpPr/>
          <p:nvPr/>
        </p:nvSpPr>
        <p:spPr>
          <a:xfrm>
            <a:off x="502920" y="1627632"/>
            <a:ext cx="6858000" cy="3767328"/>
          </a:xfrm>
          <a:prstGeom prst="roundRect">
            <a:avLst>
              <a:gd name="adj" fmla="val 1456"/>
            </a:avLst>
          </a:prstGeom>
          <a:solidFill>
            <a:srgbClr val="F3F5FD"/>
          </a:solidFill>
          <a:ln w="12700">
            <a:solidFill>
              <a:srgbClr val="D8DEF2"/>
            </a:solidFill>
            <a:prstDash val="solid"/>
          </a:ln>
        </p:spPr>
      </p:sp>
      <p:pic>
        <p:nvPicPr>
          <p:cNvPr id="6" name="Image 0" descr="preencoded.png">    </p:cNvPr>
          <p:cNvPicPr>
            <a:picLocks noChangeAspect="1"/>
          </p:cNvPicPr>
          <p:nvPr/>
        </p:nvPicPr>
        <p:blipFill>
          <a:blip r:embed="rId1"/>
          <a:stretch>
            <a:fillRect/>
          </a:stretch>
        </p:blipFill>
        <p:spPr>
          <a:xfrm>
            <a:off x="502920" y="1832515"/>
            <a:ext cx="6858000" cy="3357563"/>
          </a:xfrm>
          <a:prstGeom prst="rect">
            <a:avLst/>
          </a:prstGeom>
        </p:spPr>
      </p:pic>
      <p:sp>
        <p:nvSpPr>
          <p:cNvPr id="7" name="Text 4"/>
          <p:cNvSpPr txBox="1"/>
          <p:nvPr/>
        </p:nvSpPr>
        <p:spPr>
          <a:xfrm>
            <a:off x="502920" y="5449824"/>
            <a:ext cx="6858000" cy="274320"/>
          </a:xfrm>
          <a:prstGeom prst="rect">
            <a:avLst/>
          </a:prstGeom>
          <a:noFill/>
          <a:ln/>
        </p:spPr>
        <p:txBody>
          <a:bodyPr wrap="square" lIns="0" tIns="0" rIns="0" bIns="0" rtlCol="0" anchor="ctr"/>
          <a:lstStyle/>
          <a:p>
            <a:pPr indent="0" marL="0">
              <a:buNone/>
            </a:pPr>
            <a:r>
              <a:rPr lang="en-US" sz="1050" b="1" dirty="0">
                <a:solidFill>
                  <a:srgbClr val="5B6180"/>
                </a:solidFill>
                <a:latin typeface="Calibri" pitchFamily="34" charset="0"/>
                <a:ea typeface="Calibri" pitchFamily="34" charset="-122"/>
                <a:cs typeface="Calibri" pitchFamily="34" charset="-120"/>
              </a:rPr>
              <a:t>EVID-080  ·  Final AI TPM Delivery Dashboard</a:t>
            </a:r>
            <a:endParaRPr lang="en-US" sz="1050" dirty="0"/>
          </a:p>
        </p:txBody>
      </p:sp>
      <p:graphicFrame>
        <p:nvGraphicFramePr>
          <p:cNvPr id="8" name="Chart 0" descr=""/>
          <p:cNvGraphicFramePr/>
          <p:nvPr/>
        </p:nvGraphicFramePr>
        <p:xfrm>
          <a:off x="7498080" y="1554480"/>
          <a:ext cx="4187952" cy="237744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7498080" y="4078224"/>
            <a:ext cx="4187952" cy="310896"/>
          </a:xfrm>
          <a:prstGeom prst="roundRect">
            <a:avLst>
              <a:gd name="adj" fmla="val 23529"/>
            </a:avLst>
          </a:prstGeom>
          <a:solidFill>
            <a:srgbClr val="F3F5FD"/>
          </a:solidFill>
          <a:ln w="12700">
            <a:solidFill>
              <a:srgbClr val="F3F5FD"/>
            </a:solidFill>
            <a:prstDash val="solid"/>
          </a:ln>
        </p:spPr>
      </p:sp>
      <p:sp>
        <p:nvSpPr>
          <p:cNvPr id="10" name="Shape 6"/>
          <p:cNvSpPr/>
          <p:nvPr/>
        </p:nvSpPr>
        <p:spPr>
          <a:xfrm>
            <a:off x="7699248" y="4078224"/>
            <a:ext cx="310896" cy="310896"/>
          </a:xfrm>
          <a:prstGeom prst="ellipse">
            <a:avLst/>
          </a:prstGeom>
          <a:solidFill>
            <a:srgbClr val="1364F4"/>
          </a:solidFill>
          <a:ln w="12700">
            <a:solidFill>
              <a:srgbClr val="1364F4"/>
            </a:solidFill>
            <a:prstDash val="solid"/>
          </a:ln>
        </p:spPr>
      </p:sp>
      <p:sp>
        <p:nvSpPr>
          <p:cNvPr id="11" name="Text 7"/>
          <p:cNvSpPr txBox="1"/>
          <p:nvPr/>
        </p:nvSpPr>
        <p:spPr>
          <a:xfrm>
            <a:off x="7699248" y="40782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8"/>
          <p:cNvSpPr txBox="1"/>
          <p:nvPr/>
        </p:nvSpPr>
        <p:spPr>
          <a:xfrm>
            <a:off x="8119872" y="4123944"/>
            <a:ext cx="3346704" cy="219456"/>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5 To Do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Work not yet started, including held-back scope.</a:t>
            </a:r>
            <a:endParaRPr lang="en-US" sz="1300" dirty="0"/>
          </a:p>
        </p:txBody>
      </p:sp>
      <p:sp>
        <p:nvSpPr>
          <p:cNvPr id="13" name="Shape 9"/>
          <p:cNvSpPr/>
          <p:nvPr/>
        </p:nvSpPr>
        <p:spPr>
          <a:xfrm>
            <a:off x="7498080" y="4517136"/>
            <a:ext cx="4187952" cy="310896"/>
          </a:xfrm>
          <a:prstGeom prst="roundRect">
            <a:avLst>
              <a:gd name="adj" fmla="val 23529"/>
            </a:avLst>
          </a:prstGeom>
          <a:solidFill>
            <a:srgbClr val="F3F5FD"/>
          </a:solidFill>
          <a:ln w="12700">
            <a:solidFill>
              <a:srgbClr val="F3F5FD"/>
            </a:solidFill>
            <a:prstDash val="solid"/>
          </a:ln>
        </p:spPr>
      </p:sp>
      <p:sp>
        <p:nvSpPr>
          <p:cNvPr id="14" name="Shape 10"/>
          <p:cNvSpPr/>
          <p:nvPr/>
        </p:nvSpPr>
        <p:spPr>
          <a:xfrm>
            <a:off x="7699248" y="4517136"/>
            <a:ext cx="310896" cy="310896"/>
          </a:xfrm>
          <a:prstGeom prst="ellipse">
            <a:avLst/>
          </a:prstGeom>
          <a:solidFill>
            <a:srgbClr val="00B3A4"/>
          </a:solidFill>
          <a:ln w="12700">
            <a:solidFill>
              <a:srgbClr val="00B3A4"/>
            </a:solidFill>
            <a:prstDash val="solid"/>
          </a:ln>
        </p:spPr>
      </p:sp>
      <p:sp>
        <p:nvSpPr>
          <p:cNvPr id="15" name="Text 11"/>
          <p:cNvSpPr txBox="1"/>
          <p:nvPr/>
        </p:nvSpPr>
        <p:spPr>
          <a:xfrm>
            <a:off x="7699248" y="45171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2"/>
          <p:cNvSpPr txBox="1"/>
          <p:nvPr/>
        </p:nvSpPr>
        <p:spPr>
          <a:xfrm>
            <a:off x="8119872" y="4562856"/>
            <a:ext cx="3346704" cy="219456"/>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3 In Progress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Active work, one of which is dependency-constrained.</a:t>
            </a:r>
            <a:endParaRPr lang="en-US" sz="1300" dirty="0"/>
          </a:p>
        </p:txBody>
      </p:sp>
      <p:sp>
        <p:nvSpPr>
          <p:cNvPr id="17" name="Shape 13"/>
          <p:cNvSpPr/>
          <p:nvPr/>
        </p:nvSpPr>
        <p:spPr>
          <a:xfrm>
            <a:off x="7498080" y="4956048"/>
            <a:ext cx="4187952" cy="310896"/>
          </a:xfrm>
          <a:prstGeom prst="roundRect">
            <a:avLst>
              <a:gd name="adj" fmla="val 23529"/>
            </a:avLst>
          </a:prstGeom>
          <a:solidFill>
            <a:srgbClr val="F3F5FD"/>
          </a:solidFill>
          <a:ln w="12700">
            <a:solidFill>
              <a:srgbClr val="F3F5FD"/>
            </a:solidFill>
            <a:prstDash val="solid"/>
          </a:ln>
        </p:spPr>
      </p:sp>
      <p:sp>
        <p:nvSpPr>
          <p:cNvPr id="18" name="Shape 14"/>
          <p:cNvSpPr/>
          <p:nvPr/>
        </p:nvSpPr>
        <p:spPr>
          <a:xfrm>
            <a:off x="7699248" y="4956048"/>
            <a:ext cx="310896" cy="310896"/>
          </a:xfrm>
          <a:prstGeom prst="ellipse">
            <a:avLst/>
          </a:prstGeom>
          <a:solidFill>
            <a:srgbClr val="F4436C"/>
          </a:solidFill>
          <a:ln w="12700">
            <a:solidFill>
              <a:srgbClr val="F4436C"/>
            </a:solidFill>
            <a:prstDash val="solid"/>
          </a:ln>
        </p:spPr>
      </p:sp>
      <p:sp>
        <p:nvSpPr>
          <p:cNvPr id="19" name="Text 15"/>
          <p:cNvSpPr txBox="1"/>
          <p:nvPr/>
        </p:nvSpPr>
        <p:spPr>
          <a:xfrm>
            <a:off x="7699248" y="49560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6"/>
          <p:cNvSpPr txBox="1"/>
          <p:nvPr/>
        </p:nvSpPr>
        <p:spPr>
          <a:xfrm>
            <a:off x="8119872" y="5001768"/>
            <a:ext cx="3346704" cy="219456"/>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2 Done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Delivered and accepted against acceptance criteria.</a:t>
            </a:r>
            <a:endParaRPr lang="en-US" sz="1300" dirty="0"/>
          </a:p>
        </p:txBody>
      </p:sp>
      <p:sp>
        <p:nvSpPr>
          <p:cNvPr id="21" name="Shape 17"/>
          <p:cNvSpPr/>
          <p:nvPr/>
        </p:nvSpPr>
        <p:spPr>
          <a:xfrm>
            <a:off x="7498080" y="5394960"/>
            <a:ext cx="4187952" cy="310896"/>
          </a:xfrm>
          <a:prstGeom prst="roundRect">
            <a:avLst>
              <a:gd name="adj" fmla="val 23529"/>
            </a:avLst>
          </a:prstGeom>
          <a:solidFill>
            <a:srgbClr val="F3F5FD"/>
          </a:solidFill>
          <a:ln w="12700">
            <a:solidFill>
              <a:srgbClr val="F3F5FD"/>
            </a:solidFill>
            <a:prstDash val="solid"/>
          </a:ln>
        </p:spPr>
      </p:sp>
      <p:sp>
        <p:nvSpPr>
          <p:cNvPr id="22" name="Shape 18"/>
          <p:cNvSpPr/>
          <p:nvPr/>
        </p:nvSpPr>
        <p:spPr>
          <a:xfrm>
            <a:off x="7699248" y="5394960"/>
            <a:ext cx="310896" cy="310896"/>
          </a:xfrm>
          <a:prstGeom prst="ellipse">
            <a:avLst/>
          </a:prstGeom>
          <a:solidFill>
            <a:srgbClr val="8036F0"/>
          </a:solidFill>
          <a:ln w="12700">
            <a:solidFill>
              <a:srgbClr val="8036F0"/>
            </a:solidFill>
            <a:prstDash val="solid"/>
          </a:ln>
        </p:spPr>
      </p:sp>
      <p:sp>
        <p:nvSpPr>
          <p:cNvPr id="23" name="Text 19"/>
          <p:cNvSpPr txBox="1"/>
          <p:nvPr/>
        </p:nvSpPr>
        <p:spPr>
          <a:xfrm>
            <a:off x="7699248" y="53949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0"/>
          <p:cNvSpPr txBox="1"/>
          <p:nvPr/>
        </p:nvSpPr>
        <p:spPr>
          <a:xfrm>
            <a:off x="8119872" y="5440680"/>
            <a:ext cx="3346704" cy="219456"/>
          </a:xfrm>
          <a:prstGeom prst="rect">
            <a:avLst/>
          </a:prstGeom>
          <a:noFill/>
          <a:ln/>
        </p:spPr>
        <p:txBody>
          <a:bodyPr wrap="square" lIns="0" tIns="0" rIns="0" bIns="0" rtlCol="0" anchor="ctr"/>
          <a:lstStyle/>
          <a:p>
            <a:pPr indent="0" marL="0">
              <a:lnSpc>
                <a:spcPts val="1700"/>
              </a:lnSpc>
              <a:buNone/>
            </a:pPr>
            <a:r>
              <a:rPr lang="en-US" sz="1300" b="1" dirty="0">
                <a:solidFill>
                  <a:srgbClr val="100B2E"/>
                </a:solidFill>
                <a:latin typeface="Calibri" pitchFamily="34" charset="0"/>
                <a:ea typeface="Calibri" pitchFamily="34" charset="-122"/>
                <a:cs typeface="Calibri" pitchFamily="34" charset="-120"/>
              </a:rPr>
              <a:t>ATSL-5  </a:t>
            </a:r>
            <a:pPr indent="0" marL="0">
              <a:lnSpc>
                <a:spcPts val="1700"/>
              </a:lnSpc>
              <a:buNone/>
            </a:pPr>
            <a:r>
              <a:rPr lang="en-US" sz="1250" dirty="0">
                <a:solidFill>
                  <a:srgbClr val="5B6180"/>
                </a:solidFill>
                <a:latin typeface="Calibri" pitchFamily="34" charset="0"/>
                <a:ea typeface="Calibri" pitchFamily="34" charset="-122"/>
                <a:cs typeface="Calibri" pitchFamily="34" charset="-120"/>
              </a:rPr>
              <a:t>The single open high-impact risk, visible to every stakeholder.</a:t>
            </a:r>
            <a:endParaRPr lang="en-US" sz="1300" dirty="0"/>
          </a:p>
        </p:txBody>
      </p:sp>
      <p:sp>
        <p:nvSpPr>
          <p:cNvPr id="25" name="Text 21"/>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6" name="Shape 22"/>
          <p:cNvSpPr/>
          <p:nvPr/>
        </p:nvSpPr>
        <p:spPr>
          <a:xfrm>
            <a:off x="11375136" y="6382512"/>
            <a:ext cx="310896" cy="310896"/>
          </a:xfrm>
          <a:prstGeom prst="ellipse">
            <a:avLst/>
          </a:prstGeom>
          <a:solidFill>
            <a:srgbClr val="EAEEFB"/>
          </a:solidFill>
          <a:ln w="12700">
            <a:solidFill>
              <a:srgbClr val="EAEEFB"/>
            </a:solidFill>
            <a:prstDash val="solid"/>
          </a:ln>
        </p:spPr>
      </p:sp>
      <p:sp>
        <p:nvSpPr>
          <p:cNvPr id="27" name="Text 23"/>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METRICS</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TPM metrics worth monitoring</a:t>
            </a:r>
            <a:endParaRPr lang="en-US" sz="3100" dirty="0"/>
          </a:p>
        </p:txBody>
      </p:sp>
      <p:sp>
        <p:nvSpPr>
          <p:cNvPr id="5" name="Shape 3"/>
          <p:cNvSpPr/>
          <p:nvPr/>
        </p:nvSpPr>
        <p:spPr>
          <a:xfrm>
            <a:off x="502920" y="1645920"/>
            <a:ext cx="3544824" cy="1920240"/>
          </a:xfrm>
          <a:prstGeom prst="roundRect">
            <a:avLst>
              <a:gd name="adj" fmla="val 2857"/>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6" name="Shape 4"/>
          <p:cNvSpPr/>
          <p:nvPr/>
        </p:nvSpPr>
        <p:spPr>
          <a:xfrm>
            <a:off x="740664" y="1883664"/>
            <a:ext cx="420624" cy="420624"/>
          </a:xfrm>
          <a:prstGeom prst="ellipse">
            <a:avLst/>
          </a:prstGeom>
          <a:solidFill>
            <a:srgbClr val="1364F4"/>
          </a:solidFill>
          <a:ln w="12700">
            <a:solidFill>
              <a:srgbClr val="1364F4"/>
            </a:solidFill>
            <a:prstDash val="solid"/>
          </a:ln>
        </p:spPr>
      </p:sp>
      <p:sp>
        <p:nvSpPr>
          <p:cNvPr id="7" name="Text 5"/>
          <p:cNvSpPr txBox="1"/>
          <p:nvPr/>
        </p:nvSpPr>
        <p:spPr>
          <a:xfrm>
            <a:off x="740664" y="1883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8" name="Text 6"/>
          <p:cNvSpPr txBox="1"/>
          <p:nvPr/>
        </p:nvSpPr>
        <p:spPr>
          <a:xfrm>
            <a:off x="740664" y="2395728"/>
            <a:ext cx="306933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Delivery</a:t>
            </a:r>
            <a:endParaRPr lang="en-US" sz="1500" dirty="0"/>
          </a:p>
        </p:txBody>
      </p:sp>
      <p:sp>
        <p:nvSpPr>
          <p:cNvPr id="9" name="Text 7"/>
          <p:cNvSpPr txBox="1"/>
          <p:nvPr/>
        </p:nvSpPr>
        <p:spPr>
          <a:xfrm>
            <a:off x="740664" y="2798064"/>
            <a:ext cx="3069336" cy="54864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Story points completed against committed. Sprint goal achieved or not — a binary answer, stated plainly.</a:t>
            </a:r>
            <a:endParaRPr lang="en-US" sz="1200" dirty="0"/>
          </a:p>
        </p:txBody>
      </p:sp>
      <p:sp>
        <p:nvSpPr>
          <p:cNvPr id="10" name="Shape 8"/>
          <p:cNvSpPr/>
          <p:nvPr/>
        </p:nvSpPr>
        <p:spPr>
          <a:xfrm>
            <a:off x="4322064" y="1645920"/>
            <a:ext cx="3544824" cy="1920240"/>
          </a:xfrm>
          <a:prstGeom prst="roundRect">
            <a:avLst>
              <a:gd name="adj" fmla="val 2857"/>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11" name="Shape 9"/>
          <p:cNvSpPr/>
          <p:nvPr/>
        </p:nvSpPr>
        <p:spPr>
          <a:xfrm>
            <a:off x="4559808" y="1883664"/>
            <a:ext cx="420624" cy="420624"/>
          </a:xfrm>
          <a:prstGeom prst="ellipse">
            <a:avLst/>
          </a:prstGeom>
          <a:solidFill>
            <a:srgbClr val="00B3A4"/>
          </a:solidFill>
          <a:ln w="12700">
            <a:solidFill>
              <a:srgbClr val="00B3A4"/>
            </a:solidFill>
            <a:prstDash val="solid"/>
          </a:ln>
        </p:spPr>
      </p:sp>
      <p:sp>
        <p:nvSpPr>
          <p:cNvPr id="12" name="Text 10"/>
          <p:cNvSpPr txBox="1"/>
          <p:nvPr/>
        </p:nvSpPr>
        <p:spPr>
          <a:xfrm>
            <a:off x="4559808" y="1883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3" name="Text 11"/>
          <p:cNvSpPr txBox="1"/>
          <p:nvPr/>
        </p:nvSpPr>
        <p:spPr>
          <a:xfrm>
            <a:off x="4559808" y="2395728"/>
            <a:ext cx="306933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Flow</a:t>
            </a:r>
            <a:endParaRPr lang="en-US" sz="1500" dirty="0"/>
          </a:p>
        </p:txBody>
      </p:sp>
      <p:sp>
        <p:nvSpPr>
          <p:cNvPr id="14" name="Text 12"/>
          <p:cNvSpPr txBox="1"/>
          <p:nvPr/>
        </p:nvSpPr>
        <p:spPr>
          <a:xfrm>
            <a:off x="4559808" y="2798064"/>
            <a:ext cx="3069336" cy="54864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Work in progress, cycle time and throughput. Rising WIP with flat throughput is the early warning.</a:t>
            </a:r>
            <a:endParaRPr lang="en-US" sz="1200" dirty="0"/>
          </a:p>
        </p:txBody>
      </p:sp>
      <p:sp>
        <p:nvSpPr>
          <p:cNvPr id="15" name="Shape 13"/>
          <p:cNvSpPr/>
          <p:nvPr/>
        </p:nvSpPr>
        <p:spPr>
          <a:xfrm>
            <a:off x="8141208" y="1645920"/>
            <a:ext cx="3544824" cy="1920240"/>
          </a:xfrm>
          <a:prstGeom prst="roundRect">
            <a:avLst>
              <a:gd name="adj" fmla="val 2857"/>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16" name="Shape 14"/>
          <p:cNvSpPr/>
          <p:nvPr/>
        </p:nvSpPr>
        <p:spPr>
          <a:xfrm>
            <a:off x="8378952" y="1883664"/>
            <a:ext cx="420624" cy="420624"/>
          </a:xfrm>
          <a:prstGeom prst="ellipse">
            <a:avLst/>
          </a:prstGeom>
          <a:solidFill>
            <a:srgbClr val="F4436C"/>
          </a:solidFill>
          <a:ln w="12700">
            <a:solidFill>
              <a:srgbClr val="F4436C"/>
            </a:solidFill>
            <a:prstDash val="solid"/>
          </a:ln>
        </p:spPr>
      </p:sp>
      <p:sp>
        <p:nvSpPr>
          <p:cNvPr id="17" name="Text 15"/>
          <p:cNvSpPr txBox="1"/>
          <p:nvPr/>
        </p:nvSpPr>
        <p:spPr>
          <a:xfrm>
            <a:off x="8378952" y="1883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t>
            </a:r>
            <a:endParaRPr lang="en-US" sz="1300" dirty="0"/>
          </a:p>
        </p:txBody>
      </p:sp>
      <p:sp>
        <p:nvSpPr>
          <p:cNvPr id="18" name="Text 16"/>
          <p:cNvSpPr txBox="1"/>
          <p:nvPr/>
        </p:nvSpPr>
        <p:spPr>
          <a:xfrm>
            <a:off x="8378952" y="2395728"/>
            <a:ext cx="306933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Risk</a:t>
            </a:r>
            <a:endParaRPr lang="en-US" sz="1500" dirty="0"/>
          </a:p>
        </p:txBody>
      </p:sp>
      <p:sp>
        <p:nvSpPr>
          <p:cNvPr id="19" name="Text 17"/>
          <p:cNvSpPr txBox="1"/>
          <p:nvPr/>
        </p:nvSpPr>
        <p:spPr>
          <a:xfrm>
            <a:off x="8378952" y="2798064"/>
            <a:ext cx="3069336" cy="54864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Count of open high-impact risks and the age of critical dependencies. Age matters more than count.</a:t>
            </a:r>
            <a:endParaRPr lang="en-US" sz="1200" dirty="0"/>
          </a:p>
        </p:txBody>
      </p:sp>
      <p:sp>
        <p:nvSpPr>
          <p:cNvPr id="20" name="Shape 18"/>
          <p:cNvSpPr/>
          <p:nvPr/>
        </p:nvSpPr>
        <p:spPr>
          <a:xfrm>
            <a:off x="502920" y="3840480"/>
            <a:ext cx="3544824" cy="1920240"/>
          </a:xfrm>
          <a:prstGeom prst="roundRect">
            <a:avLst>
              <a:gd name="adj" fmla="val 2857"/>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21" name="Shape 19"/>
          <p:cNvSpPr/>
          <p:nvPr/>
        </p:nvSpPr>
        <p:spPr>
          <a:xfrm>
            <a:off x="740664" y="4078224"/>
            <a:ext cx="420624" cy="420624"/>
          </a:xfrm>
          <a:prstGeom prst="ellipse">
            <a:avLst/>
          </a:prstGeom>
          <a:solidFill>
            <a:srgbClr val="8036F0"/>
          </a:solidFill>
          <a:ln w="12700">
            <a:solidFill>
              <a:srgbClr val="8036F0"/>
            </a:solidFill>
            <a:prstDash val="solid"/>
          </a:ln>
        </p:spPr>
      </p:sp>
      <p:sp>
        <p:nvSpPr>
          <p:cNvPr id="22" name="Text 20"/>
          <p:cNvSpPr txBox="1"/>
          <p:nvPr/>
        </p:nvSpPr>
        <p:spPr>
          <a:xfrm>
            <a:off x="740664" y="40782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a:t>
            </a:r>
            <a:endParaRPr lang="en-US" sz="1300" dirty="0"/>
          </a:p>
        </p:txBody>
      </p:sp>
      <p:sp>
        <p:nvSpPr>
          <p:cNvPr id="23" name="Text 21"/>
          <p:cNvSpPr txBox="1"/>
          <p:nvPr/>
        </p:nvSpPr>
        <p:spPr>
          <a:xfrm>
            <a:off x="740664" y="4590288"/>
            <a:ext cx="306933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Quality</a:t>
            </a:r>
            <a:endParaRPr lang="en-US" sz="1500" dirty="0"/>
          </a:p>
        </p:txBody>
      </p:sp>
      <p:sp>
        <p:nvSpPr>
          <p:cNvPr id="24" name="Text 22"/>
          <p:cNvSpPr txBox="1"/>
          <p:nvPr/>
        </p:nvSpPr>
        <p:spPr>
          <a:xfrm>
            <a:off x="740664" y="4992624"/>
            <a:ext cx="3069336" cy="54864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Acceptance criteria completion and reopened work. Reopened items are the honest quality signal.</a:t>
            </a:r>
            <a:endParaRPr lang="en-US" sz="1200" dirty="0"/>
          </a:p>
        </p:txBody>
      </p:sp>
      <p:sp>
        <p:nvSpPr>
          <p:cNvPr id="25" name="Shape 23"/>
          <p:cNvSpPr/>
          <p:nvPr/>
        </p:nvSpPr>
        <p:spPr>
          <a:xfrm>
            <a:off x="4322064" y="3840480"/>
            <a:ext cx="3544824" cy="1920240"/>
          </a:xfrm>
          <a:prstGeom prst="roundRect">
            <a:avLst>
              <a:gd name="adj" fmla="val 2857"/>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26" name="Shape 24"/>
          <p:cNvSpPr/>
          <p:nvPr/>
        </p:nvSpPr>
        <p:spPr>
          <a:xfrm>
            <a:off x="4559808" y="4078224"/>
            <a:ext cx="420624" cy="420624"/>
          </a:xfrm>
          <a:prstGeom prst="ellipse">
            <a:avLst/>
          </a:prstGeom>
          <a:solidFill>
            <a:srgbClr val="FFB01F"/>
          </a:solidFill>
          <a:ln w="12700">
            <a:solidFill>
              <a:srgbClr val="FFB01F"/>
            </a:solidFill>
            <a:prstDash val="solid"/>
          </a:ln>
        </p:spPr>
      </p:sp>
      <p:sp>
        <p:nvSpPr>
          <p:cNvPr id="27" name="Text 25"/>
          <p:cNvSpPr txBox="1"/>
          <p:nvPr/>
        </p:nvSpPr>
        <p:spPr>
          <a:xfrm>
            <a:off x="4559808" y="40782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t>
            </a:r>
            <a:endParaRPr lang="en-US" sz="1300" dirty="0"/>
          </a:p>
        </p:txBody>
      </p:sp>
      <p:sp>
        <p:nvSpPr>
          <p:cNvPr id="28" name="Text 26"/>
          <p:cNvSpPr txBox="1"/>
          <p:nvPr/>
        </p:nvSpPr>
        <p:spPr>
          <a:xfrm>
            <a:off x="4559808" y="4590288"/>
            <a:ext cx="306933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Stakeholder health</a:t>
            </a:r>
            <a:endParaRPr lang="en-US" sz="1500" dirty="0"/>
          </a:p>
        </p:txBody>
      </p:sp>
      <p:sp>
        <p:nvSpPr>
          <p:cNvPr id="29" name="Text 27"/>
          <p:cNvSpPr txBox="1"/>
          <p:nvPr/>
        </p:nvSpPr>
        <p:spPr>
          <a:xfrm>
            <a:off x="4559808" y="4992624"/>
            <a:ext cx="3069336" cy="54864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Decisions pending, escalations raised and checkpoint adherence. Missed checkpoints predict surprises.</a:t>
            </a:r>
            <a:endParaRPr lang="en-US" sz="1200" dirty="0"/>
          </a:p>
        </p:txBody>
      </p:sp>
      <p:sp>
        <p:nvSpPr>
          <p:cNvPr id="30" name="Shape 28"/>
          <p:cNvSpPr/>
          <p:nvPr/>
        </p:nvSpPr>
        <p:spPr>
          <a:xfrm>
            <a:off x="8141208" y="3840480"/>
            <a:ext cx="3544824" cy="1920240"/>
          </a:xfrm>
          <a:prstGeom prst="roundRect">
            <a:avLst>
              <a:gd name="adj" fmla="val 2857"/>
            </a:avLst>
          </a:prstGeom>
          <a:solidFill>
            <a:srgbClr val="FFFFFF"/>
          </a:solidFill>
          <a:ln w="12700">
            <a:solidFill>
              <a:srgbClr val="D8DEF2"/>
            </a:solidFill>
            <a:prstDash val="solid"/>
          </a:ln>
          <a:effectLst>
            <a:outerShdw sx="100000" sy="100000" kx="0" ky="0" algn="bl" rotWithShape="0" blurRad="101600" dist="19050" dir="5400000">
              <a:srgbClr val="8A93C0">
                <a:alpha val="18000"/>
              </a:srgbClr>
            </a:outerShdw>
          </a:effectLst>
        </p:spPr>
      </p:sp>
      <p:sp>
        <p:nvSpPr>
          <p:cNvPr id="31" name="Shape 29"/>
          <p:cNvSpPr/>
          <p:nvPr/>
        </p:nvSpPr>
        <p:spPr>
          <a:xfrm>
            <a:off x="8378952" y="4078224"/>
            <a:ext cx="420624" cy="420624"/>
          </a:xfrm>
          <a:prstGeom prst="ellipse">
            <a:avLst/>
          </a:prstGeom>
          <a:solidFill>
            <a:srgbClr val="16A34A"/>
          </a:solidFill>
          <a:ln w="12700">
            <a:solidFill>
              <a:srgbClr val="16A34A"/>
            </a:solidFill>
            <a:prstDash val="solid"/>
          </a:ln>
        </p:spPr>
      </p:sp>
      <p:sp>
        <p:nvSpPr>
          <p:cNvPr id="32" name="Text 30"/>
          <p:cNvSpPr txBox="1"/>
          <p:nvPr/>
        </p:nvSpPr>
        <p:spPr>
          <a:xfrm>
            <a:off x="8378952" y="40782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33" name="Text 31"/>
          <p:cNvSpPr txBox="1"/>
          <p:nvPr/>
        </p:nvSpPr>
        <p:spPr>
          <a:xfrm>
            <a:off x="8378952" y="4590288"/>
            <a:ext cx="3069336" cy="384048"/>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AI-specific</a:t>
            </a:r>
            <a:endParaRPr lang="en-US" sz="1500" dirty="0"/>
          </a:p>
        </p:txBody>
      </p:sp>
      <p:sp>
        <p:nvSpPr>
          <p:cNvPr id="34" name="Text 32"/>
          <p:cNvSpPr txBox="1"/>
          <p:nvPr/>
        </p:nvSpPr>
        <p:spPr>
          <a:xfrm>
            <a:off x="8378952" y="4992624"/>
            <a:ext cx="3069336" cy="548640"/>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Data readiness, model evaluation scores, routing accuracy and priority prediction precision and recall.</a:t>
            </a:r>
            <a:endParaRPr lang="en-US" sz="1200" dirty="0"/>
          </a:p>
        </p:txBody>
      </p:sp>
      <p:sp>
        <p:nvSpPr>
          <p:cNvPr id="35" name="Text 33"/>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36" name="Shape 34"/>
          <p:cNvSpPr/>
          <p:nvPr/>
        </p:nvSpPr>
        <p:spPr>
          <a:xfrm>
            <a:off x="11375136" y="6382512"/>
            <a:ext cx="310896" cy="310896"/>
          </a:xfrm>
          <a:prstGeom prst="ellipse">
            <a:avLst/>
          </a:prstGeom>
          <a:solidFill>
            <a:srgbClr val="EAEEFB"/>
          </a:solidFill>
          <a:ln w="12700">
            <a:solidFill>
              <a:srgbClr val="EAEEFB"/>
            </a:solidFill>
            <a:prstDash val="solid"/>
          </a:ln>
        </p:spPr>
      </p:sp>
      <p:sp>
        <p:nvSpPr>
          <p:cNvPr id="37" name="Text 35"/>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2337206"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2337206"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1 · COMMUNICATION</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One programme, four stakeholder narratives</a:t>
            </a:r>
            <a:endParaRPr lang="en-US" sz="3100" dirty="0"/>
          </a:p>
        </p:txBody>
      </p:sp>
      <p:sp>
        <p:nvSpPr>
          <p:cNvPr id="5" name="Text 3"/>
          <p:cNvSpPr txBox="1"/>
          <p:nvPr/>
        </p:nvSpPr>
        <p:spPr>
          <a:xfrm>
            <a:off x="502920" y="1572768"/>
            <a:ext cx="11183112" cy="365760"/>
          </a:xfrm>
          <a:prstGeom prst="rect">
            <a:avLst/>
          </a:prstGeom>
          <a:noFill/>
          <a:ln/>
        </p:spPr>
        <p:txBody>
          <a:bodyPr wrap="square" lIns="0" tIns="0" rIns="0" bIns="0" rtlCol="0" anchor="ctr"/>
          <a:lstStyle/>
          <a:p>
            <a:pPr indent="0" marL="0">
              <a:buNone/>
            </a:pPr>
            <a:r>
              <a:rPr lang="en-US" sz="1350" dirty="0">
                <a:solidFill>
                  <a:srgbClr val="5B6180"/>
                </a:solidFill>
                <a:latin typeface="Calibri" pitchFamily="34" charset="0"/>
                <a:ea typeface="Calibri" pitchFamily="34" charset="-122"/>
                <a:cs typeface="Calibri" pitchFamily="34" charset="-120"/>
              </a:rPr>
              <a:t>The facts stay identical. What changes is which fact leads, because each audience can only act on the part of the picture they control.</a:t>
            </a:r>
            <a:endParaRPr lang="en-US" sz="1350" dirty="0"/>
          </a:p>
        </p:txBody>
      </p:sp>
      <p:sp>
        <p:nvSpPr>
          <p:cNvPr id="6" name="Shape 4"/>
          <p:cNvSpPr/>
          <p:nvPr/>
        </p:nvSpPr>
        <p:spPr>
          <a:xfrm>
            <a:off x="502920" y="2057400"/>
            <a:ext cx="2603754" cy="2377440"/>
          </a:xfrm>
          <a:prstGeom prst="roundRect">
            <a:avLst>
              <a:gd name="adj" fmla="val 3077"/>
            </a:avLst>
          </a:prstGeom>
          <a:solidFill>
            <a:srgbClr val="F4436C">
              <a:alpha val="9000"/>
            </a:srgbClr>
          </a:solidFill>
          <a:ln w="12700">
            <a:solidFill>
              <a:srgbClr val="F4436C">
                <a:alpha val="45000"/>
              </a:srgbClr>
            </a:solidFill>
            <a:prstDash val="solid"/>
          </a:ln>
        </p:spPr>
      </p:sp>
      <p:sp>
        <p:nvSpPr>
          <p:cNvPr id="7" name="Text 5"/>
          <p:cNvSpPr txBox="1"/>
          <p:nvPr/>
        </p:nvSpPr>
        <p:spPr>
          <a:xfrm>
            <a:off x="722376" y="2286000"/>
            <a:ext cx="2164842" cy="457200"/>
          </a:xfrm>
          <a:prstGeom prst="rect">
            <a:avLst/>
          </a:prstGeom>
          <a:noFill/>
          <a:ln/>
        </p:spPr>
        <p:txBody>
          <a:bodyPr wrap="square" lIns="0" tIns="0" rIns="0" bIns="0" rtlCol="0" anchor="ctr"/>
          <a:lstStyle/>
          <a:p>
            <a:pPr indent="0" marL="0">
              <a:buNone/>
            </a:pPr>
            <a:r>
              <a:rPr lang="en-US" sz="1600" b="1" dirty="0">
                <a:solidFill>
                  <a:srgbClr val="F4436C"/>
                </a:solidFill>
                <a:latin typeface="Calibri" pitchFamily="34" charset="0"/>
                <a:ea typeface="Calibri" pitchFamily="34" charset="-122"/>
                <a:cs typeface="Calibri" pitchFamily="34" charset="-120"/>
              </a:rPr>
              <a:t>Executive</a:t>
            </a:r>
            <a:endParaRPr lang="en-US" sz="1600" dirty="0"/>
          </a:p>
        </p:txBody>
      </p:sp>
      <p:sp>
        <p:nvSpPr>
          <p:cNvPr id="8" name="Text 6"/>
          <p:cNvSpPr txBox="1"/>
          <p:nvPr/>
        </p:nvSpPr>
        <p:spPr>
          <a:xfrm>
            <a:off x="722376" y="2788920"/>
            <a:ext cx="2164842" cy="1463040"/>
          </a:xfrm>
          <a:prstGeom prst="rect">
            <a:avLst/>
          </a:prstGeom>
          <a:noFill/>
          <a:ln/>
        </p:spPr>
        <p:txBody>
          <a:bodyPr wrap="square" lIns="0" tIns="0" rIns="0" bIns="0" rtlCol="0" anchor="ctr"/>
          <a:lstStyle/>
          <a:p>
            <a:pPr indent="0" marL="0">
              <a:lnSpc>
                <a:spcPts val="1700"/>
              </a:lnSpc>
              <a:buNone/>
            </a:pPr>
            <a:r>
              <a:rPr lang="en-US" sz="1200" dirty="0">
                <a:solidFill>
                  <a:srgbClr val="100B2E"/>
                </a:solidFill>
                <a:latin typeface="Calibri" pitchFamily="34" charset="0"/>
                <a:ea typeface="Calibri" pitchFamily="34" charset="-122"/>
                <a:cs typeface="Calibri" pitchFamily="34" charset="-120"/>
              </a:rPr>
              <a:t>Outcome, delivery health, the top risk and the decision required. Business impact first, Jira mechanics never.</a:t>
            </a:r>
            <a:endParaRPr lang="en-US" sz="1200" dirty="0"/>
          </a:p>
        </p:txBody>
      </p:sp>
      <p:sp>
        <p:nvSpPr>
          <p:cNvPr id="9" name="Shape 7"/>
          <p:cNvSpPr/>
          <p:nvPr/>
        </p:nvSpPr>
        <p:spPr>
          <a:xfrm>
            <a:off x="3362706" y="2057400"/>
            <a:ext cx="2603754" cy="2377440"/>
          </a:xfrm>
          <a:prstGeom prst="roundRect">
            <a:avLst>
              <a:gd name="adj" fmla="val 3077"/>
            </a:avLst>
          </a:prstGeom>
          <a:solidFill>
            <a:srgbClr val="1364F4">
              <a:alpha val="9000"/>
            </a:srgbClr>
          </a:solidFill>
          <a:ln w="12700">
            <a:solidFill>
              <a:srgbClr val="1364F4">
                <a:alpha val="45000"/>
              </a:srgbClr>
            </a:solidFill>
            <a:prstDash val="solid"/>
          </a:ln>
        </p:spPr>
      </p:sp>
      <p:sp>
        <p:nvSpPr>
          <p:cNvPr id="10" name="Text 8"/>
          <p:cNvSpPr txBox="1"/>
          <p:nvPr/>
        </p:nvSpPr>
        <p:spPr>
          <a:xfrm>
            <a:off x="3582162" y="2286000"/>
            <a:ext cx="2164842" cy="457200"/>
          </a:xfrm>
          <a:prstGeom prst="rect">
            <a:avLst/>
          </a:prstGeom>
          <a:noFill/>
          <a:ln/>
        </p:spPr>
        <p:txBody>
          <a:bodyPr wrap="square" lIns="0" tIns="0" rIns="0" bIns="0" rtlCol="0" anchor="ctr"/>
          <a:lstStyle/>
          <a:p>
            <a:pPr indent="0" marL="0">
              <a:buNone/>
            </a:pPr>
            <a:r>
              <a:rPr lang="en-US" sz="1600" b="1" dirty="0">
                <a:solidFill>
                  <a:srgbClr val="1364F4"/>
                </a:solidFill>
                <a:latin typeface="Calibri" pitchFamily="34" charset="0"/>
                <a:ea typeface="Calibri" pitchFamily="34" charset="-122"/>
                <a:cs typeface="Calibri" pitchFamily="34" charset="-120"/>
              </a:rPr>
              <a:t>Product</a:t>
            </a:r>
            <a:endParaRPr lang="en-US" sz="1600" dirty="0"/>
          </a:p>
        </p:txBody>
      </p:sp>
      <p:sp>
        <p:nvSpPr>
          <p:cNvPr id="11" name="Text 9"/>
          <p:cNvSpPr txBox="1"/>
          <p:nvPr/>
        </p:nvSpPr>
        <p:spPr>
          <a:xfrm>
            <a:off x="3582162" y="2788920"/>
            <a:ext cx="2164842" cy="1463040"/>
          </a:xfrm>
          <a:prstGeom prst="rect">
            <a:avLst/>
          </a:prstGeom>
          <a:noFill/>
          <a:ln/>
        </p:spPr>
        <p:txBody>
          <a:bodyPr wrap="square" lIns="0" tIns="0" rIns="0" bIns="0" rtlCol="0" anchor="ctr"/>
          <a:lstStyle/>
          <a:p>
            <a:pPr indent="0" marL="0">
              <a:lnSpc>
                <a:spcPts val="1700"/>
              </a:lnSpc>
              <a:buNone/>
            </a:pPr>
            <a:r>
              <a:rPr lang="en-US" sz="1200" dirty="0">
                <a:solidFill>
                  <a:srgbClr val="100B2E"/>
                </a:solidFill>
                <a:latin typeface="Calibri" pitchFamily="34" charset="0"/>
                <a:ea typeface="Calibri" pitchFamily="34" charset="-122"/>
                <a:cs typeface="Calibri" pitchFamily="34" charset="-120"/>
              </a:rPr>
              <a:t>Scope, customer impact, priority and the trade-off being made to protect the sprint goal.</a:t>
            </a:r>
            <a:endParaRPr lang="en-US" sz="1200" dirty="0"/>
          </a:p>
        </p:txBody>
      </p:sp>
      <p:sp>
        <p:nvSpPr>
          <p:cNvPr id="12" name="Shape 10"/>
          <p:cNvSpPr/>
          <p:nvPr/>
        </p:nvSpPr>
        <p:spPr>
          <a:xfrm>
            <a:off x="6222492" y="2057400"/>
            <a:ext cx="2603754" cy="2377440"/>
          </a:xfrm>
          <a:prstGeom prst="roundRect">
            <a:avLst>
              <a:gd name="adj" fmla="val 3077"/>
            </a:avLst>
          </a:prstGeom>
          <a:solidFill>
            <a:srgbClr val="8036F0">
              <a:alpha val="9000"/>
            </a:srgbClr>
          </a:solidFill>
          <a:ln w="12700">
            <a:solidFill>
              <a:srgbClr val="8036F0">
                <a:alpha val="45000"/>
              </a:srgbClr>
            </a:solidFill>
            <a:prstDash val="solid"/>
          </a:ln>
        </p:spPr>
      </p:sp>
      <p:sp>
        <p:nvSpPr>
          <p:cNvPr id="13" name="Text 11"/>
          <p:cNvSpPr txBox="1"/>
          <p:nvPr/>
        </p:nvSpPr>
        <p:spPr>
          <a:xfrm>
            <a:off x="6441948" y="2286000"/>
            <a:ext cx="2164842" cy="457200"/>
          </a:xfrm>
          <a:prstGeom prst="rect">
            <a:avLst/>
          </a:prstGeom>
          <a:noFill/>
          <a:ln/>
        </p:spPr>
        <p:txBody>
          <a:bodyPr wrap="square" lIns="0" tIns="0" rIns="0" bIns="0" rtlCol="0" anchor="ctr"/>
          <a:lstStyle/>
          <a:p>
            <a:pPr indent="0" marL="0">
              <a:buNone/>
            </a:pPr>
            <a:r>
              <a:rPr lang="en-US" sz="1600" b="1" dirty="0">
                <a:solidFill>
                  <a:srgbClr val="8036F0"/>
                </a:solidFill>
                <a:latin typeface="Calibri" pitchFamily="34" charset="0"/>
                <a:ea typeface="Calibri" pitchFamily="34" charset="-122"/>
                <a:cs typeface="Calibri" pitchFamily="34" charset="-120"/>
              </a:rPr>
              <a:t>Engineering</a:t>
            </a:r>
            <a:endParaRPr lang="en-US" sz="1600" dirty="0"/>
          </a:p>
        </p:txBody>
      </p:sp>
      <p:sp>
        <p:nvSpPr>
          <p:cNvPr id="14" name="Text 12"/>
          <p:cNvSpPr txBox="1"/>
          <p:nvPr/>
        </p:nvSpPr>
        <p:spPr>
          <a:xfrm>
            <a:off x="6441948" y="2788920"/>
            <a:ext cx="2164842" cy="1463040"/>
          </a:xfrm>
          <a:prstGeom prst="rect">
            <a:avLst/>
          </a:prstGeom>
          <a:noFill/>
          <a:ln/>
        </p:spPr>
        <p:txBody>
          <a:bodyPr wrap="square" lIns="0" tIns="0" rIns="0" bIns="0" rtlCol="0" anchor="ctr"/>
          <a:lstStyle/>
          <a:p>
            <a:pPr indent="0" marL="0">
              <a:lnSpc>
                <a:spcPts val="1700"/>
              </a:lnSpc>
              <a:buNone/>
            </a:pPr>
            <a:r>
              <a:rPr lang="en-US" sz="1200" dirty="0">
                <a:solidFill>
                  <a:srgbClr val="100B2E"/>
                </a:solidFill>
                <a:latin typeface="Calibri" pitchFamily="34" charset="0"/>
                <a:ea typeface="Calibri" pitchFamily="34" charset="-122"/>
                <a:cs typeface="Calibri" pitchFamily="34" charset="-120"/>
              </a:rPr>
              <a:t>The dependency, the technical owner, the integration contract and the acceptance criteria.</a:t>
            </a:r>
            <a:endParaRPr lang="en-US" sz="1200" dirty="0"/>
          </a:p>
        </p:txBody>
      </p:sp>
      <p:sp>
        <p:nvSpPr>
          <p:cNvPr id="15" name="Shape 13"/>
          <p:cNvSpPr/>
          <p:nvPr/>
        </p:nvSpPr>
        <p:spPr>
          <a:xfrm>
            <a:off x="9082278" y="2057400"/>
            <a:ext cx="2603754" cy="2377440"/>
          </a:xfrm>
          <a:prstGeom prst="roundRect">
            <a:avLst>
              <a:gd name="adj" fmla="val 3077"/>
            </a:avLst>
          </a:prstGeom>
          <a:solidFill>
            <a:srgbClr val="00B3A4">
              <a:alpha val="9000"/>
            </a:srgbClr>
          </a:solidFill>
          <a:ln w="12700">
            <a:solidFill>
              <a:srgbClr val="00B3A4">
                <a:alpha val="45000"/>
              </a:srgbClr>
            </a:solidFill>
            <a:prstDash val="solid"/>
          </a:ln>
        </p:spPr>
      </p:sp>
      <p:sp>
        <p:nvSpPr>
          <p:cNvPr id="16" name="Text 14"/>
          <p:cNvSpPr txBox="1"/>
          <p:nvPr/>
        </p:nvSpPr>
        <p:spPr>
          <a:xfrm>
            <a:off x="9301734" y="2286000"/>
            <a:ext cx="2164842" cy="457200"/>
          </a:xfrm>
          <a:prstGeom prst="rect">
            <a:avLst/>
          </a:prstGeom>
          <a:noFill/>
          <a:ln/>
        </p:spPr>
        <p:txBody>
          <a:bodyPr wrap="square" lIns="0" tIns="0" rIns="0" bIns="0" rtlCol="0" anchor="ctr"/>
          <a:lstStyle/>
          <a:p>
            <a:pPr indent="0" marL="0">
              <a:buNone/>
            </a:pPr>
            <a:r>
              <a:rPr lang="en-US" sz="1600" b="1" dirty="0">
                <a:solidFill>
                  <a:srgbClr val="00B3A4"/>
                </a:solidFill>
                <a:latin typeface="Calibri" pitchFamily="34" charset="0"/>
                <a:ea typeface="Calibri" pitchFamily="34" charset="-122"/>
                <a:cs typeface="Calibri" pitchFamily="34" charset="-120"/>
              </a:rPr>
              <a:t>Support / Operations</a:t>
            </a:r>
            <a:endParaRPr lang="en-US" sz="1600" dirty="0"/>
          </a:p>
        </p:txBody>
      </p:sp>
      <p:sp>
        <p:nvSpPr>
          <p:cNvPr id="17" name="Text 15"/>
          <p:cNvSpPr txBox="1"/>
          <p:nvPr/>
        </p:nvSpPr>
        <p:spPr>
          <a:xfrm>
            <a:off x="9301734" y="2788920"/>
            <a:ext cx="2164842" cy="1463040"/>
          </a:xfrm>
          <a:prstGeom prst="rect">
            <a:avLst/>
          </a:prstGeom>
          <a:noFill/>
          <a:ln/>
        </p:spPr>
        <p:txBody>
          <a:bodyPr wrap="square" lIns="0" tIns="0" rIns="0" bIns="0" rtlCol="0" anchor="ctr"/>
          <a:lstStyle/>
          <a:p>
            <a:pPr indent="0" marL="0">
              <a:lnSpc>
                <a:spcPts val="1700"/>
              </a:lnSpc>
              <a:buNone/>
            </a:pPr>
            <a:r>
              <a:rPr lang="en-US" sz="1200" dirty="0">
                <a:solidFill>
                  <a:srgbClr val="100B2E"/>
                </a:solidFill>
                <a:latin typeface="Calibri" pitchFamily="34" charset="0"/>
                <a:ea typeface="Calibri" pitchFamily="34" charset="-122"/>
                <a:cs typeface="Calibri" pitchFamily="34" charset="-120"/>
              </a:rPr>
              <a:t>Readiness, runbook, incident impact and a clean handoff at the point of release.</a:t>
            </a:r>
            <a:endParaRPr lang="en-US" sz="1200" dirty="0"/>
          </a:p>
        </p:txBody>
      </p:sp>
      <p:sp>
        <p:nvSpPr>
          <p:cNvPr id="18" name="Shape 16"/>
          <p:cNvSpPr/>
          <p:nvPr/>
        </p:nvSpPr>
        <p:spPr>
          <a:xfrm>
            <a:off x="502920" y="4663440"/>
            <a:ext cx="11183112" cy="1097280"/>
          </a:xfrm>
          <a:prstGeom prst="roundRect">
            <a:avLst>
              <a:gd name="adj" fmla="val 6667"/>
            </a:avLst>
          </a:prstGeom>
          <a:solidFill>
            <a:srgbClr val="F3F5FD"/>
          </a:solidFill>
          <a:ln w="12700">
            <a:solidFill>
              <a:srgbClr val="D8DEF2"/>
            </a:solidFill>
            <a:prstDash val="solid"/>
          </a:ln>
        </p:spPr>
      </p:sp>
      <p:sp>
        <p:nvSpPr>
          <p:cNvPr id="19" name="Text 17"/>
          <p:cNvSpPr txBox="1"/>
          <p:nvPr/>
        </p:nvSpPr>
        <p:spPr>
          <a:xfrm>
            <a:off x="777240" y="4663440"/>
            <a:ext cx="10634472" cy="1097280"/>
          </a:xfrm>
          <a:prstGeom prst="rect">
            <a:avLst/>
          </a:prstGeom>
          <a:noFill/>
          <a:ln/>
        </p:spPr>
        <p:txBody>
          <a:bodyPr wrap="square" lIns="0" tIns="0" rIns="0" bIns="0" rtlCol="0" anchor="ctr"/>
          <a:lstStyle/>
          <a:p>
            <a:pPr indent="0" marL="0">
              <a:lnSpc>
                <a:spcPts val="1800"/>
              </a:lnSpc>
              <a:buNone/>
            </a:pPr>
            <a:r>
              <a:rPr lang="en-US" sz="1350" b="1" dirty="0">
                <a:solidFill>
                  <a:srgbClr val="100B2E"/>
                </a:solidFill>
                <a:latin typeface="Calibri" pitchFamily="34" charset="0"/>
                <a:ea typeface="Calibri" pitchFamily="34" charset="-122"/>
                <a:cs typeface="Calibri" pitchFamily="34" charset="-120"/>
              </a:rPr>
              <a:t>The RAG discipline.  </a:t>
            </a:r>
            <a:pPr indent="0" marL="0">
              <a:lnSpc>
                <a:spcPts val="1800"/>
              </a:lnSpc>
              <a:buNone/>
            </a:pPr>
            <a:r>
              <a:rPr lang="en-US" sz="1250" dirty="0">
                <a:solidFill>
                  <a:srgbClr val="5B6180"/>
                </a:solidFill>
                <a:latin typeface="Calibri" pitchFamily="34" charset="0"/>
                <a:ea typeface="Calibri" pitchFamily="34" charset="-122"/>
                <a:cs typeface="Calibri" pitchFamily="34" charset="-120"/>
              </a:rPr>
              <a:t>Lead with the outcome, then progress, then the top risk, then the decision needed, then the next milestone. Uncertainty is never hidden — it is stated with an owner, a mitigation and a date. A status report that only contains good news stops being read.</a:t>
            </a:r>
            <a:endParaRPr lang="en-US" sz="1350" dirty="0"/>
          </a:p>
        </p:txBody>
      </p:sp>
      <p:sp>
        <p:nvSpPr>
          <p:cNvPr id="20" name="Text 18"/>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1" name="Shape 19"/>
          <p:cNvSpPr/>
          <p:nvPr/>
        </p:nvSpPr>
        <p:spPr>
          <a:xfrm>
            <a:off x="11375136" y="6382512"/>
            <a:ext cx="310896" cy="310896"/>
          </a:xfrm>
          <a:prstGeom prst="ellipse">
            <a:avLst/>
          </a:prstGeom>
          <a:solidFill>
            <a:srgbClr val="EAEEFB"/>
          </a:solidFill>
          <a:ln w="12700">
            <a:solidFill>
              <a:srgbClr val="EAEEFB"/>
            </a:solidFill>
            <a:prstDash val="solid"/>
          </a:ln>
        </p:spPr>
      </p:sp>
      <p:sp>
        <p:nvSpPr>
          <p:cNvPr id="22" name="Text 20"/>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00B2E"/>
        </a:solidFill>
      </p:bgPr>
    </p:bg>
    <p:spTree>
      <p:nvGrpSpPr>
        <p:cNvPr id="1" name=""/>
        <p:cNvGrpSpPr/>
        <p:nvPr/>
      </p:nvGrpSpPr>
      <p:grpSpPr>
        <a:xfrm>
          <a:off x="0" y="0"/>
          <a:ext cx="0" cy="0"/>
          <a:chOff x="0" y="0"/>
          <a:chExt cx="0" cy="0"/>
        </a:xfrm>
      </p:grpSpPr>
      <p:sp>
        <p:nvSpPr>
          <p:cNvPr id="2" name="Shape 0"/>
          <p:cNvSpPr/>
          <p:nvPr/>
        </p:nvSpPr>
        <p:spPr>
          <a:xfrm>
            <a:off x="9144000" y="-1280160"/>
            <a:ext cx="4754880" cy="4754880"/>
          </a:xfrm>
          <a:prstGeom prst="ellipse">
            <a:avLst/>
          </a:prstGeom>
          <a:solidFill>
            <a:srgbClr val="00B3A4">
              <a:alpha val="38000"/>
            </a:srgbClr>
          </a:solidFill>
          <a:ln w="12700">
            <a:solidFill>
              <a:srgbClr val="00B3A4">
                <a:alpha val="0"/>
              </a:srgbClr>
            </a:solidFill>
            <a:prstDash val="solid"/>
          </a:ln>
        </p:spPr>
      </p:sp>
      <p:sp>
        <p:nvSpPr>
          <p:cNvPr id="3" name="Shape 1"/>
          <p:cNvSpPr/>
          <p:nvPr/>
        </p:nvSpPr>
        <p:spPr>
          <a:xfrm>
            <a:off x="10058400" y="3657600"/>
            <a:ext cx="3108960" cy="3108960"/>
          </a:xfrm>
          <a:prstGeom prst="ellipse">
            <a:avLst/>
          </a:prstGeom>
          <a:solidFill>
            <a:srgbClr val="8036F0">
              <a:alpha val="32000"/>
            </a:srgbClr>
          </a:solidFill>
          <a:ln w="12700">
            <a:solidFill>
              <a:srgbClr val="8036F0">
                <a:alpha val="0"/>
              </a:srgbClr>
            </a:solidFill>
            <a:prstDash val="solid"/>
          </a:ln>
        </p:spPr>
      </p:sp>
      <p:sp>
        <p:nvSpPr>
          <p:cNvPr id="4" name="Shape 2"/>
          <p:cNvSpPr/>
          <p:nvPr/>
        </p:nvSpPr>
        <p:spPr>
          <a:xfrm>
            <a:off x="-914400" y="4480560"/>
            <a:ext cx="2743200" cy="2743200"/>
          </a:xfrm>
          <a:prstGeom prst="ellipse">
            <a:avLst/>
          </a:prstGeom>
          <a:solidFill>
            <a:srgbClr val="00B3A4">
              <a:alpha val="26000"/>
            </a:srgbClr>
          </a:solidFill>
          <a:ln w="12700">
            <a:solidFill>
              <a:srgbClr val="00B3A4">
                <a:alpha val="0"/>
              </a:srgbClr>
            </a:solidFill>
            <a:prstDash val="solid"/>
          </a:ln>
        </p:spPr>
      </p:sp>
      <p:sp>
        <p:nvSpPr>
          <p:cNvPr id="5" name="Text 3"/>
          <p:cNvSpPr txBox="1"/>
          <p:nvPr/>
        </p:nvSpPr>
        <p:spPr>
          <a:xfrm>
            <a:off x="502920" y="2240280"/>
            <a:ext cx="7315200" cy="365760"/>
          </a:xfrm>
          <a:prstGeom prst="rect">
            <a:avLst/>
          </a:prstGeom>
          <a:noFill/>
          <a:ln/>
        </p:spPr>
        <p:txBody>
          <a:bodyPr wrap="square" lIns="0" tIns="0" rIns="0" bIns="0" rtlCol="0" anchor="ctr"/>
          <a:lstStyle/>
          <a:p>
            <a:pPr indent="0" marL="0">
              <a:buNone/>
            </a:pPr>
            <a:r>
              <a:rPr lang="en-US" sz="1300" b="1" spc="250" kern="0" dirty="0">
                <a:solidFill>
                  <a:srgbClr val="00B3A4"/>
                </a:solidFill>
                <a:latin typeface="Calibri" pitchFamily="34" charset="0"/>
                <a:ea typeface="Calibri" pitchFamily="34" charset="-122"/>
                <a:cs typeface="Calibri" pitchFamily="34" charset="-120"/>
              </a:rPr>
              <a:t>PART 2</a:t>
            </a:r>
            <a:endParaRPr lang="en-US" sz="1300" dirty="0"/>
          </a:p>
        </p:txBody>
      </p:sp>
      <p:sp>
        <p:nvSpPr>
          <p:cNvPr id="6" name="Text 4"/>
          <p:cNvSpPr txBox="1"/>
          <p:nvPr/>
        </p:nvSpPr>
        <p:spPr>
          <a:xfrm>
            <a:off x="502920" y="2651760"/>
            <a:ext cx="8412480" cy="11887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Screenshot Evidence Archive</a:t>
            </a:r>
            <a:endParaRPr lang="en-US" sz="4000" dirty="0"/>
          </a:p>
        </p:txBody>
      </p:sp>
      <p:sp>
        <p:nvSpPr>
          <p:cNvPr id="7" name="Text 5"/>
          <p:cNvSpPr txBox="1"/>
          <p:nvPr/>
        </p:nvSpPr>
        <p:spPr>
          <a:xfrm>
            <a:off x="502920" y="3886200"/>
            <a:ext cx="7498080" cy="731520"/>
          </a:xfrm>
          <a:prstGeom prst="rect">
            <a:avLst/>
          </a:prstGeom>
          <a:noFill/>
          <a:ln/>
        </p:spPr>
        <p:txBody>
          <a:bodyPr wrap="square" lIns="0" tIns="0" rIns="0" bIns="0" rtlCol="0" anchor="ctr"/>
          <a:lstStyle/>
          <a:p>
            <a:pPr indent="0" marL="0">
              <a:lnSpc>
                <a:spcPts val="2100"/>
              </a:lnSpc>
              <a:buNone/>
            </a:pPr>
            <a:r>
              <a:rPr lang="en-US" sz="1400" dirty="0">
                <a:solidFill>
                  <a:srgbClr val="B6BEE4"/>
                </a:solidFill>
                <a:latin typeface="Calibri" pitchFamily="34" charset="0"/>
                <a:ea typeface="Calibri" pitchFamily="34" charset="-122"/>
                <a:cs typeface="Calibri" pitchFamily="34" charset="-120"/>
              </a:rPr>
              <a:t>All 80 Jira screenshots, arranged in delivery order, each with an EVID reference and a description of what it demonstrates.</a:t>
            </a:r>
            <a:endParaRPr lang="en-US" sz="1400" dirty="0"/>
          </a:p>
        </p:txBody>
      </p:sp>
      <p:sp>
        <p:nvSpPr>
          <p:cNvPr id="8" name="Text 6"/>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9AA3C8"/>
                </a:solidFill>
                <a:latin typeface="Calibri" pitchFamily="34" charset="0"/>
                <a:ea typeface="Calibri" pitchFamily="34" charset="-122"/>
                <a:cs typeface="Calibri" pitchFamily="34" charset="-120"/>
              </a:rPr>
              <a:t>Mahesh Zade  •  AI TPM / Jira Delivery Project</a:t>
            </a:r>
            <a:endParaRPr lang="en-US" sz="1000" dirty="0"/>
          </a:p>
        </p:txBody>
      </p:sp>
      <p:sp>
        <p:nvSpPr>
          <p:cNvPr id="9" name="Shape 7"/>
          <p:cNvSpPr/>
          <p:nvPr/>
        </p:nvSpPr>
        <p:spPr>
          <a:xfrm>
            <a:off x="11375136" y="6382512"/>
            <a:ext cx="310896" cy="310896"/>
          </a:xfrm>
          <a:prstGeom prst="ellipse">
            <a:avLst/>
          </a:prstGeom>
          <a:solidFill>
            <a:srgbClr val="1364F4"/>
          </a:solidFill>
          <a:ln w="12700">
            <a:solidFill>
              <a:srgbClr val="1364F4"/>
            </a:solidFill>
            <a:prstDash val="solid"/>
          </a:ln>
        </p:spPr>
      </p:sp>
      <p:sp>
        <p:nvSpPr>
          <p:cNvPr id="10" name="Text 8"/>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620317"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620317"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2 · INDEX</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How the 80 screenshots are arranged</a:t>
            </a:r>
            <a:endParaRPr lang="en-US" sz="3100" dirty="0"/>
          </a:p>
        </p:txBody>
      </p:sp>
      <p:sp>
        <p:nvSpPr>
          <p:cNvPr id="5" name="Text 3"/>
          <p:cNvSpPr txBox="1"/>
          <p:nvPr/>
        </p:nvSpPr>
        <p:spPr>
          <a:xfrm>
            <a:off x="502920" y="1572768"/>
            <a:ext cx="11183112" cy="502920"/>
          </a:xfrm>
          <a:prstGeom prst="rect">
            <a:avLst/>
          </a:prstGeom>
          <a:noFill/>
          <a:ln/>
        </p:spPr>
        <p:txBody>
          <a:bodyPr wrap="square" lIns="0" tIns="0" rIns="0" bIns="0" rtlCol="0" anchor="ctr"/>
          <a:lstStyle/>
          <a:p>
            <a:pPr indent="0" marL="0">
              <a:lnSpc>
                <a:spcPts val="2000"/>
              </a:lnSpc>
              <a:buNone/>
            </a:pPr>
            <a:r>
              <a:rPr lang="en-US" sz="1350" dirty="0">
                <a:solidFill>
                  <a:srgbClr val="5B6180"/>
                </a:solidFill>
                <a:latin typeface="Calibri" pitchFamily="34" charset="0"/>
                <a:ea typeface="Calibri" pitchFamily="34" charset="-122"/>
                <a:cs typeface="Calibri" pitchFamily="34" charset="-120"/>
              </a:rPr>
              <a:t>The archive is presented in delivery order — environment setup first, then backlog and planning, then sprint execution, then reporting and the dashboard build. Every screenshot carries an EVID number, a title and a description of exactly what it proves.</a:t>
            </a:r>
            <a:endParaRPr lang="en-US" sz="1350" dirty="0"/>
          </a:p>
        </p:txBody>
      </p:sp>
      <p:sp>
        <p:nvSpPr>
          <p:cNvPr id="6" name="Shape 4"/>
          <p:cNvSpPr/>
          <p:nvPr/>
        </p:nvSpPr>
        <p:spPr>
          <a:xfrm>
            <a:off x="502920" y="2194560"/>
            <a:ext cx="11183112" cy="512064"/>
          </a:xfrm>
          <a:prstGeom prst="roundRect">
            <a:avLst>
              <a:gd name="adj" fmla="val 10714"/>
            </a:avLst>
          </a:prstGeom>
          <a:solidFill>
            <a:srgbClr val="F3F5FD"/>
          </a:solidFill>
          <a:ln w="12700">
            <a:solidFill>
              <a:srgbClr val="D8DEF2"/>
            </a:solidFill>
            <a:prstDash val="solid"/>
          </a:ln>
        </p:spPr>
      </p:sp>
      <p:sp>
        <p:nvSpPr>
          <p:cNvPr id="7" name="Shape 5"/>
          <p:cNvSpPr/>
          <p:nvPr/>
        </p:nvSpPr>
        <p:spPr>
          <a:xfrm>
            <a:off x="685800" y="2295144"/>
            <a:ext cx="1737360" cy="310896"/>
          </a:xfrm>
          <a:prstGeom prst="roundRect">
            <a:avLst>
              <a:gd name="adj" fmla="val 50000"/>
            </a:avLst>
          </a:prstGeom>
          <a:solidFill>
            <a:srgbClr val="1364F4"/>
          </a:solidFill>
          <a:ln w="12700">
            <a:solidFill>
              <a:srgbClr val="1364F4"/>
            </a:solidFill>
            <a:prstDash val="solid"/>
          </a:ln>
        </p:spPr>
      </p:sp>
      <p:sp>
        <p:nvSpPr>
          <p:cNvPr id="8" name="Text 6"/>
          <p:cNvSpPr txBox="1"/>
          <p:nvPr/>
        </p:nvSpPr>
        <p:spPr>
          <a:xfrm>
            <a:off x="685800" y="2295144"/>
            <a:ext cx="17373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EVID-001 → 012</a:t>
            </a:r>
            <a:endParaRPr lang="en-US" sz="1050" dirty="0"/>
          </a:p>
        </p:txBody>
      </p:sp>
      <p:sp>
        <p:nvSpPr>
          <p:cNvPr id="9" name="Text 7"/>
          <p:cNvSpPr txBox="1"/>
          <p:nvPr/>
        </p:nvSpPr>
        <p:spPr>
          <a:xfrm>
            <a:off x="2560320" y="2194560"/>
            <a:ext cx="3657600" cy="512064"/>
          </a:xfrm>
          <a:prstGeom prst="rect">
            <a:avLst/>
          </a:prstGeom>
          <a:noFill/>
          <a:ln/>
        </p:spPr>
        <p:txBody>
          <a:bodyPr wrap="square" lIns="0" tIns="0" rIns="0" bIns="0" rtlCol="0" anchor="ctr"/>
          <a:lstStyle/>
          <a:p>
            <a:pPr indent="0" marL="0">
              <a:buNone/>
            </a:pPr>
            <a:r>
              <a:rPr lang="en-US" sz="1300" b="1" dirty="0">
                <a:solidFill>
                  <a:srgbClr val="100B2E"/>
                </a:solidFill>
                <a:latin typeface="Calibri" pitchFamily="34" charset="0"/>
                <a:ea typeface="Calibri" pitchFamily="34" charset="-122"/>
                <a:cs typeface="Calibri" pitchFamily="34" charset="-120"/>
              </a:rPr>
              <a:t>Cloud &amp; DevOps Environment (KAN)</a:t>
            </a:r>
            <a:endParaRPr lang="en-US" sz="1300" dirty="0"/>
          </a:p>
        </p:txBody>
      </p:sp>
      <p:sp>
        <p:nvSpPr>
          <p:cNvPr id="10" name="Text 8"/>
          <p:cNvSpPr txBox="1"/>
          <p:nvPr/>
        </p:nvSpPr>
        <p:spPr>
          <a:xfrm>
            <a:off x="6355080" y="2194560"/>
            <a:ext cx="5148072" cy="512064"/>
          </a:xfrm>
          <a:prstGeom prst="rect">
            <a:avLst/>
          </a:prstGeom>
          <a:noFill/>
          <a:ln/>
        </p:spPr>
        <p:txBody>
          <a:bodyPr wrap="square" lIns="0" tIns="0" rIns="0" bIns="0" rtlCol="0" anchor="ctr"/>
          <a:lstStyle/>
          <a:p>
            <a:pPr indent="0" marL="0">
              <a:buNone/>
            </a:pPr>
            <a:r>
              <a:rPr lang="en-US" sz="1200" dirty="0">
                <a:solidFill>
                  <a:srgbClr val="5B6180"/>
                </a:solidFill>
                <a:latin typeface="Calibri" pitchFamily="34" charset="0"/>
                <a:ea typeface="Calibri" pitchFamily="34" charset="-122"/>
                <a:cs typeface="Calibri" pitchFamily="34" charset="-120"/>
              </a:rPr>
              <a:t>Parent item, subtasks, the blocking dependency and the Kanban board.</a:t>
            </a:r>
            <a:endParaRPr lang="en-US" sz="1200" dirty="0"/>
          </a:p>
        </p:txBody>
      </p:sp>
      <p:sp>
        <p:nvSpPr>
          <p:cNvPr id="11" name="Shape 9"/>
          <p:cNvSpPr/>
          <p:nvPr/>
        </p:nvSpPr>
        <p:spPr>
          <a:xfrm>
            <a:off x="502920" y="2798064"/>
            <a:ext cx="11183112" cy="512064"/>
          </a:xfrm>
          <a:prstGeom prst="roundRect">
            <a:avLst>
              <a:gd name="adj" fmla="val 10714"/>
            </a:avLst>
          </a:prstGeom>
          <a:solidFill>
            <a:srgbClr val="F3F5FD"/>
          </a:solidFill>
          <a:ln w="12700">
            <a:solidFill>
              <a:srgbClr val="D8DEF2"/>
            </a:solidFill>
            <a:prstDash val="solid"/>
          </a:ln>
        </p:spPr>
      </p:sp>
      <p:sp>
        <p:nvSpPr>
          <p:cNvPr id="12" name="Shape 10"/>
          <p:cNvSpPr/>
          <p:nvPr/>
        </p:nvSpPr>
        <p:spPr>
          <a:xfrm>
            <a:off x="685800" y="2898648"/>
            <a:ext cx="1737360" cy="310896"/>
          </a:xfrm>
          <a:prstGeom prst="roundRect">
            <a:avLst>
              <a:gd name="adj" fmla="val 50000"/>
            </a:avLst>
          </a:prstGeom>
          <a:solidFill>
            <a:srgbClr val="00B3A4"/>
          </a:solidFill>
          <a:ln w="12700">
            <a:solidFill>
              <a:srgbClr val="00B3A4"/>
            </a:solidFill>
            <a:prstDash val="solid"/>
          </a:ln>
        </p:spPr>
      </p:sp>
      <p:sp>
        <p:nvSpPr>
          <p:cNvPr id="13" name="Text 11"/>
          <p:cNvSpPr txBox="1"/>
          <p:nvPr/>
        </p:nvSpPr>
        <p:spPr>
          <a:xfrm>
            <a:off x="685800" y="2898648"/>
            <a:ext cx="17373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EVID-013 → 021</a:t>
            </a:r>
            <a:endParaRPr lang="en-US" sz="1050" dirty="0"/>
          </a:p>
        </p:txBody>
      </p:sp>
      <p:sp>
        <p:nvSpPr>
          <p:cNvPr id="14" name="Text 12"/>
          <p:cNvSpPr txBox="1"/>
          <p:nvPr/>
        </p:nvSpPr>
        <p:spPr>
          <a:xfrm>
            <a:off x="2560320" y="2798064"/>
            <a:ext cx="3657600" cy="512064"/>
          </a:xfrm>
          <a:prstGeom prst="rect">
            <a:avLst/>
          </a:prstGeom>
          <a:noFill/>
          <a:ln/>
        </p:spPr>
        <p:txBody>
          <a:bodyPr wrap="square" lIns="0" tIns="0" rIns="0" bIns="0" rtlCol="0" anchor="ctr"/>
          <a:lstStyle/>
          <a:p>
            <a:pPr indent="0" marL="0">
              <a:buNone/>
            </a:pPr>
            <a:r>
              <a:rPr lang="en-US" sz="1300" b="1" dirty="0">
                <a:solidFill>
                  <a:srgbClr val="100B2E"/>
                </a:solidFill>
                <a:latin typeface="Calibri" pitchFamily="34" charset="0"/>
                <a:ea typeface="Calibri" pitchFamily="34" charset="-122"/>
                <a:cs typeface="Calibri" pitchFamily="34" charset="-120"/>
              </a:rPr>
              <a:t>Board and Project Setup</a:t>
            </a:r>
            <a:endParaRPr lang="en-US" sz="1300" dirty="0"/>
          </a:p>
        </p:txBody>
      </p:sp>
      <p:sp>
        <p:nvSpPr>
          <p:cNvPr id="15" name="Text 13"/>
          <p:cNvSpPr txBox="1"/>
          <p:nvPr/>
        </p:nvSpPr>
        <p:spPr>
          <a:xfrm>
            <a:off x="6355080" y="2798064"/>
            <a:ext cx="5148072" cy="512064"/>
          </a:xfrm>
          <a:prstGeom prst="rect">
            <a:avLst/>
          </a:prstGeom>
          <a:noFill/>
          <a:ln/>
        </p:spPr>
        <p:txBody>
          <a:bodyPr wrap="square" lIns="0" tIns="0" rIns="0" bIns="0" rtlCol="0" anchor="ctr"/>
          <a:lstStyle/>
          <a:p>
            <a:pPr indent="0" marL="0">
              <a:buNone/>
            </a:pPr>
            <a:r>
              <a:rPr lang="en-US" sz="1200" dirty="0">
                <a:solidFill>
                  <a:srgbClr val="5B6180"/>
                </a:solidFill>
                <a:latin typeface="Calibri" pitchFamily="34" charset="0"/>
                <a:ea typeface="Calibri" pitchFamily="34" charset="-122"/>
                <a:cs typeface="Calibri" pitchFamily="34" charset="-120"/>
              </a:rPr>
              <a:t>Board creation, Scrum vs Kanban, project creation and the first saved filter.</a:t>
            </a:r>
            <a:endParaRPr lang="en-US" sz="1200" dirty="0"/>
          </a:p>
        </p:txBody>
      </p:sp>
      <p:sp>
        <p:nvSpPr>
          <p:cNvPr id="16" name="Shape 14"/>
          <p:cNvSpPr/>
          <p:nvPr/>
        </p:nvSpPr>
        <p:spPr>
          <a:xfrm>
            <a:off x="502920" y="3401568"/>
            <a:ext cx="11183112" cy="512064"/>
          </a:xfrm>
          <a:prstGeom prst="roundRect">
            <a:avLst>
              <a:gd name="adj" fmla="val 10714"/>
            </a:avLst>
          </a:prstGeom>
          <a:solidFill>
            <a:srgbClr val="F3F5FD"/>
          </a:solidFill>
          <a:ln w="12700">
            <a:solidFill>
              <a:srgbClr val="D8DEF2"/>
            </a:solidFill>
            <a:prstDash val="solid"/>
          </a:ln>
        </p:spPr>
      </p:sp>
      <p:sp>
        <p:nvSpPr>
          <p:cNvPr id="17" name="Shape 15"/>
          <p:cNvSpPr/>
          <p:nvPr/>
        </p:nvSpPr>
        <p:spPr>
          <a:xfrm>
            <a:off x="685800" y="3502152"/>
            <a:ext cx="1737360" cy="310896"/>
          </a:xfrm>
          <a:prstGeom prst="roundRect">
            <a:avLst>
              <a:gd name="adj" fmla="val 50000"/>
            </a:avLst>
          </a:prstGeom>
          <a:solidFill>
            <a:srgbClr val="F4436C"/>
          </a:solidFill>
          <a:ln w="12700">
            <a:solidFill>
              <a:srgbClr val="F4436C"/>
            </a:solidFill>
            <a:prstDash val="solid"/>
          </a:ln>
        </p:spPr>
      </p:sp>
      <p:sp>
        <p:nvSpPr>
          <p:cNvPr id="18" name="Text 16"/>
          <p:cNvSpPr txBox="1"/>
          <p:nvPr/>
        </p:nvSpPr>
        <p:spPr>
          <a:xfrm>
            <a:off x="685800" y="3502152"/>
            <a:ext cx="17373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EVID-022 → 033</a:t>
            </a:r>
            <a:endParaRPr lang="en-US" sz="1050" dirty="0"/>
          </a:p>
        </p:txBody>
      </p:sp>
      <p:sp>
        <p:nvSpPr>
          <p:cNvPr id="19" name="Text 17"/>
          <p:cNvSpPr txBox="1"/>
          <p:nvPr/>
        </p:nvSpPr>
        <p:spPr>
          <a:xfrm>
            <a:off x="2560320" y="3401568"/>
            <a:ext cx="3657600" cy="512064"/>
          </a:xfrm>
          <a:prstGeom prst="rect">
            <a:avLst/>
          </a:prstGeom>
          <a:noFill/>
          <a:ln/>
        </p:spPr>
        <p:txBody>
          <a:bodyPr wrap="square" lIns="0" tIns="0" rIns="0" bIns="0" rtlCol="0" anchor="ctr"/>
          <a:lstStyle/>
          <a:p>
            <a:pPr indent="0" marL="0">
              <a:buNone/>
            </a:pPr>
            <a:r>
              <a:rPr lang="en-US" sz="1300" b="1" dirty="0">
                <a:solidFill>
                  <a:srgbClr val="100B2E"/>
                </a:solidFill>
                <a:latin typeface="Calibri" pitchFamily="34" charset="0"/>
                <a:ea typeface="Calibri" pitchFamily="34" charset="-122"/>
                <a:cs typeface="Calibri" pitchFamily="34" charset="-120"/>
              </a:rPr>
              <a:t>AI Scrum Backlog and Planning</a:t>
            </a:r>
            <a:endParaRPr lang="en-US" sz="1300" dirty="0"/>
          </a:p>
        </p:txBody>
      </p:sp>
      <p:sp>
        <p:nvSpPr>
          <p:cNvPr id="20" name="Text 18"/>
          <p:cNvSpPr txBox="1"/>
          <p:nvPr/>
        </p:nvSpPr>
        <p:spPr>
          <a:xfrm>
            <a:off x="6355080" y="3401568"/>
            <a:ext cx="5148072" cy="512064"/>
          </a:xfrm>
          <a:prstGeom prst="rect">
            <a:avLst/>
          </a:prstGeom>
          <a:noFill/>
          <a:ln/>
        </p:spPr>
        <p:txBody>
          <a:bodyPr wrap="square" lIns="0" tIns="0" rIns="0" bIns="0" rtlCol="0" anchor="ctr"/>
          <a:lstStyle/>
          <a:p>
            <a:pPr indent="0" marL="0">
              <a:buNone/>
            </a:pPr>
            <a:r>
              <a:rPr lang="en-US" sz="1200" dirty="0">
                <a:solidFill>
                  <a:srgbClr val="5B6180"/>
                </a:solidFill>
                <a:latin typeface="Calibri" pitchFamily="34" charset="0"/>
                <a:ea typeface="Calibri" pitchFamily="34" charset="-122"/>
                <a:cs typeface="Calibri" pitchFamily="34" charset="-120"/>
              </a:rPr>
              <a:t>User stories, acceptance criteria, estimation and sprint scope decisions.</a:t>
            </a:r>
            <a:endParaRPr lang="en-US" sz="1200" dirty="0"/>
          </a:p>
        </p:txBody>
      </p:sp>
      <p:sp>
        <p:nvSpPr>
          <p:cNvPr id="21" name="Shape 19"/>
          <p:cNvSpPr/>
          <p:nvPr/>
        </p:nvSpPr>
        <p:spPr>
          <a:xfrm>
            <a:off x="502920" y="4005072"/>
            <a:ext cx="11183112" cy="512064"/>
          </a:xfrm>
          <a:prstGeom prst="roundRect">
            <a:avLst>
              <a:gd name="adj" fmla="val 10714"/>
            </a:avLst>
          </a:prstGeom>
          <a:solidFill>
            <a:srgbClr val="F3F5FD"/>
          </a:solidFill>
          <a:ln w="12700">
            <a:solidFill>
              <a:srgbClr val="D8DEF2"/>
            </a:solidFill>
            <a:prstDash val="solid"/>
          </a:ln>
        </p:spPr>
      </p:sp>
      <p:sp>
        <p:nvSpPr>
          <p:cNvPr id="22" name="Shape 20"/>
          <p:cNvSpPr/>
          <p:nvPr/>
        </p:nvSpPr>
        <p:spPr>
          <a:xfrm>
            <a:off x="685800" y="4105656"/>
            <a:ext cx="1737360" cy="310896"/>
          </a:xfrm>
          <a:prstGeom prst="roundRect">
            <a:avLst>
              <a:gd name="adj" fmla="val 50000"/>
            </a:avLst>
          </a:prstGeom>
          <a:solidFill>
            <a:srgbClr val="8036F0"/>
          </a:solidFill>
          <a:ln w="12700">
            <a:solidFill>
              <a:srgbClr val="8036F0"/>
            </a:solidFill>
            <a:prstDash val="solid"/>
          </a:ln>
        </p:spPr>
      </p:sp>
      <p:sp>
        <p:nvSpPr>
          <p:cNvPr id="23" name="Text 21"/>
          <p:cNvSpPr txBox="1"/>
          <p:nvPr/>
        </p:nvSpPr>
        <p:spPr>
          <a:xfrm>
            <a:off x="685800" y="4105656"/>
            <a:ext cx="17373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EVID-034 → 047</a:t>
            </a:r>
            <a:endParaRPr lang="en-US" sz="1050" dirty="0"/>
          </a:p>
        </p:txBody>
      </p:sp>
      <p:sp>
        <p:nvSpPr>
          <p:cNvPr id="24" name="Text 22"/>
          <p:cNvSpPr txBox="1"/>
          <p:nvPr/>
        </p:nvSpPr>
        <p:spPr>
          <a:xfrm>
            <a:off x="2560320" y="4005072"/>
            <a:ext cx="3657600" cy="512064"/>
          </a:xfrm>
          <a:prstGeom prst="rect">
            <a:avLst/>
          </a:prstGeom>
          <a:noFill/>
          <a:ln/>
        </p:spPr>
        <p:txBody>
          <a:bodyPr wrap="square" lIns="0" tIns="0" rIns="0" bIns="0" rtlCol="0" anchor="ctr"/>
          <a:lstStyle/>
          <a:p>
            <a:pPr indent="0" marL="0">
              <a:buNone/>
            </a:pPr>
            <a:r>
              <a:rPr lang="en-US" sz="1300" b="1" dirty="0">
                <a:solidFill>
                  <a:srgbClr val="100B2E"/>
                </a:solidFill>
                <a:latin typeface="Calibri" pitchFamily="34" charset="0"/>
                <a:ea typeface="Calibri" pitchFamily="34" charset="-122"/>
                <a:cs typeface="Calibri" pitchFamily="34" charset="-120"/>
              </a:rPr>
              <a:t>Sprint Execution and Reporting</a:t>
            </a:r>
            <a:endParaRPr lang="en-US" sz="1300" dirty="0"/>
          </a:p>
        </p:txBody>
      </p:sp>
      <p:sp>
        <p:nvSpPr>
          <p:cNvPr id="25" name="Text 23"/>
          <p:cNvSpPr txBox="1"/>
          <p:nvPr/>
        </p:nvSpPr>
        <p:spPr>
          <a:xfrm>
            <a:off x="6355080" y="4005072"/>
            <a:ext cx="5148072" cy="512064"/>
          </a:xfrm>
          <a:prstGeom prst="rect">
            <a:avLst/>
          </a:prstGeom>
          <a:noFill/>
          <a:ln/>
        </p:spPr>
        <p:txBody>
          <a:bodyPr wrap="square" lIns="0" tIns="0" rIns="0" bIns="0" rtlCol="0" anchor="ctr"/>
          <a:lstStyle/>
          <a:p>
            <a:pPr indent="0" marL="0">
              <a:buNone/>
            </a:pPr>
            <a:r>
              <a:rPr lang="en-US" sz="1200" dirty="0">
                <a:solidFill>
                  <a:srgbClr val="5B6180"/>
                </a:solidFill>
                <a:latin typeface="Calibri" pitchFamily="34" charset="0"/>
                <a:ea typeface="Calibri" pitchFamily="34" charset="-122"/>
                <a:cs typeface="Calibri" pitchFamily="34" charset="-120"/>
              </a:rPr>
              <a:t>Sprint start, blocker comments, burndown, sprint report and flow charts.</a:t>
            </a:r>
            <a:endParaRPr lang="en-US" sz="1200" dirty="0"/>
          </a:p>
        </p:txBody>
      </p:sp>
      <p:sp>
        <p:nvSpPr>
          <p:cNvPr id="26" name="Shape 24"/>
          <p:cNvSpPr/>
          <p:nvPr/>
        </p:nvSpPr>
        <p:spPr>
          <a:xfrm>
            <a:off x="502920" y="4608576"/>
            <a:ext cx="11183112" cy="512064"/>
          </a:xfrm>
          <a:prstGeom prst="roundRect">
            <a:avLst>
              <a:gd name="adj" fmla="val 10714"/>
            </a:avLst>
          </a:prstGeom>
          <a:solidFill>
            <a:srgbClr val="F3F5FD"/>
          </a:solidFill>
          <a:ln w="12700">
            <a:solidFill>
              <a:srgbClr val="D8DEF2"/>
            </a:solidFill>
            <a:prstDash val="solid"/>
          </a:ln>
        </p:spPr>
      </p:sp>
      <p:sp>
        <p:nvSpPr>
          <p:cNvPr id="27" name="Shape 25"/>
          <p:cNvSpPr/>
          <p:nvPr/>
        </p:nvSpPr>
        <p:spPr>
          <a:xfrm>
            <a:off x="685800" y="4709160"/>
            <a:ext cx="1737360" cy="310896"/>
          </a:xfrm>
          <a:prstGeom prst="roundRect">
            <a:avLst>
              <a:gd name="adj" fmla="val 50000"/>
            </a:avLst>
          </a:prstGeom>
          <a:solidFill>
            <a:srgbClr val="FFB01F"/>
          </a:solidFill>
          <a:ln w="12700">
            <a:solidFill>
              <a:srgbClr val="FFB01F"/>
            </a:solidFill>
            <a:prstDash val="solid"/>
          </a:ln>
        </p:spPr>
      </p:sp>
      <p:sp>
        <p:nvSpPr>
          <p:cNvPr id="28" name="Text 26"/>
          <p:cNvSpPr txBox="1"/>
          <p:nvPr/>
        </p:nvSpPr>
        <p:spPr>
          <a:xfrm>
            <a:off x="685800" y="4709160"/>
            <a:ext cx="17373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EVID-048 → 078</a:t>
            </a:r>
            <a:endParaRPr lang="en-US" sz="1050" dirty="0"/>
          </a:p>
        </p:txBody>
      </p:sp>
      <p:sp>
        <p:nvSpPr>
          <p:cNvPr id="29" name="Text 27"/>
          <p:cNvSpPr txBox="1"/>
          <p:nvPr/>
        </p:nvSpPr>
        <p:spPr>
          <a:xfrm>
            <a:off x="2560320" y="4608576"/>
            <a:ext cx="3657600" cy="512064"/>
          </a:xfrm>
          <a:prstGeom prst="rect">
            <a:avLst/>
          </a:prstGeom>
          <a:noFill/>
          <a:ln/>
        </p:spPr>
        <p:txBody>
          <a:bodyPr wrap="square" lIns="0" tIns="0" rIns="0" bIns="0" rtlCol="0" anchor="ctr"/>
          <a:lstStyle/>
          <a:p>
            <a:pPr indent="0" marL="0">
              <a:buNone/>
            </a:pPr>
            <a:r>
              <a:rPr lang="en-US" sz="1300" b="1" dirty="0">
                <a:solidFill>
                  <a:srgbClr val="100B2E"/>
                </a:solidFill>
                <a:latin typeface="Calibri" pitchFamily="34" charset="0"/>
                <a:ea typeface="Calibri" pitchFamily="34" charset="-122"/>
                <a:cs typeface="Calibri" pitchFamily="34" charset="-120"/>
              </a:rPr>
              <a:t>JQL, Filters and Dashboard Build</a:t>
            </a:r>
            <a:endParaRPr lang="en-US" sz="1300" dirty="0"/>
          </a:p>
        </p:txBody>
      </p:sp>
      <p:sp>
        <p:nvSpPr>
          <p:cNvPr id="30" name="Text 28"/>
          <p:cNvSpPr txBox="1"/>
          <p:nvPr/>
        </p:nvSpPr>
        <p:spPr>
          <a:xfrm>
            <a:off x="6355080" y="4608576"/>
            <a:ext cx="5148072" cy="512064"/>
          </a:xfrm>
          <a:prstGeom prst="rect">
            <a:avLst/>
          </a:prstGeom>
          <a:noFill/>
          <a:ln/>
        </p:spPr>
        <p:txBody>
          <a:bodyPr wrap="square" lIns="0" tIns="0" rIns="0" bIns="0" rtlCol="0" anchor="ctr"/>
          <a:lstStyle/>
          <a:p>
            <a:pPr indent="0" marL="0">
              <a:buNone/>
            </a:pPr>
            <a:r>
              <a:rPr lang="en-US" sz="1200" dirty="0">
                <a:solidFill>
                  <a:srgbClr val="5B6180"/>
                </a:solidFill>
                <a:latin typeface="Calibri" pitchFamily="34" charset="0"/>
                <a:ea typeface="Calibri" pitchFamily="34" charset="-122"/>
                <a:cs typeface="Calibri" pitchFamily="34" charset="-120"/>
              </a:rPr>
              <a:t>Queries, saved filters, gadget configuration and dashboard assembly.</a:t>
            </a:r>
            <a:endParaRPr lang="en-US" sz="1200" dirty="0"/>
          </a:p>
        </p:txBody>
      </p:sp>
      <p:sp>
        <p:nvSpPr>
          <p:cNvPr id="31" name="Shape 29"/>
          <p:cNvSpPr/>
          <p:nvPr/>
        </p:nvSpPr>
        <p:spPr>
          <a:xfrm>
            <a:off x="502920" y="5212080"/>
            <a:ext cx="11183112" cy="512064"/>
          </a:xfrm>
          <a:prstGeom prst="roundRect">
            <a:avLst>
              <a:gd name="adj" fmla="val 10714"/>
            </a:avLst>
          </a:prstGeom>
          <a:solidFill>
            <a:srgbClr val="F3F5FD"/>
          </a:solidFill>
          <a:ln w="12700">
            <a:solidFill>
              <a:srgbClr val="D8DEF2"/>
            </a:solidFill>
            <a:prstDash val="solid"/>
          </a:ln>
        </p:spPr>
      </p:sp>
      <p:sp>
        <p:nvSpPr>
          <p:cNvPr id="32" name="Shape 30"/>
          <p:cNvSpPr/>
          <p:nvPr/>
        </p:nvSpPr>
        <p:spPr>
          <a:xfrm>
            <a:off x="685800" y="5312664"/>
            <a:ext cx="1737360" cy="310896"/>
          </a:xfrm>
          <a:prstGeom prst="roundRect">
            <a:avLst>
              <a:gd name="adj" fmla="val 50000"/>
            </a:avLst>
          </a:prstGeom>
          <a:solidFill>
            <a:srgbClr val="16A34A"/>
          </a:solidFill>
          <a:ln w="12700">
            <a:solidFill>
              <a:srgbClr val="16A34A"/>
            </a:solidFill>
            <a:prstDash val="solid"/>
          </a:ln>
        </p:spPr>
      </p:sp>
      <p:sp>
        <p:nvSpPr>
          <p:cNvPr id="33" name="Text 31"/>
          <p:cNvSpPr txBox="1"/>
          <p:nvPr/>
        </p:nvSpPr>
        <p:spPr>
          <a:xfrm>
            <a:off x="685800" y="5312664"/>
            <a:ext cx="17373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EVID-079 → 080</a:t>
            </a:r>
            <a:endParaRPr lang="en-US" sz="1050" dirty="0"/>
          </a:p>
        </p:txBody>
      </p:sp>
      <p:sp>
        <p:nvSpPr>
          <p:cNvPr id="34" name="Text 32"/>
          <p:cNvSpPr txBox="1"/>
          <p:nvPr/>
        </p:nvSpPr>
        <p:spPr>
          <a:xfrm>
            <a:off x="2560320" y="5212080"/>
            <a:ext cx="3657600" cy="512064"/>
          </a:xfrm>
          <a:prstGeom prst="rect">
            <a:avLst/>
          </a:prstGeom>
          <a:noFill/>
          <a:ln/>
        </p:spPr>
        <p:txBody>
          <a:bodyPr wrap="square" lIns="0" tIns="0" rIns="0" bIns="0" rtlCol="0" anchor="ctr"/>
          <a:lstStyle/>
          <a:p>
            <a:pPr indent="0" marL="0">
              <a:buNone/>
            </a:pPr>
            <a:r>
              <a:rPr lang="en-US" sz="1300" b="1" dirty="0">
                <a:solidFill>
                  <a:srgbClr val="100B2E"/>
                </a:solidFill>
                <a:latin typeface="Calibri" pitchFamily="34" charset="0"/>
                <a:ea typeface="Calibri" pitchFamily="34" charset="-122"/>
                <a:cs typeface="Calibri" pitchFamily="34" charset="-120"/>
              </a:rPr>
              <a:t>Final Delivery Dashboard</a:t>
            </a:r>
            <a:endParaRPr lang="en-US" sz="1300" dirty="0"/>
          </a:p>
        </p:txBody>
      </p:sp>
      <p:sp>
        <p:nvSpPr>
          <p:cNvPr id="35" name="Text 33"/>
          <p:cNvSpPr txBox="1"/>
          <p:nvPr/>
        </p:nvSpPr>
        <p:spPr>
          <a:xfrm>
            <a:off x="6355080" y="5212080"/>
            <a:ext cx="5148072" cy="512064"/>
          </a:xfrm>
          <a:prstGeom prst="rect">
            <a:avLst/>
          </a:prstGeom>
          <a:noFill/>
          <a:ln/>
        </p:spPr>
        <p:txBody>
          <a:bodyPr wrap="square" lIns="0" tIns="0" rIns="0" bIns="0" rtlCol="0" anchor="ctr"/>
          <a:lstStyle/>
          <a:p>
            <a:pPr indent="0" marL="0">
              <a:buNone/>
            </a:pPr>
            <a:r>
              <a:rPr lang="en-US" sz="1200" dirty="0">
                <a:solidFill>
                  <a:srgbClr val="5B6180"/>
                </a:solidFill>
                <a:latin typeface="Calibri" pitchFamily="34" charset="0"/>
                <a:ea typeface="Calibri" pitchFamily="34" charset="-122"/>
                <a:cs typeface="Calibri" pitchFamily="34" charset="-120"/>
              </a:rPr>
              <a:t>The status chart configuration and the completed executive dashboard.</a:t>
            </a:r>
            <a:endParaRPr lang="en-US" sz="1200" dirty="0"/>
          </a:p>
        </p:txBody>
      </p:sp>
      <p:sp>
        <p:nvSpPr>
          <p:cNvPr id="36" name="Text 34"/>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37" name="Shape 35"/>
          <p:cNvSpPr/>
          <p:nvPr/>
        </p:nvSpPr>
        <p:spPr>
          <a:xfrm>
            <a:off x="11375136" y="6382512"/>
            <a:ext cx="310896" cy="310896"/>
          </a:xfrm>
          <a:prstGeom prst="ellipse">
            <a:avLst/>
          </a:prstGeom>
          <a:solidFill>
            <a:srgbClr val="EAEEFB"/>
          </a:solidFill>
          <a:ln w="12700">
            <a:solidFill>
              <a:srgbClr val="EAEEFB"/>
            </a:solidFill>
            <a:prstDash val="solid"/>
          </a:ln>
        </p:spPr>
      </p:sp>
      <p:sp>
        <p:nvSpPr>
          <p:cNvPr id="38" name="Text 36"/>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01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Cloud &amp; DevOps Environment (KAN)</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43232"/>
            <a:ext cx="5070348" cy="2566864"/>
          </a:xfrm>
          <a:prstGeom prst="rect">
            <a:avLst/>
          </a:prstGeom>
        </p:spPr>
      </p:pic>
      <p:sp>
        <p:nvSpPr>
          <p:cNvPr id="8" name="Shape 5"/>
          <p:cNvSpPr/>
          <p:nvPr/>
        </p:nvSpPr>
        <p:spPr>
          <a:xfrm>
            <a:off x="649224" y="4462272"/>
            <a:ext cx="1051560" cy="292608"/>
          </a:xfrm>
          <a:prstGeom prst="roundRect">
            <a:avLst>
              <a:gd name="adj" fmla="val 50000"/>
            </a:avLst>
          </a:prstGeom>
          <a:solidFill>
            <a:srgbClr val="1364F4"/>
          </a:solidFill>
          <a:ln w="12700">
            <a:solidFill>
              <a:srgbClr val="1364F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EVID-001</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KAN-4 parent task and its subtasks</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Cloud infrastructure parent work item KAN-4 with four subtasks (KAN-6 to KAN-9) and the Linked work items panel open, where the 'is blocked by' dependency is created.</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996750"/>
            <a:ext cx="5070348" cy="2059829"/>
          </a:xfrm>
          <a:prstGeom prst="rect">
            <a:avLst/>
          </a:prstGeom>
        </p:spPr>
      </p:pic>
      <p:sp>
        <p:nvSpPr>
          <p:cNvPr id="15" name="Shape 11"/>
          <p:cNvSpPr/>
          <p:nvPr/>
        </p:nvSpPr>
        <p:spPr>
          <a:xfrm>
            <a:off x="6396228" y="4462272"/>
            <a:ext cx="1051560" cy="292608"/>
          </a:xfrm>
          <a:prstGeom prst="roundRect">
            <a:avLst>
              <a:gd name="adj" fmla="val 50000"/>
            </a:avLst>
          </a:prstGeom>
          <a:solidFill>
            <a:srgbClr val="1364F4"/>
          </a:solidFill>
          <a:ln w="12700">
            <a:solidFill>
              <a:srgbClr val="1364F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EVID-002</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Kanban board for the DevOps team</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Board for 'My Devops and Cloud IT Team' showing the To Do, In Progress, Waiting for Customer and Resolved columns with live work items.</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02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Cloud &amp; DevOps Environment (KAN)</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51155"/>
            <a:ext cx="5070348" cy="2551019"/>
          </a:xfrm>
          <a:prstGeom prst="rect">
            <a:avLst/>
          </a:prstGeom>
        </p:spPr>
      </p:pic>
      <p:sp>
        <p:nvSpPr>
          <p:cNvPr id="8" name="Shape 5"/>
          <p:cNvSpPr/>
          <p:nvPr/>
        </p:nvSpPr>
        <p:spPr>
          <a:xfrm>
            <a:off x="649224" y="4462272"/>
            <a:ext cx="1051560" cy="292608"/>
          </a:xfrm>
          <a:prstGeom prst="roundRect">
            <a:avLst>
              <a:gd name="adj" fmla="val 50000"/>
            </a:avLst>
          </a:prstGeom>
          <a:solidFill>
            <a:srgbClr val="00B3A4"/>
          </a:solidFill>
          <a:ln w="12700">
            <a:solidFill>
              <a:srgbClr val="00B3A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EVID-003</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KAN-8 security group task</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KAN-8 'Configure EC2 security group' opened full screen. The Linked work items section records that it is blocked by the EC2 instance subtask.</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7441087" y="1737360"/>
            <a:ext cx="3053781" cy="2578608"/>
          </a:xfrm>
          <a:prstGeom prst="rect">
            <a:avLst/>
          </a:prstGeom>
        </p:spPr>
      </p:pic>
      <p:sp>
        <p:nvSpPr>
          <p:cNvPr id="15" name="Shape 11"/>
          <p:cNvSpPr/>
          <p:nvPr/>
        </p:nvSpPr>
        <p:spPr>
          <a:xfrm>
            <a:off x="6396228" y="4462272"/>
            <a:ext cx="1051560" cy="292608"/>
          </a:xfrm>
          <a:prstGeom prst="roundRect">
            <a:avLst>
              <a:gd name="adj" fmla="val 50000"/>
            </a:avLst>
          </a:prstGeom>
          <a:solidFill>
            <a:srgbClr val="00B3A4"/>
          </a:solidFill>
          <a:ln w="12700">
            <a:solidFill>
              <a:srgbClr val="00B3A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EVID-004</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KAN-4 scope and requirements</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Close-up of the KAN-4 description: provision EC2 and S3 for the Customer Stack application, with six explicit requirements listed as a checklist.</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4436C"/>
          </a:solidFill>
          <a:ln w="12700">
            <a:solidFill>
              <a:srgbClr val="F4436C"/>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03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Cloud &amp; DevOps Environment (KAN)</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37884"/>
            <a:ext cx="5070348" cy="2577559"/>
          </a:xfrm>
          <a:prstGeom prst="rect">
            <a:avLst/>
          </a:prstGeom>
        </p:spPr>
      </p:pic>
      <p:sp>
        <p:nvSpPr>
          <p:cNvPr id="8" name="Shape 5"/>
          <p:cNvSpPr/>
          <p:nvPr/>
        </p:nvSpPr>
        <p:spPr>
          <a:xfrm>
            <a:off x="649224" y="4462272"/>
            <a:ext cx="1051560" cy="292608"/>
          </a:xfrm>
          <a:prstGeom prst="roundRect">
            <a:avLst>
              <a:gd name="adj" fmla="val 50000"/>
            </a:avLst>
          </a:prstGeom>
          <a:solidFill>
            <a:srgbClr val="F4436C"/>
          </a:solidFill>
          <a:ln w="12700">
            <a:solidFill>
              <a:srgbClr val="F4436C"/>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EVID-005</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Confirmed blocking dependency</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dependency on KAN-8 confirmed in Jira: 'is blocked by' KAN-6 sub-task-1 Create AWS EC2 instance, with status and assignee visible.</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2038173"/>
            <a:ext cx="5070348" cy="1976983"/>
          </a:xfrm>
          <a:prstGeom prst="rect">
            <a:avLst/>
          </a:prstGeom>
        </p:spPr>
      </p:pic>
      <p:sp>
        <p:nvSpPr>
          <p:cNvPr id="15" name="Shape 11"/>
          <p:cNvSpPr/>
          <p:nvPr/>
        </p:nvSpPr>
        <p:spPr>
          <a:xfrm>
            <a:off x="6396228" y="4462272"/>
            <a:ext cx="1051560" cy="292608"/>
          </a:xfrm>
          <a:prstGeom prst="roundRect">
            <a:avLst>
              <a:gd name="adj" fmla="val 50000"/>
            </a:avLst>
          </a:prstGeom>
          <a:solidFill>
            <a:srgbClr val="F4436C"/>
          </a:solidFill>
          <a:ln w="12700">
            <a:solidFill>
              <a:srgbClr val="F4436C"/>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EVID-006</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Board work distribution</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Board view showing KAN-4 held in To Do while Task 1, Task 2 and Create AWS EC2 instance move through In Progress.</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04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Cloud &amp; DevOps Environment (KAN)</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47193"/>
            <a:ext cx="5070348" cy="2558941"/>
          </a:xfrm>
          <a:prstGeom prst="rect">
            <a:avLst/>
          </a:prstGeom>
        </p:spPr>
      </p:pic>
      <p:sp>
        <p:nvSpPr>
          <p:cNvPr id="8" name="Shape 5"/>
          <p:cNvSpPr/>
          <p:nvPr/>
        </p:nvSpPr>
        <p:spPr>
          <a:xfrm>
            <a:off x="649224" y="4462272"/>
            <a:ext cx="1051560" cy="292608"/>
          </a:xfrm>
          <a:prstGeom prst="roundRect">
            <a:avLst>
              <a:gd name="adj" fmla="val 50000"/>
            </a:avLst>
          </a:prstGeom>
          <a:solidFill>
            <a:srgbClr val="8036F0"/>
          </a:solidFill>
          <a:ln w="12700">
            <a:solidFill>
              <a:srgbClr val="8036F0"/>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EVID-007</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Full-width board snapshot</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Full-screen Kanban board confirming work-in-progress distribution across all four workflow columns of the KAN project.</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45206"/>
            <a:ext cx="5070348" cy="2562917"/>
          </a:xfrm>
          <a:prstGeom prst="rect">
            <a:avLst/>
          </a:prstGeom>
        </p:spPr>
      </p:pic>
      <p:sp>
        <p:nvSpPr>
          <p:cNvPr id="15" name="Shape 11"/>
          <p:cNvSpPr/>
          <p:nvPr/>
        </p:nvSpPr>
        <p:spPr>
          <a:xfrm>
            <a:off x="6396228" y="4462272"/>
            <a:ext cx="1051560" cy="292608"/>
          </a:xfrm>
          <a:prstGeom prst="roundRect">
            <a:avLst>
              <a:gd name="adj" fmla="val 50000"/>
            </a:avLst>
          </a:prstGeom>
          <a:solidFill>
            <a:srgbClr val="8036F0"/>
          </a:solidFill>
          <a:ln w="12700">
            <a:solidFill>
              <a:srgbClr val="8036F0"/>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EVID-008</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Labels and metadata on cards</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same board at full browser width, with the AWS, EC2, devops and infrastructure labels visible directly on the KAN-4 card.</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FB01F"/>
          </a:solidFill>
          <a:ln w="12700">
            <a:solidFill>
              <a:srgbClr val="FFB01F"/>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05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Cloud &amp; DevOps Environment (KAN)</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1693791" y="1737360"/>
            <a:ext cx="3054366" cy="2578608"/>
          </a:xfrm>
          <a:prstGeom prst="rect">
            <a:avLst/>
          </a:prstGeom>
        </p:spPr>
      </p:pic>
      <p:sp>
        <p:nvSpPr>
          <p:cNvPr id="8" name="Shape 5"/>
          <p:cNvSpPr/>
          <p:nvPr/>
        </p:nvSpPr>
        <p:spPr>
          <a:xfrm>
            <a:off x="649224" y="4462272"/>
            <a:ext cx="1051560" cy="292608"/>
          </a:xfrm>
          <a:prstGeom prst="roundRect">
            <a:avLst>
              <a:gd name="adj" fmla="val 50000"/>
            </a:avLst>
          </a:prstGeom>
          <a:solidFill>
            <a:srgbClr val="FFB01F"/>
          </a:solidFill>
          <a:ln w="12700">
            <a:solidFill>
              <a:srgbClr val="FFB01F"/>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EVID-009</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Editing the KAN-4 description</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KAN-4 description in edit mode with the requirement checklist, alongside the subtask table showing 0% done at this point.</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64981" y="1737360"/>
            <a:ext cx="5005993" cy="2578608"/>
          </a:xfrm>
          <a:prstGeom prst="rect">
            <a:avLst/>
          </a:prstGeom>
        </p:spPr>
      </p:pic>
      <p:sp>
        <p:nvSpPr>
          <p:cNvPr id="15" name="Shape 11"/>
          <p:cNvSpPr/>
          <p:nvPr/>
        </p:nvSpPr>
        <p:spPr>
          <a:xfrm>
            <a:off x="6396228" y="4462272"/>
            <a:ext cx="1051560" cy="292608"/>
          </a:xfrm>
          <a:prstGeom prst="roundRect">
            <a:avLst>
              <a:gd name="adj" fmla="val 50000"/>
            </a:avLst>
          </a:prstGeom>
          <a:solidFill>
            <a:srgbClr val="FFB01F"/>
          </a:solidFill>
          <a:ln w="12700">
            <a:solidFill>
              <a:srgbClr val="FFB01F"/>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EVID-010</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Cross-project work list</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'All work' list view across both projects, sorted by creation date, used to verify that every created item was captured.</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6A34A"/>
          </a:solidFill>
          <a:ln w="12700">
            <a:solidFill>
              <a:srgbClr val="16A34A"/>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06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Cloud &amp; DevOps Environment (KAN)</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79704"/>
            <a:ext cx="5070348" cy="2493919"/>
          </a:xfrm>
          <a:prstGeom prst="rect">
            <a:avLst/>
          </a:prstGeom>
        </p:spPr>
      </p:pic>
      <p:sp>
        <p:nvSpPr>
          <p:cNvPr id="8" name="Shape 5"/>
          <p:cNvSpPr/>
          <p:nvPr/>
        </p:nvSpPr>
        <p:spPr>
          <a:xfrm>
            <a:off x="649224" y="4462272"/>
            <a:ext cx="1051560" cy="292608"/>
          </a:xfrm>
          <a:prstGeom prst="roundRect">
            <a:avLst>
              <a:gd name="adj" fmla="val 50000"/>
            </a:avLst>
          </a:prstGeom>
          <a:solidFill>
            <a:srgbClr val="16A34A"/>
          </a:solidFill>
          <a:ln w="12700">
            <a:solidFill>
              <a:srgbClr val="16A34A"/>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EVID-011</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Work list detail columns</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Full-width work list showing assignee, reporter, priority, status, resolution and created/updated timestamps for each item.</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59077"/>
            <a:ext cx="5070348" cy="2535174"/>
          </a:xfrm>
          <a:prstGeom prst="rect">
            <a:avLst/>
          </a:prstGeom>
        </p:spPr>
      </p:pic>
      <p:sp>
        <p:nvSpPr>
          <p:cNvPr id="15" name="Shape 11"/>
          <p:cNvSpPr/>
          <p:nvPr/>
        </p:nvSpPr>
        <p:spPr>
          <a:xfrm>
            <a:off x="6396228" y="4462272"/>
            <a:ext cx="1051560" cy="292608"/>
          </a:xfrm>
          <a:prstGeom prst="roundRect">
            <a:avLst>
              <a:gd name="adj" fmla="val 50000"/>
            </a:avLst>
          </a:prstGeom>
          <a:solidFill>
            <a:srgbClr val="16A34A"/>
          </a:solidFill>
          <a:ln w="12700">
            <a:solidFill>
              <a:srgbClr val="16A34A"/>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EVID-012</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KAN-6 subtask activity trail</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KAN-6 'sub-task-1 Create AWS EC2 instance' with its activity and comment trail, used as the running status record for the subtask.</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07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Board and Project Setup</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717977" y="1737360"/>
            <a:ext cx="5005993" cy="2578608"/>
          </a:xfrm>
          <a:prstGeom prst="rect">
            <a:avLst/>
          </a:prstGeom>
        </p:spPr>
      </p:pic>
      <p:sp>
        <p:nvSpPr>
          <p:cNvPr id="8" name="Shape 5"/>
          <p:cNvSpPr/>
          <p:nvPr/>
        </p:nvSpPr>
        <p:spPr>
          <a:xfrm>
            <a:off x="649224" y="4462272"/>
            <a:ext cx="1051560" cy="292608"/>
          </a:xfrm>
          <a:prstGeom prst="roundRect">
            <a:avLst>
              <a:gd name="adj" fmla="val 50000"/>
            </a:avLst>
          </a:prstGeom>
          <a:solidFill>
            <a:srgbClr val="1364F4"/>
          </a:solidFill>
          <a:ln w="12700">
            <a:solidFill>
              <a:srgbClr val="1364F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EVID-013</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Creating a board</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Jira Boards screen with the Create a board dialog open, offering a board on a new software project or a board from an existing project.</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972982"/>
            <a:ext cx="5070348" cy="2107363"/>
          </a:xfrm>
          <a:prstGeom prst="rect">
            <a:avLst/>
          </a:prstGeom>
        </p:spPr>
      </p:pic>
      <p:sp>
        <p:nvSpPr>
          <p:cNvPr id="15" name="Shape 11"/>
          <p:cNvSpPr/>
          <p:nvPr/>
        </p:nvSpPr>
        <p:spPr>
          <a:xfrm>
            <a:off x="6396228" y="4462272"/>
            <a:ext cx="1051560" cy="292608"/>
          </a:xfrm>
          <a:prstGeom prst="roundRect">
            <a:avLst>
              <a:gd name="adj" fmla="val 50000"/>
            </a:avLst>
          </a:prstGeom>
          <a:solidFill>
            <a:srgbClr val="1364F4"/>
          </a:solidFill>
          <a:ln w="12700">
            <a:solidFill>
              <a:srgbClr val="1364F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EVID-014</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Ranking the KAN backlog</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JQL query project = KAN ORDER BY Rank ASC returning all nine KAN work items in ranked delivery order.</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08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Board and Project Setup</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982225"/>
            <a:ext cx="5070348" cy="2088878"/>
          </a:xfrm>
          <a:prstGeom prst="rect">
            <a:avLst/>
          </a:prstGeom>
        </p:spPr>
      </p:pic>
      <p:sp>
        <p:nvSpPr>
          <p:cNvPr id="8" name="Shape 5"/>
          <p:cNvSpPr/>
          <p:nvPr/>
        </p:nvSpPr>
        <p:spPr>
          <a:xfrm>
            <a:off x="649224" y="4462272"/>
            <a:ext cx="1051560" cy="292608"/>
          </a:xfrm>
          <a:prstGeom prst="roundRect">
            <a:avLst>
              <a:gd name="adj" fmla="val 50000"/>
            </a:avLst>
          </a:prstGeom>
          <a:solidFill>
            <a:srgbClr val="00B3A4"/>
          </a:solidFill>
          <a:ln w="12700">
            <a:solidFill>
              <a:srgbClr val="00B3A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EVID-015</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Saving the first filter</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Saving the KAN query as the reusable filter 'AI TPM Scrum Practice', with viewer and editor permissions set.</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857078"/>
            <a:ext cx="5070348" cy="2339172"/>
          </a:xfrm>
          <a:prstGeom prst="rect">
            <a:avLst/>
          </a:prstGeom>
        </p:spPr>
      </p:pic>
      <p:sp>
        <p:nvSpPr>
          <p:cNvPr id="15" name="Shape 11"/>
          <p:cNvSpPr/>
          <p:nvPr/>
        </p:nvSpPr>
        <p:spPr>
          <a:xfrm>
            <a:off x="6396228" y="4462272"/>
            <a:ext cx="1051560" cy="292608"/>
          </a:xfrm>
          <a:prstGeom prst="roundRect">
            <a:avLst>
              <a:gd name="adj" fmla="val 50000"/>
            </a:avLst>
          </a:prstGeom>
          <a:solidFill>
            <a:srgbClr val="00B3A4"/>
          </a:solidFill>
          <a:ln w="12700">
            <a:solidFill>
              <a:srgbClr val="00B3A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EVID-016</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Board creation wizard</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board wizard requiring a board name, a project and a location before the board can be created.</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4436C"/>
          </a:solidFill>
          <a:ln w="12700">
            <a:solidFill>
              <a:srgbClr val="F4436C"/>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09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Board and Project Setup</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94784"/>
            <a:ext cx="5070348" cy="2463761"/>
          </a:xfrm>
          <a:prstGeom prst="rect">
            <a:avLst/>
          </a:prstGeom>
        </p:spPr>
      </p:pic>
      <p:sp>
        <p:nvSpPr>
          <p:cNvPr id="8" name="Shape 5"/>
          <p:cNvSpPr/>
          <p:nvPr/>
        </p:nvSpPr>
        <p:spPr>
          <a:xfrm>
            <a:off x="649224" y="4462272"/>
            <a:ext cx="1051560" cy="292608"/>
          </a:xfrm>
          <a:prstGeom prst="roundRect">
            <a:avLst>
              <a:gd name="adj" fmla="val 50000"/>
            </a:avLst>
          </a:prstGeom>
          <a:solidFill>
            <a:srgbClr val="F4436C"/>
          </a:solidFill>
          <a:ln w="12700">
            <a:solidFill>
              <a:srgbClr val="F4436C"/>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EVID-017</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Naming the practice board</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Board name 'AI TPM Scrum Practice' entered in the wizard, with project and location still to be selected.</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84165"/>
            <a:ext cx="5070348" cy="2484999"/>
          </a:xfrm>
          <a:prstGeom prst="rect">
            <a:avLst/>
          </a:prstGeom>
        </p:spPr>
      </p:pic>
      <p:sp>
        <p:nvSpPr>
          <p:cNvPr id="15" name="Shape 11"/>
          <p:cNvSpPr/>
          <p:nvPr/>
        </p:nvSpPr>
        <p:spPr>
          <a:xfrm>
            <a:off x="6396228" y="4462272"/>
            <a:ext cx="1051560" cy="292608"/>
          </a:xfrm>
          <a:prstGeom prst="roundRect">
            <a:avLst>
              <a:gd name="adj" fmla="val 50000"/>
            </a:avLst>
          </a:prstGeom>
          <a:solidFill>
            <a:srgbClr val="F4436C"/>
          </a:solidFill>
          <a:ln w="12700">
            <a:solidFill>
              <a:srgbClr val="F4436C"/>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EVID-018</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Saved filter confirmed</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saved filter opened from the sidebar; the confirmation toast shows the filter was stored successfully and can be reused.</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10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Board and Project Setup</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2088069"/>
            <a:ext cx="5070348" cy="1877190"/>
          </a:xfrm>
          <a:prstGeom prst="rect">
            <a:avLst/>
          </a:prstGeom>
        </p:spPr>
      </p:pic>
      <p:sp>
        <p:nvSpPr>
          <p:cNvPr id="8" name="Shape 5"/>
          <p:cNvSpPr/>
          <p:nvPr/>
        </p:nvSpPr>
        <p:spPr>
          <a:xfrm>
            <a:off x="649224" y="4462272"/>
            <a:ext cx="1051560" cy="292608"/>
          </a:xfrm>
          <a:prstGeom prst="roundRect">
            <a:avLst>
              <a:gd name="adj" fmla="val 50000"/>
            </a:avLst>
          </a:prstGeom>
          <a:solidFill>
            <a:srgbClr val="8036F0"/>
          </a:solidFill>
          <a:ln w="12700">
            <a:solidFill>
              <a:srgbClr val="8036F0"/>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EVID-019</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Scrum or Kanban decision</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Choosing between a Scrum board (sprint-based, time-boxed commitment) and a Kanban board (continuous flow) for the practice project.</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994622"/>
            <a:ext cx="5070348" cy="2064084"/>
          </a:xfrm>
          <a:prstGeom prst="rect">
            <a:avLst/>
          </a:prstGeom>
        </p:spPr>
      </p:pic>
      <p:sp>
        <p:nvSpPr>
          <p:cNvPr id="15" name="Shape 11"/>
          <p:cNvSpPr/>
          <p:nvPr/>
        </p:nvSpPr>
        <p:spPr>
          <a:xfrm>
            <a:off x="6396228" y="4462272"/>
            <a:ext cx="1051560" cy="292608"/>
          </a:xfrm>
          <a:prstGeom prst="roundRect">
            <a:avLst>
              <a:gd name="adj" fmla="val 50000"/>
            </a:avLst>
          </a:prstGeom>
          <a:solidFill>
            <a:srgbClr val="8036F0"/>
          </a:solidFill>
          <a:ln w="12700">
            <a:solidFill>
              <a:srgbClr val="8036F0"/>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EVID-020</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No existing project matched</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board wizard returning 'No Matches' for an existing software project, which is what drove creation of a dedicated new project.</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FB01F"/>
          </a:solidFill>
          <a:ln w="12700">
            <a:solidFill>
              <a:srgbClr val="FFB01F"/>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11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Board and Project Setup</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881227" y="1737360"/>
            <a:ext cx="4679495" cy="2578608"/>
          </a:xfrm>
          <a:prstGeom prst="rect">
            <a:avLst/>
          </a:prstGeom>
        </p:spPr>
      </p:pic>
      <p:sp>
        <p:nvSpPr>
          <p:cNvPr id="8" name="Shape 5"/>
          <p:cNvSpPr/>
          <p:nvPr/>
        </p:nvSpPr>
        <p:spPr>
          <a:xfrm>
            <a:off x="649224" y="4462272"/>
            <a:ext cx="1051560" cy="292608"/>
          </a:xfrm>
          <a:prstGeom prst="roundRect">
            <a:avLst>
              <a:gd name="adj" fmla="val 50000"/>
            </a:avLst>
          </a:prstGeom>
          <a:solidFill>
            <a:srgbClr val="FFB01F"/>
          </a:solidFill>
          <a:ln w="12700">
            <a:solidFill>
              <a:srgbClr val="FFB01F"/>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EVID-021</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Board location selected</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Board location set to the Mahesh Zade profile so the board could be created before the ATSL software project existed.</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822456"/>
            <a:ext cx="5070348" cy="2408415"/>
          </a:xfrm>
          <a:prstGeom prst="rect">
            <a:avLst/>
          </a:prstGeom>
        </p:spPr>
      </p:pic>
      <p:sp>
        <p:nvSpPr>
          <p:cNvPr id="15" name="Shape 11"/>
          <p:cNvSpPr/>
          <p:nvPr/>
        </p:nvSpPr>
        <p:spPr>
          <a:xfrm>
            <a:off x="6396228" y="4462272"/>
            <a:ext cx="1051560" cy="292608"/>
          </a:xfrm>
          <a:prstGeom prst="roundRect">
            <a:avLst>
              <a:gd name="adj" fmla="val 50000"/>
            </a:avLst>
          </a:prstGeom>
          <a:solidFill>
            <a:srgbClr val="FFB01F"/>
          </a:solidFill>
          <a:ln w="12700">
            <a:solidFill>
              <a:srgbClr val="FFB01F"/>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EVID-022</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Empty ATSL board</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newly created ATSL board: an empty ATSL Sprint 1 container and an empty backlog, ready for user stories to be written.</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6A34A"/>
          </a:solidFill>
          <a:ln w="12700">
            <a:solidFill>
              <a:srgbClr val="16A34A"/>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12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AI Scrum Backlog and Planning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39801"/>
            <a:ext cx="5070348" cy="2573727"/>
          </a:xfrm>
          <a:prstGeom prst="rect">
            <a:avLst/>
          </a:prstGeom>
        </p:spPr>
      </p:pic>
      <p:sp>
        <p:nvSpPr>
          <p:cNvPr id="8" name="Shape 5"/>
          <p:cNvSpPr/>
          <p:nvPr/>
        </p:nvSpPr>
        <p:spPr>
          <a:xfrm>
            <a:off x="649224" y="4462272"/>
            <a:ext cx="1051560" cy="292608"/>
          </a:xfrm>
          <a:prstGeom prst="roundRect">
            <a:avLst>
              <a:gd name="adj" fmla="val 50000"/>
            </a:avLst>
          </a:prstGeom>
          <a:solidFill>
            <a:srgbClr val="16A34A"/>
          </a:solidFill>
          <a:ln w="12700">
            <a:solidFill>
              <a:srgbClr val="16A34A"/>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EVID-023</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First user story created</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ATSL-1 created: 'As a Cloud Support Manager, I want an AI assistant to classify customer support tickets' — written in proper user-story form.</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81524"/>
            <a:ext cx="5070348" cy="2490280"/>
          </a:xfrm>
          <a:prstGeom prst="rect">
            <a:avLst/>
          </a:prstGeom>
        </p:spPr>
      </p:pic>
      <p:sp>
        <p:nvSpPr>
          <p:cNvPr id="15" name="Shape 11"/>
          <p:cNvSpPr/>
          <p:nvPr/>
        </p:nvSpPr>
        <p:spPr>
          <a:xfrm>
            <a:off x="6396228" y="4462272"/>
            <a:ext cx="1051560" cy="292608"/>
          </a:xfrm>
          <a:prstGeom prst="roundRect">
            <a:avLst>
              <a:gd name="adj" fmla="val 50000"/>
            </a:avLst>
          </a:prstGeom>
          <a:solidFill>
            <a:srgbClr val="16A34A"/>
          </a:solidFill>
          <a:ln w="12700">
            <a:solidFill>
              <a:srgbClr val="16A34A"/>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EVID-024</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Saved filter output</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saved filter 'AI TPM Scrum Practice' returning the KAN work items with their current status, priority and due dates.</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13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AI Scrum Backlog and Planning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61718"/>
            <a:ext cx="5070348" cy="2529892"/>
          </a:xfrm>
          <a:prstGeom prst="rect">
            <a:avLst/>
          </a:prstGeom>
        </p:spPr>
      </p:pic>
      <p:sp>
        <p:nvSpPr>
          <p:cNvPr id="8" name="Shape 5"/>
          <p:cNvSpPr/>
          <p:nvPr/>
        </p:nvSpPr>
        <p:spPr>
          <a:xfrm>
            <a:off x="649224" y="4462272"/>
            <a:ext cx="1051560" cy="292608"/>
          </a:xfrm>
          <a:prstGeom prst="roundRect">
            <a:avLst>
              <a:gd name="adj" fmla="val 50000"/>
            </a:avLst>
          </a:prstGeom>
          <a:solidFill>
            <a:srgbClr val="1364F4"/>
          </a:solidFill>
          <a:ln w="12700">
            <a:solidFill>
              <a:srgbClr val="1364F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EVID-025</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Acceptance criteria for ATSL-2</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ATSL-2 priority-prediction story with acceptance criteria: Critical/High/Medium/Low identification, a recommendation, manager review and a recorded prediction.</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2132632"/>
            <a:ext cx="5070348" cy="1788064"/>
          </a:xfrm>
          <a:prstGeom prst="rect">
            <a:avLst/>
          </a:prstGeom>
        </p:spPr>
      </p:pic>
      <p:sp>
        <p:nvSpPr>
          <p:cNvPr id="15" name="Shape 11"/>
          <p:cNvSpPr/>
          <p:nvPr/>
        </p:nvSpPr>
        <p:spPr>
          <a:xfrm>
            <a:off x="6396228" y="4462272"/>
            <a:ext cx="1051560" cy="292608"/>
          </a:xfrm>
          <a:prstGeom prst="roundRect">
            <a:avLst>
              <a:gd name="adj" fmla="val 50000"/>
            </a:avLst>
          </a:prstGeom>
          <a:solidFill>
            <a:srgbClr val="1364F4"/>
          </a:solidFill>
          <a:ln w="12700">
            <a:solidFill>
              <a:srgbClr val="1364F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EVID-026</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Board from an existing project</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create-a-board dialog with 'Board from an existing project' selected, showing that a board can span one or more projects.</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14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AI Scrum Backlog and Planning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73601"/>
            <a:ext cx="5070348" cy="2506125"/>
          </a:xfrm>
          <a:prstGeom prst="rect">
            <a:avLst/>
          </a:prstGeom>
        </p:spPr>
      </p:pic>
      <p:sp>
        <p:nvSpPr>
          <p:cNvPr id="8" name="Shape 5"/>
          <p:cNvSpPr/>
          <p:nvPr/>
        </p:nvSpPr>
        <p:spPr>
          <a:xfrm>
            <a:off x="649224" y="4462272"/>
            <a:ext cx="1051560" cy="292608"/>
          </a:xfrm>
          <a:prstGeom prst="roundRect">
            <a:avLst>
              <a:gd name="adj" fmla="val 50000"/>
            </a:avLst>
          </a:prstGeom>
          <a:solidFill>
            <a:srgbClr val="00B3A4"/>
          </a:solidFill>
          <a:ln w="12700">
            <a:solidFill>
              <a:srgbClr val="00B3A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EVID-027</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Complete AI backlog</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full AI backlog: ATSL-1 classification, ATSL-2 priority prediction, ATSL-3 routing and ATSL-4 sentiment analysis.</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815883"/>
            <a:ext cx="5070348" cy="2421562"/>
          </a:xfrm>
          <a:prstGeom prst="rect">
            <a:avLst/>
          </a:prstGeom>
        </p:spPr>
      </p:pic>
      <p:sp>
        <p:nvSpPr>
          <p:cNvPr id="15" name="Shape 11"/>
          <p:cNvSpPr/>
          <p:nvPr/>
        </p:nvSpPr>
        <p:spPr>
          <a:xfrm>
            <a:off x="6396228" y="4462272"/>
            <a:ext cx="1051560" cy="292608"/>
          </a:xfrm>
          <a:prstGeom prst="roundRect">
            <a:avLst>
              <a:gd name="adj" fmla="val 50000"/>
            </a:avLst>
          </a:prstGeom>
          <a:solidFill>
            <a:srgbClr val="00B3A4"/>
          </a:solidFill>
          <a:ln w="12700">
            <a:solidFill>
              <a:srgbClr val="00B3A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EVID-028</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Creating the ATSL project</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Creating the Scrum project 'AI TPM Scrum Lab' with project key ATSL and Mahesh Zade as project lead.</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4436C"/>
          </a:solidFill>
          <a:ln w="12700">
            <a:solidFill>
              <a:srgbClr val="F4436C"/>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15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AI Scrum Backlog and Planning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72281"/>
            <a:ext cx="5070348" cy="2508766"/>
          </a:xfrm>
          <a:prstGeom prst="rect">
            <a:avLst/>
          </a:prstGeom>
        </p:spPr>
      </p:pic>
      <p:sp>
        <p:nvSpPr>
          <p:cNvPr id="8" name="Shape 5"/>
          <p:cNvSpPr/>
          <p:nvPr/>
        </p:nvSpPr>
        <p:spPr>
          <a:xfrm>
            <a:off x="649224" y="4462272"/>
            <a:ext cx="1051560" cy="292608"/>
          </a:xfrm>
          <a:prstGeom prst="roundRect">
            <a:avLst>
              <a:gd name="adj" fmla="val 50000"/>
            </a:avLst>
          </a:prstGeom>
          <a:solidFill>
            <a:srgbClr val="F4436C"/>
          </a:solidFill>
          <a:ln w="12700">
            <a:solidFill>
              <a:srgbClr val="F4436C"/>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EVID-029</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Story fields and estimation</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story detail panel showing assignee, reporter, story points, priority and start/due date fields available for ATSL-1.</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70973"/>
            <a:ext cx="5070348" cy="2511382"/>
          </a:xfrm>
          <a:prstGeom prst="rect">
            <a:avLst/>
          </a:prstGeom>
        </p:spPr>
      </p:pic>
      <p:sp>
        <p:nvSpPr>
          <p:cNvPr id="15" name="Shape 11"/>
          <p:cNvSpPr/>
          <p:nvPr/>
        </p:nvSpPr>
        <p:spPr>
          <a:xfrm>
            <a:off x="6396228" y="4462272"/>
            <a:ext cx="1051560" cy="292608"/>
          </a:xfrm>
          <a:prstGeom prst="roundRect">
            <a:avLst>
              <a:gd name="adj" fmla="val 50000"/>
            </a:avLst>
          </a:prstGeom>
          <a:solidFill>
            <a:srgbClr val="F4436C"/>
          </a:solidFill>
          <a:ln w="12700">
            <a:solidFill>
              <a:srgbClr val="F4436C"/>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EVID-030</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Routing story criteria</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ATSL-3 routing story selected, with acceptance criteria covering automatic routing to the correct team and audit logging of the routing decision.</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16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AI Scrum Backlog and Planning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85485"/>
            <a:ext cx="5070348" cy="2482358"/>
          </a:xfrm>
          <a:prstGeom prst="rect">
            <a:avLst/>
          </a:prstGeom>
        </p:spPr>
      </p:pic>
      <p:sp>
        <p:nvSpPr>
          <p:cNvPr id="8" name="Shape 5"/>
          <p:cNvSpPr/>
          <p:nvPr/>
        </p:nvSpPr>
        <p:spPr>
          <a:xfrm>
            <a:off x="649224" y="4462272"/>
            <a:ext cx="1051560" cy="292608"/>
          </a:xfrm>
          <a:prstGeom prst="roundRect">
            <a:avLst>
              <a:gd name="adj" fmla="val 50000"/>
            </a:avLst>
          </a:prstGeom>
          <a:solidFill>
            <a:srgbClr val="8036F0"/>
          </a:solidFill>
          <a:ln w="12700">
            <a:solidFill>
              <a:srgbClr val="8036F0"/>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EVID-031</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Sprint 1 board at start</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active ATSL Sprint 1 board with ATSL-1 in progress and ATSL-2 and ATSL-3 waiting in To Do.</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68320"/>
            <a:ext cx="5070348" cy="2516688"/>
          </a:xfrm>
          <a:prstGeom prst="rect">
            <a:avLst/>
          </a:prstGeom>
        </p:spPr>
      </p:pic>
      <p:sp>
        <p:nvSpPr>
          <p:cNvPr id="15" name="Shape 11"/>
          <p:cNvSpPr/>
          <p:nvPr/>
        </p:nvSpPr>
        <p:spPr>
          <a:xfrm>
            <a:off x="6396228" y="4462272"/>
            <a:ext cx="1051560" cy="292608"/>
          </a:xfrm>
          <a:prstGeom prst="roundRect">
            <a:avLst>
              <a:gd name="adj" fmla="val 50000"/>
            </a:avLst>
          </a:prstGeom>
          <a:solidFill>
            <a:srgbClr val="8036F0"/>
          </a:solidFill>
          <a:ln w="12700">
            <a:solidFill>
              <a:srgbClr val="8036F0"/>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EVID-032</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Sprint scope vs backlog</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Backlog view with the sprint section populated and ATSL-4 sentiment analysis deliberately held outside the sprint scope.</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FB01F"/>
          </a:solidFill>
          <a:ln w="12700">
            <a:solidFill>
              <a:srgbClr val="FFB01F"/>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17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AI Scrum Backlog and Planning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72281"/>
            <a:ext cx="5070348" cy="2508766"/>
          </a:xfrm>
          <a:prstGeom prst="rect">
            <a:avLst/>
          </a:prstGeom>
        </p:spPr>
      </p:pic>
      <p:sp>
        <p:nvSpPr>
          <p:cNvPr id="8" name="Shape 5"/>
          <p:cNvSpPr/>
          <p:nvPr/>
        </p:nvSpPr>
        <p:spPr>
          <a:xfrm>
            <a:off x="649224" y="4462272"/>
            <a:ext cx="1051560" cy="292608"/>
          </a:xfrm>
          <a:prstGeom prst="roundRect">
            <a:avLst>
              <a:gd name="adj" fmla="val 50000"/>
            </a:avLst>
          </a:prstGeom>
          <a:solidFill>
            <a:srgbClr val="FFB01F"/>
          </a:solidFill>
          <a:ln w="12700">
            <a:solidFill>
              <a:srgbClr val="FFB01F"/>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EVID-033</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Committed sprint scope</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Sprint 1 scope confirmed: three stories committed to ATSL Sprint 1, with sentiment analysis left in the backlog for a later sprint.</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43232"/>
            <a:ext cx="5070348" cy="2566864"/>
          </a:xfrm>
          <a:prstGeom prst="rect">
            <a:avLst/>
          </a:prstGeom>
        </p:spPr>
      </p:pic>
      <p:sp>
        <p:nvSpPr>
          <p:cNvPr id="15" name="Shape 11"/>
          <p:cNvSpPr/>
          <p:nvPr/>
        </p:nvSpPr>
        <p:spPr>
          <a:xfrm>
            <a:off x="6396228" y="4462272"/>
            <a:ext cx="1051560" cy="292608"/>
          </a:xfrm>
          <a:prstGeom prst="roundRect">
            <a:avLst>
              <a:gd name="adj" fmla="val 50000"/>
            </a:avLst>
          </a:prstGeom>
          <a:solidFill>
            <a:srgbClr val="FFB01F"/>
          </a:solidFill>
          <a:ln w="12700">
            <a:solidFill>
              <a:srgbClr val="FFB01F"/>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EVID-034</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Sprint burndown chart</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ATSL Sprint 1 burndown with the ideal guideline against remaining values, plus the event table recording the sprint start and completion of ATSL-1.</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6A34A"/>
          </a:solidFill>
          <a:ln w="12700">
            <a:solidFill>
              <a:srgbClr val="16A34A"/>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18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Sprint Execution and Reporting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55116"/>
            <a:ext cx="5070348" cy="2543096"/>
          </a:xfrm>
          <a:prstGeom prst="rect">
            <a:avLst/>
          </a:prstGeom>
        </p:spPr>
      </p:pic>
      <p:sp>
        <p:nvSpPr>
          <p:cNvPr id="8" name="Shape 5"/>
          <p:cNvSpPr/>
          <p:nvPr/>
        </p:nvSpPr>
        <p:spPr>
          <a:xfrm>
            <a:off x="649224" y="4462272"/>
            <a:ext cx="1051560" cy="292608"/>
          </a:xfrm>
          <a:prstGeom prst="roundRect">
            <a:avLst>
              <a:gd name="adj" fmla="val 50000"/>
            </a:avLst>
          </a:prstGeom>
          <a:solidFill>
            <a:srgbClr val="16A34A"/>
          </a:solidFill>
          <a:ln w="12700">
            <a:solidFill>
              <a:srgbClr val="16A34A"/>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EVID-035</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ATSL-2 moved to In Progress</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ATSL-2 moved into the In Progress column on the sprint board, with its full acceptance criteria visible in the detail panel.</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533894" y="1737360"/>
            <a:ext cx="4868168" cy="2578608"/>
          </a:xfrm>
          <a:prstGeom prst="rect">
            <a:avLst/>
          </a:prstGeom>
        </p:spPr>
      </p:pic>
      <p:sp>
        <p:nvSpPr>
          <p:cNvPr id="15" name="Shape 11"/>
          <p:cNvSpPr/>
          <p:nvPr/>
        </p:nvSpPr>
        <p:spPr>
          <a:xfrm>
            <a:off x="6396228" y="4462272"/>
            <a:ext cx="1051560" cy="292608"/>
          </a:xfrm>
          <a:prstGeom prst="roundRect">
            <a:avLst>
              <a:gd name="adj" fmla="val 50000"/>
            </a:avLst>
          </a:prstGeom>
          <a:solidFill>
            <a:srgbClr val="16A34A"/>
          </a:solidFill>
          <a:ln w="12700">
            <a:solidFill>
              <a:srgbClr val="16A34A"/>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EVID-036</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Sprint report</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Sprint Report separating completed work (ATSL-1, Done, 5 points) from work not completed (ATSL-2 In Progress and ATSL-3 To Do).</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19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Sprint Execution and Reporting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50436"/>
            <a:ext cx="5070348" cy="2552456"/>
          </a:xfrm>
          <a:prstGeom prst="rect">
            <a:avLst/>
          </a:prstGeom>
        </p:spPr>
      </p:pic>
      <p:sp>
        <p:nvSpPr>
          <p:cNvPr id="8" name="Shape 5"/>
          <p:cNvSpPr/>
          <p:nvPr/>
        </p:nvSpPr>
        <p:spPr>
          <a:xfrm>
            <a:off x="649224" y="4462272"/>
            <a:ext cx="1051560" cy="292608"/>
          </a:xfrm>
          <a:prstGeom prst="roundRect">
            <a:avLst>
              <a:gd name="adj" fmla="val 50000"/>
            </a:avLst>
          </a:prstGeom>
          <a:solidFill>
            <a:srgbClr val="1364F4"/>
          </a:solidFill>
          <a:ln w="12700">
            <a:solidFill>
              <a:srgbClr val="1364F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EVID-037</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First story delivered</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Sprint board with ATSL-1 in the Done column while the remaining two committed stories are still open.</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64359"/>
            <a:ext cx="5070348" cy="2524611"/>
          </a:xfrm>
          <a:prstGeom prst="rect">
            <a:avLst/>
          </a:prstGeom>
        </p:spPr>
      </p:pic>
      <p:sp>
        <p:nvSpPr>
          <p:cNvPr id="15" name="Shape 11"/>
          <p:cNvSpPr/>
          <p:nvPr/>
        </p:nvSpPr>
        <p:spPr>
          <a:xfrm>
            <a:off x="6396228" y="4462272"/>
            <a:ext cx="1051560" cy="292608"/>
          </a:xfrm>
          <a:prstGeom prst="roundRect">
            <a:avLst>
              <a:gd name="adj" fmla="val 50000"/>
            </a:avLst>
          </a:prstGeom>
          <a:solidFill>
            <a:srgbClr val="1364F4"/>
          </a:solidFill>
          <a:ln w="12700">
            <a:solidFill>
              <a:srgbClr val="1364F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EVID-038</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Project reports overview</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reports overview page: work items by status, by type and by assignee, plus the creation-trend and cycle-time charts.</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20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Sprint Execution and Reporting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81524"/>
            <a:ext cx="5070348" cy="2490280"/>
          </a:xfrm>
          <a:prstGeom prst="rect">
            <a:avLst/>
          </a:prstGeom>
        </p:spPr>
      </p:pic>
      <p:sp>
        <p:nvSpPr>
          <p:cNvPr id="8" name="Shape 5"/>
          <p:cNvSpPr/>
          <p:nvPr/>
        </p:nvSpPr>
        <p:spPr>
          <a:xfrm>
            <a:off x="649224" y="4462272"/>
            <a:ext cx="1051560" cy="292608"/>
          </a:xfrm>
          <a:prstGeom prst="roundRect">
            <a:avLst>
              <a:gd name="adj" fmla="val 50000"/>
            </a:avLst>
          </a:prstGeom>
          <a:solidFill>
            <a:srgbClr val="00B3A4"/>
          </a:solidFill>
          <a:ln w="12700">
            <a:solidFill>
              <a:srgbClr val="00B3A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EVID-039</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Structured blocker comment</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A TPM blocker comment on ATSL-2 recording BLOCKER, Impact, Owner, Mitigation and Target — a status update with a decision attached, not a note.</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65679"/>
            <a:ext cx="5070348" cy="2521970"/>
          </a:xfrm>
          <a:prstGeom prst="rect">
            <a:avLst/>
          </a:prstGeom>
        </p:spPr>
      </p:pic>
      <p:sp>
        <p:nvSpPr>
          <p:cNvPr id="15" name="Shape 11"/>
          <p:cNvSpPr/>
          <p:nvPr/>
        </p:nvSpPr>
        <p:spPr>
          <a:xfrm>
            <a:off x="6396228" y="4462272"/>
            <a:ext cx="1051560" cy="292608"/>
          </a:xfrm>
          <a:prstGeom prst="roundRect">
            <a:avLst>
              <a:gd name="adj" fmla="val 50000"/>
            </a:avLst>
          </a:prstGeom>
          <a:solidFill>
            <a:srgbClr val="00B3A4"/>
          </a:solidFill>
          <a:ln w="12700">
            <a:solidFill>
              <a:srgbClr val="00B3A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EVID-040</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Starting the sprint</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Start Sprint dialog: ATSL Sprint 1, a two-week duration, explicit start and end dates and a sprint-goal field.</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4436C"/>
          </a:solidFill>
          <a:ln w="12700">
            <a:solidFill>
              <a:srgbClr val="F4436C"/>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21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Sprint Execution and Reporting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56436"/>
            <a:ext cx="5070348" cy="2540456"/>
          </a:xfrm>
          <a:prstGeom prst="rect">
            <a:avLst/>
          </a:prstGeom>
        </p:spPr>
      </p:pic>
      <p:sp>
        <p:nvSpPr>
          <p:cNvPr id="8" name="Shape 5"/>
          <p:cNvSpPr/>
          <p:nvPr/>
        </p:nvSpPr>
        <p:spPr>
          <a:xfrm>
            <a:off x="649224" y="4462272"/>
            <a:ext cx="1051560" cy="292608"/>
          </a:xfrm>
          <a:prstGeom prst="roundRect">
            <a:avLst>
              <a:gd name="adj" fmla="val 50000"/>
            </a:avLst>
          </a:prstGeom>
          <a:solidFill>
            <a:srgbClr val="F4436C"/>
          </a:solidFill>
          <a:ln w="12700">
            <a:solidFill>
              <a:srgbClr val="F4436C"/>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EVID-041</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Sprint day one</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sprint board immediately after start, with all three committed stories sitting in To Do and nothing yet in flight.</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97369"/>
            <a:ext cx="5070348" cy="2458591"/>
          </a:xfrm>
          <a:prstGeom prst="rect">
            <a:avLst/>
          </a:prstGeom>
        </p:spPr>
      </p:pic>
      <p:sp>
        <p:nvSpPr>
          <p:cNvPr id="15" name="Shape 11"/>
          <p:cNvSpPr/>
          <p:nvPr/>
        </p:nvSpPr>
        <p:spPr>
          <a:xfrm>
            <a:off x="6396228" y="4462272"/>
            <a:ext cx="1051560" cy="292608"/>
          </a:xfrm>
          <a:prstGeom prst="roundRect">
            <a:avLst>
              <a:gd name="adj" fmla="val 50000"/>
            </a:avLst>
          </a:prstGeom>
          <a:solidFill>
            <a:srgbClr val="F4436C"/>
          </a:solidFill>
          <a:ln w="12700">
            <a:solidFill>
              <a:srgbClr val="F4436C"/>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EVID-042</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Velocity report</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velocity report comparing commitment against completed work; it stays empty until the first sprint is formally closed.</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22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Sprint Execution and Reporting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55116"/>
            <a:ext cx="5070348" cy="2543096"/>
          </a:xfrm>
          <a:prstGeom prst="rect">
            <a:avLst/>
          </a:prstGeom>
        </p:spPr>
      </p:pic>
      <p:sp>
        <p:nvSpPr>
          <p:cNvPr id="8" name="Shape 5"/>
          <p:cNvSpPr/>
          <p:nvPr/>
        </p:nvSpPr>
        <p:spPr>
          <a:xfrm>
            <a:off x="649224" y="4462272"/>
            <a:ext cx="1051560" cy="292608"/>
          </a:xfrm>
          <a:prstGeom prst="roundRect">
            <a:avLst>
              <a:gd name="adj" fmla="val 50000"/>
            </a:avLst>
          </a:prstGeom>
          <a:solidFill>
            <a:srgbClr val="8036F0"/>
          </a:solidFill>
          <a:ln w="12700">
            <a:solidFill>
              <a:srgbClr val="8036F0"/>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EVID-043</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In-progress query</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JQL project = ATSL AND status = "In Progress" returning ATSL-2 as the single actively worked story.</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86805"/>
            <a:ext cx="5070348" cy="2479717"/>
          </a:xfrm>
          <a:prstGeom prst="rect">
            <a:avLst/>
          </a:prstGeom>
        </p:spPr>
      </p:pic>
      <p:sp>
        <p:nvSpPr>
          <p:cNvPr id="15" name="Shape 11"/>
          <p:cNvSpPr/>
          <p:nvPr/>
        </p:nvSpPr>
        <p:spPr>
          <a:xfrm>
            <a:off x="6396228" y="4462272"/>
            <a:ext cx="1051560" cy="292608"/>
          </a:xfrm>
          <a:prstGeom prst="roundRect">
            <a:avLst>
              <a:gd name="adj" fmla="val 50000"/>
            </a:avLst>
          </a:prstGeom>
          <a:solidFill>
            <a:srgbClr val="8036F0"/>
          </a:solidFill>
          <a:ln w="12700">
            <a:solidFill>
              <a:srgbClr val="8036F0"/>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EVID-044</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Mid-sprint flow</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A mid-sprint flow snapshot with exactly one story in each of To Do, In Progress and Done — healthy, limited work in progress.</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FB01F"/>
          </a:solidFill>
          <a:ln w="12700">
            <a:solidFill>
              <a:srgbClr val="FFB01F"/>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23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Sprint Execution and Reporting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53063"/>
            <a:ext cx="5070348" cy="2547202"/>
          </a:xfrm>
          <a:prstGeom prst="rect">
            <a:avLst/>
          </a:prstGeom>
        </p:spPr>
      </p:pic>
      <p:sp>
        <p:nvSpPr>
          <p:cNvPr id="8" name="Shape 5"/>
          <p:cNvSpPr/>
          <p:nvPr/>
        </p:nvSpPr>
        <p:spPr>
          <a:xfrm>
            <a:off x="649224" y="4462272"/>
            <a:ext cx="1051560" cy="292608"/>
          </a:xfrm>
          <a:prstGeom prst="roundRect">
            <a:avLst>
              <a:gd name="adj" fmla="val 50000"/>
            </a:avLst>
          </a:prstGeom>
          <a:solidFill>
            <a:srgbClr val="FFB01F"/>
          </a:solidFill>
          <a:ln w="12700">
            <a:solidFill>
              <a:srgbClr val="FFB01F"/>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EVID-045</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Cumulative flow diagram</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Cumulative Flow Diagram showing how the To Do, In Progress and Done bands accumulate across the sprint timeline.</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2371744"/>
            <a:ext cx="5070348" cy="1309840"/>
          </a:xfrm>
          <a:prstGeom prst="rect">
            <a:avLst/>
          </a:prstGeom>
        </p:spPr>
      </p:pic>
      <p:sp>
        <p:nvSpPr>
          <p:cNvPr id="15" name="Shape 11"/>
          <p:cNvSpPr/>
          <p:nvPr/>
        </p:nvSpPr>
        <p:spPr>
          <a:xfrm>
            <a:off x="6396228" y="4462272"/>
            <a:ext cx="1051560" cy="292608"/>
          </a:xfrm>
          <a:prstGeom prst="roundRect">
            <a:avLst>
              <a:gd name="adj" fmla="val 50000"/>
            </a:avLst>
          </a:prstGeom>
          <a:solidFill>
            <a:srgbClr val="FFB01F"/>
          </a:solidFill>
          <a:ln w="12700">
            <a:solidFill>
              <a:srgbClr val="FFB01F"/>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EVID-046</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Outstanding work query</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JQL project = ATSL AND status != Done listing the three stories that remain unresolved.</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6A34A"/>
          </a:solidFill>
          <a:ln w="12700">
            <a:solidFill>
              <a:srgbClr val="16A34A"/>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24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Sprint Execution and Reporting</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69640"/>
            <a:ext cx="5070348" cy="2514048"/>
          </a:xfrm>
          <a:prstGeom prst="rect">
            <a:avLst/>
          </a:prstGeom>
        </p:spPr>
      </p:pic>
      <p:sp>
        <p:nvSpPr>
          <p:cNvPr id="8" name="Shape 5"/>
          <p:cNvSpPr/>
          <p:nvPr/>
        </p:nvSpPr>
        <p:spPr>
          <a:xfrm>
            <a:off x="649224" y="4462272"/>
            <a:ext cx="1051560" cy="292608"/>
          </a:xfrm>
          <a:prstGeom prst="roundRect">
            <a:avLst>
              <a:gd name="adj" fmla="val 50000"/>
            </a:avLst>
          </a:prstGeom>
          <a:solidFill>
            <a:srgbClr val="16A34A"/>
          </a:solidFill>
          <a:ln w="12700">
            <a:solidFill>
              <a:srgbClr val="16A34A"/>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EVID-047</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Available Jira reports</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Jira's report gallery — Burndown, Burnup, Sprint Report, Velocity, Cumulative Flow, Version, Epic and Control charts.</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44522"/>
            <a:ext cx="5070348" cy="2564284"/>
          </a:xfrm>
          <a:prstGeom prst="rect">
            <a:avLst/>
          </a:prstGeom>
        </p:spPr>
      </p:pic>
      <p:sp>
        <p:nvSpPr>
          <p:cNvPr id="15" name="Shape 11"/>
          <p:cNvSpPr/>
          <p:nvPr/>
        </p:nvSpPr>
        <p:spPr>
          <a:xfrm>
            <a:off x="6396228" y="4462272"/>
            <a:ext cx="1051560" cy="292608"/>
          </a:xfrm>
          <a:prstGeom prst="roundRect">
            <a:avLst>
              <a:gd name="adj" fmla="val 50000"/>
            </a:avLst>
          </a:prstGeom>
          <a:solidFill>
            <a:srgbClr val="16A34A"/>
          </a:solidFill>
          <a:ln w="12700">
            <a:solidFill>
              <a:srgbClr val="16A34A"/>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EVID-048</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Dashboard edit mode</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AI TPM Delivery Dashboard in edit mode, with a Filter Results gadget being pointed at a saved filter.</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25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2161800"/>
            <a:ext cx="5070348" cy="1729728"/>
          </a:xfrm>
          <a:prstGeom prst="rect">
            <a:avLst/>
          </a:prstGeom>
        </p:spPr>
      </p:pic>
      <p:sp>
        <p:nvSpPr>
          <p:cNvPr id="8" name="Shape 5"/>
          <p:cNvSpPr/>
          <p:nvPr/>
        </p:nvSpPr>
        <p:spPr>
          <a:xfrm>
            <a:off x="649224" y="4462272"/>
            <a:ext cx="1051560" cy="292608"/>
          </a:xfrm>
          <a:prstGeom prst="roundRect">
            <a:avLst>
              <a:gd name="adj" fmla="val 50000"/>
            </a:avLst>
          </a:prstGeom>
          <a:solidFill>
            <a:srgbClr val="1364F4"/>
          </a:solidFill>
          <a:ln w="12700">
            <a:solidFill>
              <a:srgbClr val="1364F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EVID-049</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Filter results listing</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Saved filter output listing all nine KAN items with status, priority, resolution and timestamps.</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2280636"/>
            <a:ext cx="5070348" cy="1492056"/>
          </a:xfrm>
          <a:prstGeom prst="rect">
            <a:avLst/>
          </a:prstGeom>
        </p:spPr>
      </p:pic>
      <p:sp>
        <p:nvSpPr>
          <p:cNvPr id="15" name="Shape 11"/>
          <p:cNvSpPr/>
          <p:nvPr/>
        </p:nvSpPr>
        <p:spPr>
          <a:xfrm>
            <a:off x="6396228" y="4462272"/>
            <a:ext cx="1051560" cy="292608"/>
          </a:xfrm>
          <a:prstGeom prst="roundRect">
            <a:avLst>
              <a:gd name="adj" fmla="val 50000"/>
            </a:avLst>
          </a:prstGeom>
          <a:solidFill>
            <a:srgbClr val="1364F4"/>
          </a:solidFill>
          <a:ln w="12700">
            <a:solidFill>
              <a:srgbClr val="1364F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EVID-050</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All ATSL work</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JQL project = ATSL returning all four AI stories together with their priority and current status.</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26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820700"/>
            <a:ext cx="5070348" cy="2411927"/>
          </a:xfrm>
          <a:prstGeom prst="rect">
            <a:avLst/>
          </a:prstGeom>
        </p:spPr>
      </p:pic>
      <p:sp>
        <p:nvSpPr>
          <p:cNvPr id="8" name="Shape 5"/>
          <p:cNvSpPr/>
          <p:nvPr/>
        </p:nvSpPr>
        <p:spPr>
          <a:xfrm>
            <a:off x="649224" y="4462272"/>
            <a:ext cx="1051560" cy="292608"/>
          </a:xfrm>
          <a:prstGeom prst="roundRect">
            <a:avLst>
              <a:gd name="adj" fmla="val 50000"/>
            </a:avLst>
          </a:prstGeom>
          <a:solidFill>
            <a:srgbClr val="00B3A4"/>
          </a:solidFill>
          <a:ln w="12700">
            <a:solidFill>
              <a:srgbClr val="00B3A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EVID-051</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ATSL list detail</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Full-width view of the ATSL work list, confirming assignee, reporter and status for each of the four stories.</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2511665"/>
            <a:ext cx="5070348" cy="1029997"/>
          </a:xfrm>
          <a:prstGeom prst="rect">
            <a:avLst/>
          </a:prstGeom>
        </p:spPr>
      </p:pic>
      <p:sp>
        <p:nvSpPr>
          <p:cNvPr id="15" name="Shape 11"/>
          <p:cNvSpPr/>
          <p:nvPr/>
        </p:nvSpPr>
        <p:spPr>
          <a:xfrm>
            <a:off x="6396228" y="4462272"/>
            <a:ext cx="1051560" cy="292608"/>
          </a:xfrm>
          <a:prstGeom prst="roundRect">
            <a:avLst>
              <a:gd name="adj" fmla="val 50000"/>
            </a:avLst>
          </a:prstGeom>
          <a:solidFill>
            <a:srgbClr val="00B3A4"/>
          </a:solidFill>
          <a:ln w="12700">
            <a:solidFill>
              <a:srgbClr val="00B3A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EVID-052</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High-priority query</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JQL project = ATSL AND priority in (Highest, High) isolating the two items that carry the highest delivery priority.</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4436C"/>
          </a:solidFill>
          <a:ln w="12700">
            <a:solidFill>
              <a:srgbClr val="F4436C"/>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27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48514"/>
            <a:ext cx="5070348" cy="2556300"/>
          </a:xfrm>
          <a:prstGeom prst="rect">
            <a:avLst/>
          </a:prstGeom>
        </p:spPr>
      </p:pic>
      <p:sp>
        <p:nvSpPr>
          <p:cNvPr id="8" name="Shape 5"/>
          <p:cNvSpPr/>
          <p:nvPr/>
        </p:nvSpPr>
        <p:spPr>
          <a:xfrm>
            <a:off x="649224" y="4462272"/>
            <a:ext cx="1051560" cy="292608"/>
          </a:xfrm>
          <a:prstGeom prst="roundRect">
            <a:avLst>
              <a:gd name="adj" fmla="val 50000"/>
            </a:avLst>
          </a:prstGeom>
          <a:solidFill>
            <a:srgbClr val="F4436C"/>
          </a:solidFill>
          <a:ln w="12700">
            <a:solidFill>
              <a:srgbClr val="F4436C"/>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EVID-053</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Gadget catalogue</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Add a gadget panel listing the Jira dashboard gadgets available, from Activity Stream through to chart gadgets.</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61718"/>
            <a:ext cx="5070348" cy="2529892"/>
          </a:xfrm>
          <a:prstGeom prst="rect">
            <a:avLst/>
          </a:prstGeom>
        </p:spPr>
      </p:pic>
      <p:sp>
        <p:nvSpPr>
          <p:cNvPr id="15" name="Shape 11"/>
          <p:cNvSpPr/>
          <p:nvPr/>
        </p:nvSpPr>
        <p:spPr>
          <a:xfrm>
            <a:off x="6396228" y="4462272"/>
            <a:ext cx="1051560" cy="292608"/>
          </a:xfrm>
          <a:prstGeom prst="roundRect">
            <a:avLst>
              <a:gd name="adj" fmla="val 50000"/>
            </a:avLst>
          </a:prstGeom>
          <a:solidFill>
            <a:srgbClr val="F4436C"/>
          </a:solidFill>
          <a:ln w="12700">
            <a:solidFill>
              <a:srgbClr val="F4436C"/>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EVID-054</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Assigned to Me gadget</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'Assigned to Me' gadget added to the dashboard, showing the nine work items personally owned by Mahesh Zade.</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28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92410" y="1737360"/>
            <a:ext cx="5057127" cy="2578608"/>
          </a:xfrm>
          <a:prstGeom prst="rect">
            <a:avLst/>
          </a:prstGeom>
        </p:spPr>
      </p:pic>
      <p:sp>
        <p:nvSpPr>
          <p:cNvPr id="8" name="Shape 5"/>
          <p:cNvSpPr/>
          <p:nvPr/>
        </p:nvSpPr>
        <p:spPr>
          <a:xfrm>
            <a:off x="649224" y="4462272"/>
            <a:ext cx="1051560" cy="292608"/>
          </a:xfrm>
          <a:prstGeom prst="roundRect">
            <a:avLst>
              <a:gd name="adj" fmla="val 50000"/>
            </a:avLst>
          </a:prstGeom>
          <a:solidFill>
            <a:srgbClr val="8036F0"/>
          </a:solidFill>
          <a:ln w="12700">
            <a:solidFill>
              <a:srgbClr val="8036F0"/>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EVID-055</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Dashboards before setup</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Jira Dashboards page showing only the default dashboard, before the TPM delivery dashboard was created.</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544997" y="1737360"/>
            <a:ext cx="4845961" cy="2578608"/>
          </a:xfrm>
          <a:prstGeom prst="rect">
            <a:avLst/>
          </a:prstGeom>
        </p:spPr>
      </p:pic>
      <p:sp>
        <p:nvSpPr>
          <p:cNvPr id="15" name="Shape 11"/>
          <p:cNvSpPr/>
          <p:nvPr/>
        </p:nvSpPr>
        <p:spPr>
          <a:xfrm>
            <a:off x="6396228" y="4462272"/>
            <a:ext cx="1051560" cy="292608"/>
          </a:xfrm>
          <a:prstGeom prst="roundRect">
            <a:avLst>
              <a:gd name="adj" fmla="val 50000"/>
            </a:avLst>
          </a:prstGeom>
          <a:solidFill>
            <a:srgbClr val="8036F0"/>
          </a:solidFill>
          <a:ln w="12700">
            <a:solidFill>
              <a:srgbClr val="8036F0"/>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EVID-056</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Finding Filter Results</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Searching the gadget catalogue for the Filter Results gadget, which turns any saved filter into a dashboard view.</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FB01F"/>
          </a:solidFill>
          <a:ln w="12700">
            <a:solidFill>
              <a:srgbClr val="FFB01F"/>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29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65679"/>
            <a:ext cx="5070348" cy="2521970"/>
          </a:xfrm>
          <a:prstGeom prst="rect">
            <a:avLst/>
          </a:prstGeom>
        </p:spPr>
      </p:pic>
      <p:sp>
        <p:nvSpPr>
          <p:cNvPr id="8" name="Shape 5"/>
          <p:cNvSpPr/>
          <p:nvPr/>
        </p:nvSpPr>
        <p:spPr>
          <a:xfrm>
            <a:off x="649224" y="4462272"/>
            <a:ext cx="1051560" cy="292608"/>
          </a:xfrm>
          <a:prstGeom prst="roundRect">
            <a:avLst>
              <a:gd name="adj" fmla="val 50000"/>
            </a:avLst>
          </a:prstGeom>
          <a:solidFill>
            <a:srgbClr val="FFB01F"/>
          </a:solidFill>
          <a:ln w="12700">
            <a:solidFill>
              <a:srgbClr val="FFB01F"/>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EVID-057</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Creating the dashboard</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Create dashboard dialog where the AI TPM Delivery Dashboard was named and its viewer and editor permissions set.</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48514"/>
            <a:ext cx="5070348" cy="2556300"/>
          </a:xfrm>
          <a:prstGeom prst="rect">
            <a:avLst/>
          </a:prstGeom>
        </p:spPr>
      </p:pic>
      <p:sp>
        <p:nvSpPr>
          <p:cNvPr id="15" name="Shape 11"/>
          <p:cNvSpPr/>
          <p:nvPr/>
        </p:nvSpPr>
        <p:spPr>
          <a:xfrm>
            <a:off x="6396228" y="4462272"/>
            <a:ext cx="1051560" cy="292608"/>
          </a:xfrm>
          <a:prstGeom prst="roundRect">
            <a:avLst>
              <a:gd name="adj" fmla="val 50000"/>
            </a:avLst>
          </a:prstGeom>
          <a:solidFill>
            <a:srgbClr val="FFB01F"/>
          </a:solidFill>
          <a:ln w="12700">
            <a:solidFill>
              <a:srgbClr val="FFB01F"/>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EVID-058</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Blocked work query</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JQL project = KAN AND workItemLinkType = "is blocked by" returning KAN-8, the blocked security-group task.</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6A34A"/>
          </a:solidFill>
          <a:ln w="12700">
            <a:solidFill>
              <a:srgbClr val="16A34A"/>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30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2251587"/>
            <a:ext cx="5070348" cy="1550153"/>
          </a:xfrm>
          <a:prstGeom prst="rect">
            <a:avLst/>
          </a:prstGeom>
        </p:spPr>
      </p:pic>
      <p:sp>
        <p:nvSpPr>
          <p:cNvPr id="8" name="Shape 5"/>
          <p:cNvSpPr/>
          <p:nvPr/>
        </p:nvSpPr>
        <p:spPr>
          <a:xfrm>
            <a:off x="649224" y="4462272"/>
            <a:ext cx="1051560" cy="292608"/>
          </a:xfrm>
          <a:prstGeom prst="roundRect">
            <a:avLst>
              <a:gd name="adj" fmla="val 50000"/>
            </a:avLst>
          </a:prstGeom>
          <a:solidFill>
            <a:srgbClr val="16A34A"/>
          </a:solidFill>
          <a:ln w="12700">
            <a:solidFill>
              <a:srgbClr val="16A34A"/>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EVID-059</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Negative result is evidence</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same blocked-by query run against ATSL returns no rows, confirming that this particular dependency lives in the KAN project.</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2448327"/>
            <a:ext cx="5070348" cy="1156673"/>
          </a:xfrm>
          <a:prstGeom prst="rect">
            <a:avLst/>
          </a:prstGeom>
        </p:spPr>
      </p:pic>
      <p:sp>
        <p:nvSpPr>
          <p:cNvPr id="15" name="Shape 11"/>
          <p:cNvSpPr/>
          <p:nvPr/>
        </p:nvSpPr>
        <p:spPr>
          <a:xfrm>
            <a:off x="6396228" y="4462272"/>
            <a:ext cx="1051560" cy="292608"/>
          </a:xfrm>
          <a:prstGeom prst="roundRect">
            <a:avLst>
              <a:gd name="adj" fmla="val 50000"/>
            </a:avLst>
          </a:prstGeom>
          <a:solidFill>
            <a:srgbClr val="16A34A"/>
          </a:solidFill>
          <a:ln w="12700">
            <a:solidFill>
              <a:srgbClr val="16A34A"/>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EVID-060</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Personal workload query</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JQL project = ATSL AND assignee = currentUser() returning the three stories owned directly by the TPM.</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31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48514"/>
            <a:ext cx="5070348" cy="2556300"/>
          </a:xfrm>
          <a:prstGeom prst="rect">
            <a:avLst/>
          </a:prstGeom>
        </p:spPr>
      </p:pic>
      <p:sp>
        <p:nvSpPr>
          <p:cNvPr id="8" name="Shape 5"/>
          <p:cNvSpPr/>
          <p:nvPr/>
        </p:nvSpPr>
        <p:spPr>
          <a:xfrm>
            <a:off x="649224" y="4462272"/>
            <a:ext cx="1051560" cy="292608"/>
          </a:xfrm>
          <a:prstGeom prst="roundRect">
            <a:avLst>
              <a:gd name="adj" fmla="val 50000"/>
            </a:avLst>
          </a:prstGeom>
          <a:solidFill>
            <a:srgbClr val="1364F4"/>
          </a:solidFill>
          <a:ln w="12700">
            <a:solidFill>
              <a:srgbClr val="1364F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EVID-061</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Master work list</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All 28 work items across both projects, ordered by creation date — the master list behind the whole evidence package.</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69296" y="1737360"/>
            <a:ext cx="4997363" cy="2578608"/>
          </a:xfrm>
          <a:prstGeom prst="rect">
            <a:avLst/>
          </a:prstGeom>
        </p:spPr>
      </p:pic>
      <p:sp>
        <p:nvSpPr>
          <p:cNvPr id="15" name="Shape 11"/>
          <p:cNvSpPr/>
          <p:nvPr/>
        </p:nvSpPr>
        <p:spPr>
          <a:xfrm>
            <a:off x="6396228" y="4462272"/>
            <a:ext cx="1051560" cy="292608"/>
          </a:xfrm>
          <a:prstGeom prst="roundRect">
            <a:avLst>
              <a:gd name="adj" fmla="val 50000"/>
            </a:avLst>
          </a:prstGeom>
          <a:solidFill>
            <a:srgbClr val="1364F4"/>
          </a:solidFill>
          <a:ln w="12700">
            <a:solidFill>
              <a:srgbClr val="1364F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EVID-062</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Binding gadget to filter</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Filter Results gadget bound to the saved 'AI TPM Scrum Practice' filter, with Issue Type, Key, Summary and Priority selected as columns.</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32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73647"/>
            <a:ext cx="5070348" cy="2506034"/>
          </a:xfrm>
          <a:prstGeom prst="rect">
            <a:avLst/>
          </a:prstGeom>
        </p:spPr>
      </p:pic>
      <p:sp>
        <p:nvSpPr>
          <p:cNvPr id="8" name="Shape 5"/>
          <p:cNvSpPr/>
          <p:nvPr/>
        </p:nvSpPr>
        <p:spPr>
          <a:xfrm>
            <a:off x="649224" y="4462272"/>
            <a:ext cx="1051560" cy="292608"/>
          </a:xfrm>
          <a:prstGeom prst="roundRect">
            <a:avLst>
              <a:gd name="adj" fmla="val 50000"/>
            </a:avLst>
          </a:prstGeom>
          <a:solidFill>
            <a:srgbClr val="00B3A4"/>
          </a:solidFill>
          <a:ln w="12700">
            <a:solidFill>
              <a:srgbClr val="00B3A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EVID-063</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Two gadgets live</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dashboard with Filter Results and Assigned to Me both rendering live Jira data side by side.</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2542076"/>
            <a:ext cx="5070348" cy="969176"/>
          </a:xfrm>
          <a:prstGeom prst="rect">
            <a:avLst/>
          </a:prstGeom>
        </p:spPr>
      </p:pic>
      <p:sp>
        <p:nvSpPr>
          <p:cNvPr id="15" name="Shape 11"/>
          <p:cNvSpPr/>
          <p:nvPr/>
        </p:nvSpPr>
        <p:spPr>
          <a:xfrm>
            <a:off x="6396228" y="4462272"/>
            <a:ext cx="1051560" cy="292608"/>
          </a:xfrm>
          <a:prstGeom prst="roundRect">
            <a:avLst>
              <a:gd name="adj" fmla="val 50000"/>
            </a:avLst>
          </a:prstGeom>
          <a:solidFill>
            <a:srgbClr val="00B3A4"/>
          </a:solidFill>
          <a:ln w="12700">
            <a:solidFill>
              <a:srgbClr val="00B3A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EVID-064</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Blocker re-confirmed</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blocked-by query re-run and confirmed: KAN-8 Configure EC2 security group is the single blocked item in the programme.</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57</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4436C"/>
          </a:solidFill>
          <a:ln w="12700">
            <a:solidFill>
              <a:srgbClr val="F4436C"/>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33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41912"/>
            <a:ext cx="5070348" cy="2569504"/>
          </a:xfrm>
          <a:prstGeom prst="rect">
            <a:avLst/>
          </a:prstGeom>
        </p:spPr>
      </p:pic>
      <p:sp>
        <p:nvSpPr>
          <p:cNvPr id="8" name="Shape 5"/>
          <p:cNvSpPr/>
          <p:nvPr/>
        </p:nvSpPr>
        <p:spPr>
          <a:xfrm>
            <a:off x="649224" y="4462272"/>
            <a:ext cx="1051560" cy="292608"/>
          </a:xfrm>
          <a:prstGeom prst="roundRect">
            <a:avLst>
              <a:gd name="adj" fmla="val 50000"/>
            </a:avLst>
          </a:prstGeom>
          <a:solidFill>
            <a:srgbClr val="F4436C"/>
          </a:solidFill>
          <a:ln w="12700">
            <a:solidFill>
              <a:srgbClr val="F4436C"/>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EVID-065</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Gadget configuration</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Assigned to Me gadget configuration — result count and the Issue Type, Key, Summary and Priority columns to display.</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806661"/>
            <a:ext cx="5070348" cy="2440006"/>
          </a:xfrm>
          <a:prstGeom prst="rect">
            <a:avLst/>
          </a:prstGeom>
        </p:spPr>
      </p:pic>
      <p:sp>
        <p:nvSpPr>
          <p:cNvPr id="15" name="Shape 11"/>
          <p:cNvSpPr/>
          <p:nvPr/>
        </p:nvSpPr>
        <p:spPr>
          <a:xfrm>
            <a:off x="6396228" y="4462272"/>
            <a:ext cx="1051560" cy="292608"/>
          </a:xfrm>
          <a:prstGeom prst="roundRect">
            <a:avLst>
              <a:gd name="adj" fmla="val 50000"/>
            </a:avLst>
          </a:prstGeom>
          <a:solidFill>
            <a:srgbClr val="F4436C"/>
          </a:solidFill>
          <a:ln w="12700">
            <a:solidFill>
              <a:srgbClr val="F4436C"/>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EVID-066</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Blocker from All Work</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same blocker surfaced from the cross-project All Work view, showing the query works outside a single board context.</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34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905642"/>
            <a:ext cx="5070348" cy="2242045"/>
          </a:xfrm>
          <a:prstGeom prst="rect">
            <a:avLst/>
          </a:prstGeom>
        </p:spPr>
      </p:pic>
      <p:sp>
        <p:nvSpPr>
          <p:cNvPr id="8" name="Shape 5"/>
          <p:cNvSpPr/>
          <p:nvPr/>
        </p:nvSpPr>
        <p:spPr>
          <a:xfrm>
            <a:off x="649224" y="4462272"/>
            <a:ext cx="1051560" cy="292608"/>
          </a:xfrm>
          <a:prstGeom prst="roundRect">
            <a:avLst>
              <a:gd name="adj" fmla="val 50000"/>
            </a:avLst>
          </a:prstGeom>
          <a:solidFill>
            <a:srgbClr val="8036F0"/>
          </a:solidFill>
          <a:ln w="12700">
            <a:solidFill>
              <a:srgbClr val="8036F0"/>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EVID-067</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TPM - KAN Blockers filter</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saved filter 'TPM - KAN Blockers' returning KAN-8 — a reusable dependency view rather than a one-off search.</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52263" y="1737360"/>
            <a:ext cx="5031430" cy="2578608"/>
          </a:xfrm>
          <a:prstGeom prst="rect">
            <a:avLst/>
          </a:prstGeom>
        </p:spPr>
      </p:pic>
      <p:sp>
        <p:nvSpPr>
          <p:cNvPr id="15" name="Shape 11"/>
          <p:cNvSpPr/>
          <p:nvPr/>
        </p:nvSpPr>
        <p:spPr>
          <a:xfrm>
            <a:off x="6396228" y="4462272"/>
            <a:ext cx="1051560" cy="292608"/>
          </a:xfrm>
          <a:prstGeom prst="roundRect">
            <a:avLst>
              <a:gd name="adj" fmla="val 50000"/>
            </a:avLst>
          </a:prstGeom>
          <a:solidFill>
            <a:srgbClr val="8036F0"/>
          </a:solidFill>
          <a:ln w="12700">
            <a:solidFill>
              <a:srgbClr val="8036F0"/>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EVID-068</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Blockers on the dashboard</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Filter Results gadget re-pointed at the TPM - KAN Blockers filter so blocked work appears on the dashboard automatically.</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59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FB01F"/>
          </a:solidFill>
          <a:ln w="12700">
            <a:solidFill>
              <a:srgbClr val="FFB01F"/>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35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1846631" y="1737360"/>
            <a:ext cx="2748686" cy="2578608"/>
          </a:xfrm>
          <a:prstGeom prst="rect">
            <a:avLst/>
          </a:prstGeom>
        </p:spPr>
      </p:pic>
      <p:sp>
        <p:nvSpPr>
          <p:cNvPr id="8" name="Shape 5"/>
          <p:cNvSpPr/>
          <p:nvPr/>
        </p:nvSpPr>
        <p:spPr>
          <a:xfrm>
            <a:off x="649224" y="4462272"/>
            <a:ext cx="1051560" cy="292608"/>
          </a:xfrm>
          <a:prstGeom prst="roundRect">
            <a:avLst>
              <a:gd name="adj" fmla="val 50000"/>
            </a:avLst>
          </a:prstGeom>
          <a:solidFill>
            <a:srgbClr val="FFB01F"/>
          </a:solidFill>
          <a:ln w="12700">
            <a:solidFill>
              <a:srgbClr val="FFB01F"/>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EVID-069</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Saving the blockers filter</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Saving the blocked-by query under the name 'TPM - KAN Blockers' so it can feed both the dashboard and stakeholder reviews.</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37951"/>
            <a:ext cx="5070348" cy="2577427"/>
          </a:xfrm>
          <a:prstGeom prst="rect">
            <a:avLst/>
          </a:prstGeom>
        </p:spPr>
      </p:pic>
      <p:sp>
        <p:nvSpPr>
          <p:cNvPr id="15" name="Shape 11"/>
          <p:cNvSpPr/>
          <p:nvPr/>
        </p:nvSpPr>
        <p:spPr>
          <a:xfrm>
            <a:off x="6396228" y="4462272"/>
            <a:ext cx="1051560" cy="292608"/>
          </a:xfrm>
          <a:prstGeom prst="roundRect">
            <a:avLst>
              <a:gd name="adj" fmla="val 50000"/>
            </a:avLst>
          </a:prstGeom>
          <a:solidFill>
            <a:srgbClr val="FFB01F"/>
          </a:solidFill>
          <a:ln w="12700">
            <a:solidFill>
              <a:srgbClr val="FFB01F"/>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EVID-070</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Gadget maintenance menu</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gadget menu offering refresh, rename, copy, configure, move and delete — the controls used to keep the dashboard clean.</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60</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6A34A"/>
          </a:solidFill>
          <a:ln w="12700">
            <a:solidFill>
              <a:srgbClr val="16A34A"/>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36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64359"/>
            <a:ext cx="5070348" cy="2524611"/>
          </a:xfrm>
          <a:prstGeom prst="rect">
            <a:avLst/>
          </a:prstGeom>
        </p:spPr>
      </p:pic>
      <p:sp>
        <p:nvSpPr>
          <p:cNvPr id="8" name="Shape 5"/>
          <p:cNvSpPr/>
          <p:nvPr/>
        </p:nvSpPr>
        <p:spPr>
          <a:xfrm>
            <a:off x="649224" y="4462272"/>
            <a:ext cx="1051560" cy="292608"/>
          </a:xfrm>
          <a:prstGeom prst="roundRect">
            <a:avLst>
              <a:gd name="adj" fmla="val 50000"/>
            </a:avLst>
          </a:prstGeom>
          <a:solidFill>
            <a:srgbClr val="16A34A"/>
          </a:solidFill>
          <a:ln w="12700">
            <a:solidFill>
              <a:srgbClr val="16A34A"/>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EVID-071</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Dashboard layout</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Dashboard layout with the filter and assignment gadgets stacked in the left column, leaving space for the status chart.</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86805"/>
            <a:ext cx="5070348" cy="2479717"/>
          </a:xfrm>
          <a:prstGeom prst="rect">
            <a:avLst/>
          </a:prstGeom>
        </p:spPr>
      </p:pic>
      <p:sp>
        <p:nvSpPr>
          <p:cNvPr id="15" name="Shape 11"/>
          <p:cNvSpPr/>
          <p:nvPr/>
        </p:nvSpPr>
        <p:spPr>
          <a:xfrm>
            <a:off x="6396228" y="4462272"/>
            <a:ext cx="1051560" cy="292608"/>
          </a:xfrm>
          <a:prstGeom prst="roundRect">
            <a:avLst>
              <a:gd name="adj" fmla="val 50000"/>
            </a:avLst>
          </a:prstGeom>
          <a:solidFill>
            <a:srgbClr val="16A34A"/>
          </a:solidFill>
          <a:ln w="12700">
            <a:solidFill>
              <a:srgbClr val="16A34A"/>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EVID-072</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Blocked and assigned views</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TPM - KAN Blockers and Assigned to Me shown together, giving a single answer to 'what is blocked and who owns it'.</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61</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1364F4"/>
          </a:solidFill>
          <a:ln w="12700">
            <a:solidFill>
              <a:srgbClr val="1364F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37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66999"/>
            <a:ext cx="5070348" cy="2519329"/>
          </a:xfrm>
          <a:prstGeom prst="rect">
            <a:avLst/>
          </a:prstGeom>
        </p:spPr>
      </p:pic>
      <p:sp>
        <p:nvSpPr>
          <p:cNvPr id="8" name="Shape 5"/>
          <p:cNvSpPr/>
          <p:nvPr/>
        </p:nvSpPr>
        <p:spPr>
          <a:xfrm>
            <a:off x="649224" y="4462272"/>
            <a:ext cx="1051560" cy="292608"/>
          </a:xfrm>
          <a:prstGeom prst="roundRect">
            <a:avLst>
              <a:gd name="adj" fmla="val 50000"/>
            </a:avLst>
          </a:prstGeom>
          <a:solidFill>
            <a:srgbClr val="1364F4"/>
          </a:solidFill>
          <a:ln w="12700">
            <a:solidFill>
              <a:srgbClr val="1364F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EVID-073</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Pie chart gadget setup</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Pie Chart gadget configuration: the source project or saved filter, plus the statistic type that determines what the chart measures.</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49805"/>
            <a:ext cx="5070348" cy="2553718"/>
          </a:xfrm>
          <a:prstGeom prst="rect">
            <a:avLst/>
          </a:prstGeom>
        </p:spPr>
      </p:pic>
      <p:sp>
        <p:nvSpPr>
          <p:cNvPr id="15" name="Shape 11"/>
          <p:cNvSpPr/>
          <p:nvPr/>
        </p:nvSpPr>
        <p:spPr>
          <a:xfrm>
            <a:off x="6396228" y="4462272"/>
            <a:ext cx="1051560" cy="292608"/>
          </a:xfrm>
          <a:prstGeom prst="roundRect">
            <a:avLst>
              <a:gd name="adj" fmla="val 50000"/>
            </a:avLst>
          </a:prstGeom>
          <a:solidFill>
            <a:srgbClr val="1364F4"/>
          </a:solidFill>
          <a:ln w="12700">
            <a:solidFill>
              <a:srgbClr val="1364F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EVID-074</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Reviewing gadget settings</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Filter Results gadget configuration reviewed and saved before the dashboard was published to stakeholders.</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62</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38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70961"/>
            <a:ext cx="5070348" cy="2511407"/>
          </a:xfrm>
          <a:prstGeom prst="rect">
            <a:avLst/>
          </a:prstGeom>
        </p:spPr>
      </p:pic>
      <p:sp>
        <p:nvSpPr>
          <p:cNvPr id="8" name="Shape 5"/>
          <p:cNvSpPr/>
          <p:nvPr/>
        </p:nvSpPr>
        <p:spPr>
          <a:xfrm>
            <a:off x="649224" y="4462272"/>
            <a:ext cx="1051560" cy="292608"/>
          </a:xfrm>
          <a:prstGeom prst="roundRect">
            <a:avLst>
              <a:gd name="adj" fmla="val 50000"/>
            </a:avLst>
          </a:prstGeom>
          <a:solidFill>
            <a:srgbClr val="00B3A4"/>
          </a:solidFill>
          <a:ln w="12700">
            <a:solidFill>
              <a:srgbClr val="00B3A4"/>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EVID-075</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Stakeholder read view</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dashboard in read mode — how a stakeholder sees it, with no configuration controls in the way.</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53795"/>
            <a:ext cx="5070348" cy="2545737"/>
          </a:xfrm>
          <a:prstGeom prst="rect">
            <a:avLst/>
          </a:prstGeom>
        </p:spPr>
      </p:pic>
      <p:sp>
        <p:nvSpPr>
          <p:cNvPr id="15" name="Shape 11"/>
          <p:cNvSpPr/>
          <p:nvPr/>
        </p:nvSpPr>
        <p:spPr>
          <a:xfrm>
            <a:off x="6396228" y="4462272"/>
            <a:ext cx="1051560" cy="292608"/>
          </a:xfrm>
          <a:prstGeom prst="roundRect">
            <a:avLst>
              <a:gd name="adj" fmla="val 50000"/>
            </a:avLst>
          </a:prstGeom>
          <a:solidFill>
            <a:srgbClr val="00B3A4"/>
          </a:solidFill>
          <a:ln w="12700">
            <a:solidFill>
              <a:srgbClr val="00B3A4"/>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EVID-076</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Gadget highlight colours</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Gadget highlight colour options used to visually separate risk, blocker and workload sections of the dashboard.</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63</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F4436C"/>
          </a:solidFill>
          <a:ln w="12700">
            <a:solidFill>
              <a:srgbClr val="F4436C"/>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39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JQL, Filters and Dashboard Build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92513" y="1737360"/>
            <a:ext cx="5056922" cy="2578608"/>
          </a:xfrm>
          <a:prstGeom prst="rect">
            <a:avLst/>
          </a:prstGeom>
        </p:spPr>
      </p:pic>
      <p:sp>
        <p:nvSpPr>
          <p:cNvPr id="8" name="Shape 5"/>
          <p:cNvSpPr/>
          <p:nvPr/>
        </p:nvSpPr>
        <p:spPr>
          <a:xfrm>
            <a:off x="649224" y="4462272"/>
            <a:ext cx="1051560" cy="292608"/>
          </a:xfrm>
          <a:prstGeom prst="roundRect">
            <a:avLst>
              <a:gd name="adj" fmla="val 50000"/>
            </a:avLst>
          </a:prstGeom>
          <a:solidFill>
            <a:srgbClr val="F4436C"/>
          </a:solidFill>
          <a:ln w="12700">
            <a:solidFill>
              <a:srgbClr val="F4436C"/>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EVID-077</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Adding the status chart</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Searching for the Pie Chart gadget to add a status distribution view to the delivery dashboard.</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63046"/>
            <a:ext cx="5070348" cy="2527235"/>
          </a:xfrm>
          <a:prstGeom prst="rect">
            <a:avLst/>
          </a:prstGeom>
        </p:spPr>
      </p:pic>
      <p:sp>
        <p:nvSpPr>
          <p:cNvPr id="15" name="Shape 11"/>
          <p:cNvSpPr/>
          <p:nvPr/>
        </p:nvSpPr>
        <p:spPr>
          <a:xfrm>
            <a:off x="6396228" y="4462272"/>
            <a:ext cx="1051560" cy="292608"/>
          </a:xfrm>
          <a:prstGeom prst="roundRect">
            <a:avLst>
              <a:gd name="adj" fmla="val 50000"/>
            </a:avLst>
          </a:prstGeom>
          <a:solidFill>
            <a:srgbClr val="F4436C"/>
          </a:solidFill>
          <a:ln w="12700">
            <a:solidFill>
              <a:srgbClr val="F4436C"/>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EVID-078</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Chart source not yet set</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Pie Chart gadget before a project or saved filter is chosen — the chart cannot render without a data source.</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64</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799539"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1799539"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EVIDENCE 40 / 40</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Final Delivery Dashboard</a:t>
            </a:r>
            <a:endParaRPr lang="en-US" sz="3100" dirty="0"/>
          </a:p>
        </p:txBody>
      </p:sp>
      <p:sp>
        <p:nvSpPr>
          <p:cNvPr id="5" name="Shape 3"/>
          <p:cNvSpPr/>
          <p:nvPr/>
        </p:nvSpPr>
        <p:spPr>
          <a:xfrm>
            <a:off x="502920"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6" name="Shape 4"/>
          <p:cNvSpPr/>
          <p:nvPr/>
        </p:nvSpPr>
        <p:spPr>
          <a:xfrm>
            <a:off x="649224" y="1700784"/>
            <a:ext cx="5143500" cy="2651760"/>
          </a:xfrm>
          <a:prstGeom prst="roundRect">
            <a:avLst>
              <a:gd name="adj" fmla="val 1724"/>
            </a:avLst>
          </a:prstGeom>
          <a:solidFill>
            <a:srgbClr val="F3F5FD"/>
          </a:solidFill>
          <a:ln w="12700">
            <a:solidFill>
              <a:srgbClr val="F3F5FD"/>
            </a:solidFill>
            <a:prstDash val="solid"/>
          </a:ln>
        </p:spPr>
      </p:sp>
      <p:pic>
        <p:nvPicPr>
          <p:cNvPr id="7" name="Image 0" descr="preencoded.png">    </p:cNvPr>
          <p:cNvPicPr>
            <a:picLocks noChangeAspect="1"/>
          </p:cNvPicPr>
          <p:nvPr/>
        </p:nvPicPr>
        <p:blipFill>
          <a:blip r:embed="rId1"/>
          <a:stretch>
            <a:fillRect/>
          </a:stretch>
        </p:blipFill>
        <p:spPr>
          <a:xfrm>
            <a:off x="685800" y="1776242"/>
            <a:ext cx="5070348" cy="2500844"/>
          </a:xfrm>
          <a:prstGeom prst="rect">
            <a:avLst/>
          </a:prstGeom>
        </p:spPr>
      </p:pic>
      <p:sp>
        <p:nvSpPr>
          <p:cNvPr id="8" name="Shape 5"/>
          <p:cNvSpPr/>
          <p:nvPr/>
        </p:nvSpPr>
        <p:spPr>
          <a:xfrm>
            <a:off x="649224" y="4462272"/>
            <a:ext cx="1051560" cy="292608"/>
          </a:xfrm>
          <a:prstGeom prst="roundRect">
            <a:avLst>
              <a:gd name="adj" fmla="val 50000"/>
            </a:avLst>
          </a:prstGeom>
          <a:solidFill>
            <a:srgbClr val="8036F0"/>
          </a:solidFill>
          <a:ln w="12700">
            <a:solidFill>
              <a:srgbClr val="8036F0"/>
            </a:solidFill>
            <a:prstDash val="solid"/>
          </a:ln>
        </p:spPr>
      </p:sp>
      <p:sp>
        <p:nvSpPr>
          <p:cNvPr id="9" name="Text 6"/>
          <p:cNvSpPr txBox="1"/>
          <p:nvPr/>
        </p:nvSpPr>
        <p:spPr>
          <a:xfrm>
            <a:off x="649224"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EVID-079</a:t>
            </a:r>
            <a:endParaRPr lang="en-US" sz="950" dirty="0"/>
          </a:p>
        </p:txBody>
      </p:sp>
      <p:sp>
        <p:nvSpPr>
          <p:cNvPr id="10" name="Text 7"/>
          <p:cNvSpPr txBox="1"/>
          <p:nvPr/>
        </p:nvSpPr>
        <p:spPr>
          <a:xfrm>
            <a:off x="1801368"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Statistic type set to Status</a:t>
            </a:r>
            <a:endParaRPr lang="en-US" sz="1350" dirty="0"/>
          </a:p>
        </p:txBody>
      </p:sp>
      <p:sp>
        <p:nvSpPr>
          <p:cNvPr id="11" name="Text 8"/>
          <p:cNvSpPr txBox="1"/>
          <p:nvPr/>
        </p:nvSpPr>
        <p:spPr>
          <a:xfrm>
            <a:off x="649224"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Pie Chart statistic type switched to Status so the chart reports delivery state rather than assignee distribution.</a:t>
            </a:r>
            <a:endParaRPr lang="en-US" sz="1150" dirty="0"/>
          </a:p>
        </p:txBody>
      </p:sp>
      <p:sp>
        <p:nvSpPr>
          <p:cNvPr id="12" name="Shape 9"/>
          <p:cNvSpPr/>
          <p:nvPr/>
        </p:nvSpPr>
        <p:spPr>
          <a:xfrm>
            <a:off x="6249924" y="1572768"/>
            <a:ext cx="5436108" cy="4206240"/>
          </a:xfrm>
          <a:prstGeom prst="roundRect">
            <a:avLst>
              <a:gd name="adj" fmla="val 1522"/>
            </a:avLst>
          </a:prstGeom>
          <a:solidFill>
            <a:srgbClr val="FFFFFF"/>
          </a:solidFill>
          <a:ln w="12700">
            <a:solidFill>
              <a:srgbClr val="D8DEF2"/>
            </a:solidFill>
            <a:prstDash val="solid"/>
          </a:ln>
          <a:effectLst>
            <a:outerShdw sx="100000" sy="100000" kx="0" ky="0" algn="bl" rotWithShape="0" blurRad="114300" dist="22860" dir="5400000">
              <a:srgbClr val="8A93C0">
                <a:alpha val="18000"/>
              </a:srgbClr>
            </a:outerShdw>
          </a:effectLst>
        </p:spPr>
      </p:sp>
      <p:sp>
        <p:nvSpPr>
          <p:cNvPr id="13" name="Shape 10"/>
          <p:cNvSpPr/>
          <p:nvPr/>
        </p:nvSpPr>
        <p:spPr>
          <a:xfrm>
            <a:off x="6396228" y="1700784"/>
            <a:ext cx="5143500" cy="2651760"/>
          </a:xfrm>
          <a:prstGeom prst="roundRect">
            <a:avLst>
              <a:gd name="adj" fmla="val 1724"/>
            </a:avLst>
          </a:prstGeom>
          <a:solidFill>
            <a:srgbClr val="F3F5FD"/>
          </a:solidFill>
          <a:ln w="12700">
            <a:solidFill>
              <a:srgbClr val="F3F5FD"/>
            </a:solidFill>
            <a:prstDash val="solid"/>
          </a:ln>
        </p:spPr>
      </p:sp>
      <p:pic>
        <p:nvPicPr>
          <p:cNvPr id="14" name="Image 1" descr="preencoded.png">    </p:cNvPr>
          <p:cNvPicPr>
            <a:picLocks noChangeAspect="1"/>
          </p:cNvPicPr>
          <p:nvPr/>
        </p:nvPicPr>
        <p:blipFill>
          <a:blip r:embed="rId2"/>
          <a:stretch>
            <a:fillRect/>
          </a:stretch>
        </p:blipFill>
        <p:spPr>
          <a:xfrm>
            <a:off x="6432804" y="1785485"/>
            <a:ext cx="5070348" cy="2482358"/>
          </a:xfrm>
          <a:prstGeom prst="rect">
            <a:avLst/>
          </a:prstGeom>
        </p:spPr>
      </p:pic>
      <p:sp>
        <p:nvSpPr>
          <p:cNvPr id="15" name="Shape 11"/>
          <p:cNvSpPr/>
          <p:nvPr/>
        </p:nvSpPr>
        <p:spPr>
          <a:xfrm>
            <a:off x="6396228" y="4462272"/>
            <a:ext cx="1051560" cy="292608"/>
          </a:xfrm>
          <a:prstGeom prst="roundRect">
            <a:avLst>
              <a:gd name="adj" fmla="val 50000"/>
            </a:avLst>
          </a:prstGeom>
          <a:solidFill>
            <a:srgbClr val="8036F0"/>
          </a:solidFill>
          <a:ln w="12700">
            <a:solidFill>
              <a:srgbClr val="8036F0"/>
            </a:solidFill>
            <a:prstDash val="solid"/>
          </a:ln>
        </p:spPr>
      </p:sp>
      <p:sp>
        <p:nvSpPr>
          <p:cNvPr id="16" name="Text 12"/>
          <p:cNvSpPr txBox="1"/>
          <p:nvPr/>
        </p:nvSpPr>
        <p:spPr>
          <a:xfrm>
            <a:off x="6396228" y="4462272"/>
            <a:ext cx="10515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EVID-080</a:t>
            </a:r>
            <a:endParaRPr lang="en-US" sz="950" dirty="0"/>
          </a:p>
        </p:txBody>
      </p:sp>
      <p:sp>
        <p:nvSpPr>
          <p:cNvPr id="17" name="Text 13"/>
          <p:cNvSpPr txBox="1"/>
          <p:nvPr/>
        </p:nvSpPr>
        <p:spPr>
          <a:xfrm>
            <a:off x="7548372" y="4443984"/>
            <a:ext cx="3991356" cy="329184"/>
          </a:xfrm>
          <a:prstGeom prst="rect">
            <a:avLst/>
          </a:prstGeom>
          <a:noFill/>
          <a:ln/>
        </p:spPr>
        <p:txBody>
          <a:bodyPr wrap="square" lIns="0" tIns="0" rIns="0" bIns="0" rtlCol="0" anchor="ctr"/>
          <a:lstStyle/>
          <a:p>
            <a:pPr indent="0" marL="0">
              <a:buNone/>
            </a:pPr>
            <a:r>
              <a:rPr lang="en-US" sz="1350" b="1" dirty="0">
                <a:solidFill>
                  <a:srgbClr val="100B2E"/>
                </a:solidFill>
                <a:latin typeface="Calibri" pitchFamily="34" charset="0"/>
                <a:ea typeface="Calibri" pitchFamily="34" charset="-122"/>
                <a:cs typeface="Calibri" pitchFamily="34" charset="-120"/>
              </a:rPr>
              <a:t>Final AI TPM Delivery Dashboard</a:t>
            </a:r>
            <a:endParaRPr lang="en-US" sz="1350" dirty="0"/>
          </a:p>
        </p:txBody>
      </p:sp>
      <p:sp>
        <p:nvSpPr>
          <p:cNvPr id="18" name="Text 14"/>
          <p:cNvSpPr txBox="1"/>
          <p:nvPr/>
        </p:nvSpPr>
        <p:spPr>
          <a:xfrm>
            <a:off x="6396228" y="4809744"/>
            <a:ext cx="5143500" cy="914400"/>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The completed dashboard: Status pie chart (10 items — 5 To Do, 3 In Progress, 2 Done), TPM - High Priority Open Work and TPM - AI Risks both surfacing risk ATSL-5, and Assigned to Me.</a:t>
            </a:r>
            <a:endParaRPr lang="en-US" sz="1150" dirty="0"/>
          </a:p>
        </p:txBody>
      </p:sp>
      <p:sp>
        <p:nvSpPr>
          <p:cNvPr id="19" name="Text 1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0" name="Shape 16"/>
          <p:cNvSpPr/>
          <p:nvPr/>
        </p:nvSpPr>
        <p:spPr>
          <a:xfrm>
            <a:off x="11375136" y="6382512"/>
            <a:ext cx="310896" cy="310896"/>
          </a:xfrm>
          <a:prstGeom prst="ellipse">
            <a:avLst/>
          </a:prstGeom>
          <a:solidFill>
            <a:srgbClr val="EAEEFB"/>
          </a:solidFill>
          <a:ln w="12700">
            <a:solidFill>
              <a:srgbClr val="EAEEFB"/>
            </a:solidFill>
            <a:prstDash val="solid"/>
          </a:ln>
        </p:spPr>
      </p:sp>
      <p:sp>
        <p:nvSpPr>
          <p:cNvPr id="21" name="Text 1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65</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00B2E"/>
        </a:solidFill>
      </p:bgPr>
    </p:bg>
    <p:spTree>
      <p:nvGrpSpPr>
        <p:cNvPr id="1" name=""/>
        <p:cNvGrpSpPr/>
        <p:nvPr/>
      </p:nvGrpSpPr>
      <p:grpSpPr>
        <a:xfrm>
          <a:off x="0" y="0"/>
          <a:ext cx="0" cy="0"/>
          <a:chOff x="0" y="0"/>
          <a:chExt cx="0" cy="0"/>
        </a:xfrm>
      </p:grpSpPr>
      <p:sp>
        <p:nvSpPr>
          <p:cNvPr id="2" name="Shape 0"/>
          <p:cNvSpPr/>
          <p:nvPr/>
        </p:nvSpPr>
        <p:spPr>
          <a:xfrm>
            <a:off x="9144000" y="-1280160"/>
            <a:ext cx="4754880" cy="4754880"/>
          </a:xfrm>
          <a:prstGeom prst="ellipse">
            <a:avLst/>
          </a:prstGeom>
          <a:solidFill>
            <a:srgbClr val="F4436C">
              <a:alpha val="38000"/>
            </a:srgbClr>
          </a:solidFill>
          <a:ln w="12700">
            <a:solidFill>
              <a:srgbClr val="F4436C">
                <a:alpha val="0"/>
              </a:srgbClr>
            </a:solidFill>
            <a:prstDash val="solid"/>
          </a:ln>
        </p:spPr>
      </p:sp>
      <p:sp>
        <p:nvSpPr>
          <p:cNvPr id="3" name="Shape 1"/>
          <p:cNvSpPr/>
          <p:nvPr/>
        </p:nvSpPr>
        <p:spPr>
          <a:xfrm>
            <a:off x="10058400" y="3657600"/>
            <a:ext cx="3108960" cy="3108960"/>
          </a:xfrm>
          <a:prstGeom prst="ellipse">
            <a:avLst/>
          </a:prstGeom>
          <a:solidFill>
            <a:srgbClr val="8036F0">
              <a:alpha val="32000"/>
            </a:srgbClr>
          </a:solidFill>
          <a:ln w="12700">
            <a:solidFill>
              <a:srgbClr val="8036F0">
                <a:alpha val="0"/>
              </a:srgbClr>
            </a:solidFill>
            <a:prstDash val="solid"/>
          </a:ln>
        </p:spPr>
      </p:sp>
      <p:sp>
        <p:nvSpPr>
          <p:cNvPr id="4" name="Shape 2"/>
          <p:cNvSpPr/>
          <p:nvPr/>
        </p:nvSpPr>
        <p:spPr>
          <a:xfrm>
            <a:off x="-914400" y="4480560"/>
            <a:ext cx="2743200" cy="2743200"/>
          </a:xfrm>
          <a:prstGeom prst="ellipse">
            <a:avLst/>
          </a:prstGeom>
          <a:solidFill>
            <a:srgbClr val="00B3A4">
              <a:alpha val="26000"/>
            </a:srgbClr>
          </a:solidFill>
          <a:ln w="12700">
            <a:solidFill>
              <a:srgbClr val="00B3A4">
                <a:alpha val="0"/>
              </a:srgbClr>
            </a:solidFill>
            <a:prstDash val="solid"/>
          </a:ln>
        </p:spPr>
      </p:sp>
      <p:sp>
        <p:nvSpPr>
          <p:cNvPr id="5" name="Text 3"/>
          <p:cNvSpPr txBox="1"/>
          <p:nvPr/>
        </p:nvSpPr>
        <p:spPr>
          <a:xfrm>
            <a:off x="502920" y="2240280"/>
            <a:ext cx="7315200" cy="365760"/>
          </a:xfrm>
          <a:prstGeom prst="rect">
            <a:avLst/>
          </a:prstGeom>
          <a:noFill/>
          <a:ln/>
        </p:spPr>
        <p:txBody>
          <a:bodyPr wrap="square" lIns="0" tIns="0" rIns="0" bIns="0" rtlCol="0" anchor="ctr"/>
          <a:lstStyle/>
          <a:p>
            <a:pPr indent="0" marL="0">
              <a:buNone/>
            </a:pPr>
            <a:r>
              <a:rPr lang="en-US" sz="1300" b="1" spc="250" kern="0" dirty="0">
                <a:solidFill>
                  <a:srgbClr val="F4436C"/>
                </a:solidFill>
                <a:latin typeface="Calibri" pitchFamily="34" charset="0"/>
                <a:ea typeface="Calibri" pitchFamily="34" charset="-122"/>
                <a:cs typeface="Calibri" pitchFamily="34" charset="-120"/>
              </a:rPr>
              <a:t>PART 3</a:t>
            </a:r>
            <a:endParaRPr lang="en-US" sz="1300" dirty="0"/>
          </a:p>
        </p:txBody>
      </p:sp>
      <p:sp>
        <p:nvSpPr>
          <p:cNvPr id="6" name="Text 4"/>
          <p:cNvSpPr txBox="1"/>
          <p:nvPr/>
        </p:nvSpPr>
        <p:spPr>
          <a:xfrm>
            <a:off x="502920" y="2651760"/>
            <a:ext cx="8412480" cy="11887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TPM Interview Questions</a:t>
            </a:r>
            <a:endParaRPr lang="en-US" sz="4000" dirty="0"/>
          </a:p>
        </p:txBody>
      </p:sp>
      <p:sp>
        <p:nvSpPr>
          <p:cNvPr id="7" name="Text 5"/>
          <p:cNvSpPr txBox="1"/>
          <p:nvPr/>
        </p:nvSpPr>
        <p:spPr>
          <a:xfrm>
            <a:off x="502920" y="3886200"/>
            <a:ext cx="7498080" cy="731520"/>
          </a:xfrm>
          <a:prstGeom prst="rect">
            <a:avLst/>
          </a:prstGeom>
          <a:noFill/>
          <a:ln/>
        </p:spPr>
        <p:txBody>
          <a:bodyPr wrap="square" lIns="0" tIns="0" rIns="0" bIns="0" rtlCol="0" anchor="ctr"/>
          <a:lstStyle/>
          <a:p>
            <a:pPr indent="0" marL="0">
              <a:lnSpc>
                <a:spcPts val="2100"/>
              </a:lnSpc>
              <a:buNone/>
            </a:pPr>
            <a:r>
              <a:rPr lang="en-US" sz="1400" dirty="0">
                <a:solidFill>
                  <a:srgbClr val="B6BEE4"/>
                </a:solidFill>
                <a:latin typeface="Calibri" pitchFamily="34" charset="0"/>
                <a:ea typeface="Calibri" pitchFamily="34" charset="-122"/>
                <a:cs typeface="Calibri" pitchFamily="34" charset="-120"/>
              </a:rPr>
              <a:t>Twelve questions a TPM interview will ask, answered from the evidence in this project rather than from theory.</a:t>
            </a:r>
            <a:endParaRPr lang="en-US" sz="1400" dirty="0"/>
          </a:p>
        </p:txBody>
      </p:sp>
      <p:sp>
        <p:nvSpPr>
          <p:cNvPr id="8" name="Text 6"/>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9AA3C8"/>
                </a:solidFill>
                <a:latin typeface="Calibri" pitchFamily="34" charset="0"/>
                <a:ea typeface="Calibri" pitchFamily="34" charset="-122"/>
                <a:cs typeface="Calibri" pitchFamily="34" charset="-120"/>
              </a:rPr>
              <a:t>Mahesh Zade  •  AI TPM / Jira Delivery Project</a:t>
            </a:r>
            <a:endParaRPr lang="en-US" sz="1000" dirty="0"/>
          </a:p>
        </p:txBody>
      </p:sp>
      <p:sp>
        <p:nvSpPr>
          <p:cNvPr id="9" name="Shape 7"/>
          <p:cNvSpPr/>
          <p:nvPr/>
        </p:nvSpPr>
        <p:spPr>
          <a:xfrm>
            <a:off x="11375136" y="6382512"/>
            <a:ext cx="310896" cy="310896"/>
          </a:xfrm>
          <a:prstGeom prst="ellipse">
            <a:avLst/>
          </a:prstGeom>
          <a:solidFill>
            <a:srgbClr val="1364F4"/>
          </a:solidFill>
          <a:ln w="12700">
            <a:solidFill>
              <a:srgbClr val="1364F4"/>
            </a:solidFill>
            <a:prstDash val="solid"/>
          </a:ln>
        </p:spPr>
      </p:sp>
      <p:sp>
        <p:nvSpPr>
          <p:cNvPr id="10" name="Text 8"/>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66</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620317" cy="292608"/>
          </a:xfrm>
          <a:prstGeom prst="roundRect">
            <a:avLst>
              <a:gd name="adj" fmla="val 50000"/>
            </a:avLst>
          </a:prstGeom>
          <a:solidFill>
            <a:srgbClr val="00B3A4"/>
          </a:solidFill>
          <a:ln w="12700">
            <a:solidFill>
              <a:srgbClr val="00B3A4"/>
            </a:solidFill>
            <a:prstDash val="solid"/>
          </a:ln>
        </p:spPr>
      </p:sp>
      <p:sp>
        <p:nvSpPr>
          <p:cNvPr id="3" name="Text 1"/>
          <p:cNvSpPr txBox="1"/>
          <p:nvPr/>
        </p:nvSpPr>
        <p:spPr>
          <a:xfrm>
            <a:off x="502920" y="384048"/>
            <a:ext cx="1620317"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3 · Q&amp;A 1</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TPM interview questions and model answers</a:t>
            </a:r>
            <a:endParaRPr lang="en-US" sz="3100" dirty="0"/>
          </a:p>
        </p:txBody>
      </p:sp>
      <p:sp>
        <p:nvSpPr>
          <p:cNvPr id="5" name="Shape 3"/>
          <p:cNvSpPr/>
          <p:nvPr/>
        </p:nvSpPr>
        <p:spPr>
          <a:xfrm>
            <a:off x="502920" y="1627632"/>
            <a:ext cx="11183112" cy="1243584"/>
          </a:xfrm>
          <a:prstGeom prst="roundRect">
            <a:avLst>
              <a:gd name="adj" fmla="val 5882"/>
            </a:avLst>
          </a:prstGeom>
          <a:solidFill>
            <a:srgbClr val="FFFFFF"/>
          </a:solidFill>
          <a:ln w="12700">
            <a:solidFill>
              <a:srgbClr val="D8DEF2"/>
            </a:solidFill>
            <a:prstDash val="solid"/>
          </a:ln>
          <a:effectLst>
            <a:outerShdw sx="100000" sy="100000" kx="0" ky="0" algn="bl" rotWithShape="0" blurRad="101600" dist="19050" dir="5400000">
              <a:srgbClr val="8A93C0">
                <a:alpha val="15000"/>
              </a:srgbClr>
            </a:outerShdw>
          </a:effectLst>
        </p:spPr>
      </p:sp>
      <p:sp>
        <p:nvSpPr>
          <p:cNvPr id="6" name="Shape 4"/>
          <p:cNvSpPr/>
          <p:nvPr/>
        </p:nvSpPr>
        <p:spPr>
          <a:xfrm>
            <a:off x="740664" y="1865376"/>
            <a:ext cx="402336" cy="402336"/>
          </a:xfrm>
          <a:prstGeom prst="ellipse">
            <a:avLst/>
          </a:prstGeom>
          <a:solidFill>
            <a:srgbClr val="1364F4"/>
          </a:solidFill>
          <a:ln w="12700">
            <a:solidFill>
              <a:srgbClr val="1364F4"/>
            </a:solidFill>
            <a:prstDash val="solid"/>
          </a:ln>
        </p:spPr>
      </p:sp>
      <p:sp>
        <p:nvSpPr>
          <p:cNvPr id="7" name="Text 5"/>
          <p:cNvSpPr txBox="1"/>
          <p:nvPr/>
        </p:nvSpPr>
        <p:spPr>
          <a:xfrm>
            <a:off x="740664" y="186537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289304" y="1810512"/>
            <a:ext cx="10131552" cy="365760"/>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How do you manage a blocked story?</a:t>
            </a:r>
            <a:endParaRPr lang="en-US" sz="1500" dirty="0"/>
          </a:p>
        </p:txBody>
      </p:sp>
      <p:sp>
        <p:nvSpPr>
          <p:cNvPr id="9" name="Text 7"/>
          <p:cNvSpPr txBox="1"/>
          <p:nvPr/>
        </p:nvSpPr>
        <p:spPr>
          <a:xfrm>
            <a:off x="1289304" y="2194560"/>
            <a:ext cx="10131552" cy="51206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I make the dependency explicit in Jira, identify the upstream owner and quantify the impact on scope, milestone and downstream work. Then I agree a mitigation — a mock interface, parallel development or resequencing — add a dated checkpoint and communicate the expected impact. I only remove the blocker when the dependency is validated, not when someone says it is ready.</a:t>
            </a:r>
            <a:endParaRPr lang="en-US" sz="1200" dirty="0"/>
          </a:p>
        </p:txBody>
      </p:sp>
      <p:sp>
        <p:nvSpPr>
          <p:cNvPr id="10" name="Shape 8"/>
          <p:cNvSpPr/>
          <p:nvPr/>
        </p:nvSpPr>
        <p:spPr>
          <a:xfrm>
            <a:off x="502920" y="3072384"/>
            <a:ext cx="11183112" cy="1243584"/>
          </a:xfrm>
          <a:prstGeom prst="roundRect">
            <a:avLst>
              <a:gd name="adj" fmla="val 5882"/>
            </a:avLst>
          </a:prstGeom>
          <a:solidFill>
            <a:srgbClr val="FFFFFF"/>
          </a:solidFill>
          <a:ln w="12700">
            <a:solidFill>
              <a:srgbClr val="D8DEF2"/>
            </a:solidFill>
            <a:prstDash val="solid"/>
          </a:ln>
          <a:effectLst>
            <a:outerShdw sx="100000" sy="100000" kx="0" ky="0" algn="bl" rotWithShape="0" blurRad="101600" dist="19050" dir="5400000">
              <a:srgbClr val="8A93C0">
                <a:alpha val="15000"/>
              </a:srgbClr>
            </a:outerShdw>
          </a:effectLst>
        </p:spPr>
      </p:sp>
      <p:sp>
        <p:nvSpPr>
          <p:cNvPr id="11" name="Shape 9"/>
          <p:cNvSpPr/>
          <p:nvPr/>
        </p:nvSpPr>
        <p:spPr>
          <a:xfrm>
            <a:off x="740664" y="3310128"/>
            <a:ext cx="402336" cy="402336"/>
          </a:xfrm>
          <a:prstGeom prst="ellipse">
            <a:avLst/>
          </a:prstGeom>
          <a:solidFill>
            <a:srgbClr val="00B3A4"/>
          </a:solidFill>
          <a:ln w="12700">
            <a:solidFill>
              <a:srgbClr val="00B3A4"/>
            </a:solidFill>
            <a:prstDash val="solid"/>
          </a:ln>
        </p:spPr>
      </p:sp>
      <p:sp>
        <p:nvSpPr>
          <p:cNvPr id="12" name="Text 10"/>
          <p:cNvSpPr txBox="1"/>
          <p:nvPr/>
        </p:nvSpPr>
        <p:spPr>
          <a:xfrm>
            <a:off x="740664" y="331012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3" name="Text 11"/>
          <p:cNvSpPr txBox="1"/>
          <p:nvPr/>
        </p:nvSpPr>
        <p:spPr>
          <a:xfrm>
            <a:off x="1289304" y="3255264"/>
            <a:ext cx="10131552" cy="365760"/>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How do you prioritise work?</a:t>
            </a:r>
            <a:endParaRPr lang="en-US" sz="1500" dirty="0"/>
          </a:p>
        </p:txBody>
      </p:sp>
      <p:sp>
        <p:nvSpPr>
          <p:cNvPr id="14" name="Text 12"/>
          <p:cNvSpPr txBox="1"/>
          <p:nvPr/>
        </p:nvSpPr>
        <p:spPr>
          <a:xfrm>
            <a:off x="1289304" y="3639312"/>
            <a:ext cx="10131552" cy="51206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I combine customer impact, business value, risk reduction, urgency, dependencies and engineering effort, and I make those criteria explicit so the trade-offs can be challenged by Product and Engineering. For AI products I also weigh data readiness, model quality, safety, latency and integration dependencies. The output is an ordered backlog with a stated rationale, not a ranking based on who asked loudest.</a:t>
            </a:r>
            <a:endParaRPr lang="en-US" sz="1200" dirty="0"/>
          </a:p>
        </p:txBody>
      </p:sp>
      <p:sp>
        <p:nvSpPr>
          <p:cNvPr id="15" name="Shape 13"/>
          <p:cNvSpPr/>
          <p:nvPr/>
        </p:nvSpPr>
        <p:spPr>
          <a:xfrm>
            <a:off x="502920" y="4517136"/>
            <a:ext cx="11183112" cy="1243584"/>
          </a:xfrm>
          <a:prstGeom prst="roundRect">
            <a:avLst>
              <a:gd name="adj" fmla="val 5882"/>
            </a:avLst>
          </a:prstGeom>
          <a:solidFill>
            <a:srgbClr val="FFFFFF"/>
          </a:solidFill>
          <a:ln w="12700">
            <a:solidFill>
              <a:srgbClr val="D8DEF2"/>
            </a:solidFill>
            <a:prstDash val="solid"/>
          </a:ln>
          <a:effectLst>
            <a:outerShdw sx="100000" sy="100000" kx="0" ky="0" algn="bl" rotWithShape="0" blurRad="101600" dist="19050" dir="5400000">
              <a:srgbClr val="8A93C0">
                <a:alpha val="15000"/>
              </a:srgbClr>
            </a:outerShdw>
          </a:effectLst>
        </p:spPr>
      </p:sp>
      <p:sp>
        <p:nvSpPr>
          <p:cNvPr id="16" name="Shape 14"/>
          <p:cNvSpPr/>
          <p:nvPr/>
        </p:nvSpPr>
        <p:spPr>
          <a:xfrm>
            <a:off x="740664" y="4754880"/>
            <a:ext cx="402336" cy="402336"/>
          </a:xfrm>
          <a:prstGeom prst="ellipse">
            <a:avLst/>
          </a:prstGeom>
          <a:solidFill>
            <a:srgbClr val="F4436C"/>
          </a:solidFill>
          <a:ln w="12700">
            <a:solidFill>
              <a:srgbClr val="F4436C"/>
            </a:solidFill>
            <a:prstDash val="solid"/>
          </a:ln>
        </p:spPr>
      </p:sp>
      <p:sp>
        <p:nvSpPr>
          <p:cNvPr id="17" name="Text 15"/>
          <p:cNvSpPr txBox="1"/>
          <p:nvPr/>
        </p:nvSpPr>
        <p:spPr>
          <a:xfrm>
            <a:off x="740664" y="475488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289304" y="4700016"/>
            <a:ext cx="10131552" cy="365760"/>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How do you handle an API dependency?</a:t>
            </a:r>
            <a:endParaRPr lang="en-US" sz="1500" dirty="0"/>
          </a:p>
        </p:txBody>
      </p:sp>
      <p:sp>
        <p:nvSpPr>
          <p:cNvPr id="19" name="Text 17"/>
          <p:cNvSpPr txBox="1"/>
          <p:nvPr/>
        </p:nvSpPr>
        <p:spPr>
          <a:xfrm>
            <a:off x="1289304" y="5084064"/>
            <a:ext cx="10131552" cy="51206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I define the interface contract early — authentication, request and response schema, error handling, latency and availability expectations — and name the provider and consumer owners. I use mocks or stubs so parallel development is not blocked, and I track readiness as a dependency with a date and an escalation path. That is exactly what ATSL-5 documents.</a:t>
            </a:r>
            <a:endParaRPr lang="en-US" sz="1200" dirty="0"/>
          </a:p>
        </p:txBody>
      </p:sp>
      <p:sp>
        <p:nvSpPr>
          <p:cNvPr id="20" name="Text 18"/>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1" name="Shape 19"/>
          <p:cNvSpPr/>
          <p:nvPr/>
        </p:nvSpPr>
        <p:spPr>
          <a:xfrm>
            <a:off x="11375136" y="6382512"/>
            <a:ext cx="310896" cy="310896"/>
          </a:xfrm>
          <a:prstGeom prst="ellipse">
            <a:avLst/>
          </a:prstGeom>
          <a:solidFill>
            <a:srgbClr val="EAEEFB"/>
          </a:solidFill>
          <a:ln w="12700">
            <a:solidFill>
              <a:srgbClr val="EAEEFB"/>
            </a:solidFill>
            <a:prstDash val="solid"/>
          </a:ln>
        </p:spPr>
      </p:sp>
      <p:sp>
        <p:nvSpPr>
          <p:cNvPr id="22" name="Text 20"/>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67</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620317" cy="292608"/>
          </a:xfrm>
          <a:prstGeom prst="roundRect">
            <a:avLst>
              <a:gd name="adj" fmla="val 50000"/>
            </a:avLst>
          </a:prstGeom>
          <a:solidFill>
            <a:srgbClr val="F4436C"/>
          </a:solidFill>
          <a:ln w="12700">
            <a:solidFill>
              <a:srgbClr val="F4436C"/>
            </a:solidFill>
            <a:prstDash val="solid"/>
          </a:ln>
        </p:spPr>
      </p:sp>
      <p:sp>
        <p:nvSpPr>
          <p:cNvPr id="3" name="Text 1"/>
          <p:cNvSpPr txBox="1"/>
          <p:nvPr/>
        </p:nvSpPr>
        <p:spPr>
          <a:xfrm>
            <a:off x="502920" y="384048"/>
            <a:ext cx="1620317"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3 · Q&amp;A 2</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TPM interview questions and model answers</a:t>
            </a:r>
            <a:endParaRPr lang="en-US" sz="3100" dirty="0"/>
          </a:p>
        </p:txBody>
      </p:sp>
      <p:sp>
        <p:nvSpPr>
          <p:cNvPr id="5" name="Shape 3"/>
          <p:cNvSpPr/>
          <p:nvPr/>
        </p:nvSpPr>
        <p:spPr>
          <a:xfrm>
            <a:off x="502920" y="1627632"/>
            <a:ext cx="11183112" cy="1243584"/>
          </a:xfrm>
          <a:prstGeom prst="roundRect">
            <a:avLst>
              <a:gd name="adj" fmla="val 5882"/>
            </a:avLst>
          </a:prstGeom>
          <a:solidFill>
            <a:srgbClr val="FFFFFF"/>
          </a:solidFill>
          <a:ln w="12700">
            <a:solidFill>
              <a:srgbClr val="D8DEF2"/>
            </a:solidFill>
            <a:prstDash val="solid"/>
          </a:ln>
          <a:effectLst>
            <a:outerShdw sx="100000" sy="100000" kx="0" ky="0" algn="bl" rotWithShape="0" blurRad="101600" dist="19050" dir="5400000">
              <a:srgbClr val="8A93C0">
                <a:alpha val="15000"/>
              </a:srgbClr>
            </a:outerShdw>
          </a:effectLst>
        </p:spPr>
      </p:sp>
      <p:sp>
        <p:nvSpPr>
          <p:cNvPr id="6" name="Shape 4"/>
          <p:cNvSpPr/>
          <p:nvPr/>
        </p:nvSpPr>
        <p:spPr>
          <a:xfrm>
            <a:off x="740664" y="1865376"/>
            <a:ext cx="402336" cy="402336"/>
          </a:xfrm>
          <a:prstGeom prst="ellipse">
            <a:avLst/>
          </a:prstGeom>
          <a:solidFill>
            <a:srgbClr val="8036F0"/>
          </a:solidFill>
          <a:ln w="12700">
            <a:solidFill>
              <a:srgbClr val="8036F0"/>
            </a:solidFill>
            <a:prstDash val="solid"/>
          </a:ln>
        </p:spPr>
      </p:sp>
      <p:sp>
        <p:nvSpPr>
          <p:cNvPr id="7" name="Text 5"/>
          <p:cNvSpPr txBox="1"/>
          <p:nvPr/>
        </p:nvSpPr>
        <p:spPr>
          <a:xfrm>
            <a:off x="740664" y="186537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8" name="Text 6"/>
          <p:cNvSpPr txBox="1"/>
          <p:nvPr/>
        </p:nvSpPr>
        <p:spPr>
          <a:xfrm>
            <a:off x="1289304" y="1810512"/>
            <a:ext cx="10131552" cy="365760"/>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How do you run a sprint?</a:t>
            </a:r>
            <a:endParaRPr lang="en-US" sz="1500" dirty="0"/>
          </a:p>
        </p:txBody>
      </p:sp>
      <p:sp>
        <p:nvSpPr>
          <p:cNvPr id="9" name="Text 7"/>
          <p:cNvSpPr txBox="1"/>
          <p:nvPr/>
        </p:nvSpPr>
        <p:spPr>
          <a:xfrm>
            <a:off x="1289304" y="2194560"/>
            <a:ext cx="10131552" cy="51206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Start with a clear sprint goal, a prioritised backlog, an honest capacity check and acceptance criteria written before commitment. During execution I monitor flow, blockers, risks and scope changes daily, using burndown and status reports as evidence and escalating material deviations early. I finish with review and retrospective, and carry forward only work with a justified reason.</a:t>
            </a:r>
            <a:endParaRPr lang="en-US" sz="1200" dirty="0"/>
          </a:p>
        </p:txBody>
      </p:sp>
      <p:sp>
        <p:nvSpPr>
          <p:cNvPr id="10" name="Shape 8"/>
          <p:cNvSpPr/>
          <p:nvPr/>
        </p:nvSpPr>
        <p:spPr>
          <a:xfrm>
            <a:off x="502920" y="3072384"/>
            <a:ext cx="11183112" cy="1243584"/>
          </a:xfrm>
          <a:prstGeom prst="roundRect">
            <a:avLst>
              <a:gd name="adj" fmla="val 5882"/>
            </a:avLst>
          </a:prstGeom>
          <a:solidFill>
            <a:srgbClr val="FFFFFF"/>
          </a:solidFill>
          <a:ln w="12700">
            <a:solidFill>
              <a:srgbClr val="D8DEF2"/>
            </a:solidFill>
            <a:prstDash val="solid"/>
          </a:ln>
          <a:effectLst>
            <a:outerShdw sx="100000" sy="100000" kx="0" ky="0" algn="bl" rotWithShape="0" blurRad="101600" dist="19050" dir="5400000">
              <a:srgbClr val="8A93C0">
                <a:alpha val="15000"/>
              </a:srgbClr>
            </a:outerShdw>
          </a:effectLst>
        </p:spPr>
      </p:sp>
      <p:sp>
        <p:nvSpPr>
          <p:cNvPr id="11" name="Shape 9"/>
          <p:cNvSpPr/>
          <p:nvPr/>
        </p:nvSpPr>
        <p:spPr>
          <a:xfrm>
            <a:off x="740664" y="3310128"/>
            <a:ext cx="402336" cy="402336"/>
          </a:xfrm>
          <a:prstGeom prst="ellipse">
            <a:avLst/>
          </a:prstGeom>
          <a:solidFill>
            <a:srgbClr val="FFB01F"/>
          </a:solidFill>
          <a:ln w="12700">
            <a:solidFill>
              <a:srgbClr val="FFB01F"/>
            </a:solidFill>
            <a:prstDash val="solid"/>
          </a:ln>
        </p:spPr>
      </p:sp>
      <p:sp>
        <p:nvSpPr>
          <p:cNvPr id="12" name="Text 10"/>
          <p:cNvSpPr txBox="1"/>
          <p:nvPr/>
        </p:nvSpPr>
        <p:spPr>
          <a:xfrm>
            <a:off x="740664" y="331012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13" name="Text 11"/>
          <p:cNvSpPr txBox="1"/>
          <p:nvPr/>
        </p:nvSpPr>
        <p:spPr>
          <a:xfrm>
            <a:off x="1289304" y="3255264"/>
            <a:ext cx="10131552" cy="365760"/>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How do you report status to executives?</a:t>
            </a:r>
            <a:endParaRPr lang="en-US" sz="1500" dirty="0"/>
          </a:p>
        </p:txBody>
      </p:sp>
      <p:sp>
        <p:nvSpPr>
          <p:cNvPr id="14" name="Text 12"/>
          <p:cNvSpPr txBox="1"/>
          <p:nvPr/>
        </p:nvSpPr>
        <p:spPr>
          <a:xfrm>
            <a:off x="1289304" y="3639312"/>
            <a:ext cx="10131552" cy="51206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A concise RAG-style narrative: outcome, progress, top risks, decisions needed and next milestone. I lead with business impact rather than Jira mechanics and use dashboard evidence to support the message. I never hide uncertainty — I state the owner, the mitigation and the next checkpoint, because a status report that only contains good news stops being believed.</a:t>
            </a:r>
            <a:endParaRPr lang="en-US" sz="1200" dirty="0"/>
          </a:p>
        </p:txBody>
      </p:sp>
      <p:sp>
        <p:nvSpPr>
          <p:cNvPr id="15" name="Shape 13"/>
          <p:cNvSpPr/>
          <p:nvPr/>
        </p:nvSpPr>
        <p:spPr>
          <a:xfrm>
            <a:off x="502920" y="4517136"/>
            <a:ext cx="11183112" cy="1243584"/>
          </a:xfrm>
          <a:prstGeom prst="roundRect">
            <a:avLst>
              <a:gd name="adj" fmla="val 5882"/>
            </a:avLst>
          </a:prstGeom>
          <a:solidFill>
            <a:srgbClr val="FFFFFF"/>
          </a:solidFill>
          <a:ln w="12700">
            <a:solidFill>
              <a:srgbClr val="D8DEF2"/>
            </a:solidFill>
            <a:prstDash val="solid"/>
          </a:ln>
          <a:effectLst>
            <a:outerShdw sx="100000" sy="100000" kx="0" ky="0" algn="bl" rotWithShape="0" blurRad="101600" dist="19050" dir="5400000">
              <a:srgbClr val="8A93C0">
                <a:alpha val="15000"/>
              </a:srgbClr>
            </a:outerShdw>
          </a:effectLst>
        </p:spPr>
      </p:sp>
      <p:sp>
        <p:nvSpPr>
          <p:cNvPr id="16" name="Shape 14"/>
          <p:cNvSpPr/>
          <p:nvPr/>
        </p:nvSpPr>
        <p:spPr>
          <a:xfrm>
            <a:off x="740664" y="4754880"/>
            <a:ext cx="402336" cy="402336"/>
          </a:xfrm>
          <a:prstGeom prst="ellipse">
            <a:avLst/>
          </a:prstGeom>
          <a:solidFill>
            <a:srgbClr val="16A34A"/>
          </a:solidFill>
          <a:ln w="12700">
            <a:solidFill>
              <a:srgbClr val="16A34A"/>
            </a:solidFill>
            <a:prstDash val="solid"/>
          </a:ln>
        </p:spPr>
      </p:sp>
      <p:sp>
        <p:nvSpPr>
          <p:cNvPr id="17" name="Text 15"/>
          <p:cNvSpPr txBox="1"/>
          <p:nvPr/>
        </p:nvSpPr>
        <p:spPr>
          <a:xfrm>
            <a:off x="740664" y="475488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Q6</a:t>
            </a:r>
            <a:endParaRPr lang="en-US" sz="1100" dirty="0"/>
          </a:p>
        </p:txBody>
      </p:sp>
      <p:sp>
        <p:nvSpPr>
          <p:cNvPr id="18" name="Text 16"/>
          <p:cNvSpPr txBox="1"/>
          <p:nvPr/>
        </p:nvSpPr>
        <p:spPr>
          <a:xfrm>
            <a:off x="1289304" y="4700016"/>
            <a:ext cx="10131552" cy="365760"/>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What is the difference between a risk and an issue?</a:t>
            </a:r>
            <a:endParaRPr lang="en-US" sz="1500" dirty="0"/>
          </a:p>
        </p:txBody>
      </p:sp>
      <p:sp>
        <p:nvSpPr>
          <p:cNvPr id="19" name="Text 17"/>
          <p:cNvSpPr txBox="1"/>
          <p:nvPr/>
        </p:nvSpPr>
        <p:spPr>
          <a:xfrm>
            <a:off x="1289304" y="5084064"/>
            <a:ext cx="10131552" cy="51206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A risk is a potential future event that may affect delivery; an issue is an active problem already affecting it. 'The API may not be available by the integration date' is a risk. 'The API is unavailable today and the sprint task is blocked' is an issue. Both need an owner, an impact assessment and a response plan — the difference is how much time you still have.</a:t>
            </a:r>
            <a:endParaRPr lang="en-US" sz="1200" dirty="0"/>
          </a:p>
        </p:txBody>
      </p:sp>
      <p:sp>
        <p:nvSpPr>
          <p:cNvPr id="20" name="Text 18"/>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1" name="Shape 19"/>
          <p:cNvSpPr/>
          <p:nvPr/>
        </p:nvSpPr>
        <p:spPr>
          <a:xfrm>
            <a:off x="11375136" y="6382512"/>
            <a:ext cx="310896" cy="310896"/>
          </a:xfrm>
          <a:prstGeom prst="ellipse">
            <a:avLst/>
          </a:prstGeom>
          <a:solidFill>
            <a:srgbClr val="EAEEFB"/>
          </a:solidFill>
          <a:ln w="12700">
            <a:solidFill>
              <a:srgbClr val="EAEEFB"/>
            </a:solidFill>
            <a:prstDash val="solid"/>
          </a:ln>
        </p:spPr>
      </p:sp>
      <p:sp>
        <p:nvSpPr>
          <p:cNvPr id="22" name="Text 20"/>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68</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620317" cy="292608"/>
          </a:xfrm>
          <a:prstGeom prst="roundRect">
            <a:avLst>
              <a:gd name="adj" fmla="val 50000"/>
            </a:avLst>
          </a:prstGeom>
          <a:solidFill>
            <a:srgbClr val="8036F0"/>
          </a:solidFill>
          <a:ln w="12700">
            <a:solidFill>
              <a:srgbClr val="8036F0"/>
            </a:solidFill>
            <a:prstDash val="solid"/>
          </a:ln>
        </p:spPr>
      </p:sp>
      <p:sp>
        <p:nvSpPr>
          <p:cNvPr id="3" name="Text 1"/>
          <p:cNvSpPr txBox="1"/>
          <p:nvPr/>
        </p:nvSpPr>
        <p:spPr>
          <a:xfrm>
            <a:off x="502920" y="384048"/>
            <a:ext cx="1620317"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3 · Q&amp;A 3</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TPM interview questions and model answers</a:t>
            </a:r>
            <a:endParaRPr lang="en-US" sz="3100" dirty="0"/>
          </a:p>
        </p:txBody>
      </p:sp>
      <p:sp>
        <p:nvSpPr>
          <p:cNvPr id="5" name="Shape 3"/>
          <p:cNvSpPr/>
          <p:nvPr/>
        </p:nvSpPr>
        <p:spPr>
          <a:xfrm>
            <a:off x="502920" y="1627632"/>
            <a:ext cx="11183112" cy="1243584"/>
          </a:xfrm>
          <a:prstGeom prst="roundRect">
            <a:avLst>
              <a:gd name="adj" fmla="val 5882"/>
            </a:avLst>
          </a:prstGeom>
          <a:solidFill>
            <a:srgbClr val="FFFFFF"/>
          </a:solidFill>
          <a:ln w="12700">
            <a:solidFill>
              <a:srgbClr val="D8DEF2"/>
            </a:solidFill>
            <a:prstDash val="solid"/>
          </a:ln>
          <a:effectLst>
            <a:outerShdw sx="100000" sy="100000" kx="0" ky="0" algn="bl" rotWithShape="0" blurRad="101600" dist="19050" dir="5400000">
              <a:srgbClr val="8A93C0">
                <a:alpha val="15000"/>
              </a:srgbClr>
            </a:outerShdw>
          </a:effectLst>
        </p:spPr>
      </p:sp>
      <p:sp>
        <p:nvSpPr>
          <p:cNvPr id="6" name="Shape 4"/>
          <p:cNvSpPr/>
          <p:nvPr/>
        </p:nvSpPr>
        <p:spPr>
          <a:xfrm>
            <a:off x="740664" y="1865376"/>
            <a:ext cx="402336" cy="402336"/>
          </a:xfrm>
          <a:prstGeom prst="ellipse">
            <a:avLst/>
          </a:prstGeom>
          <a:solidFill>
            <a:srgbClr val="1364F4"/>
          </a:solidFill>
          <a:ln w="12700">
            <a:solidFill>
              <a:srgbClr val="1364F4"/>
            </a:solidFill>
            <a:prstDash val="solid"/>
          </a:ln>
        </p:spPr>
      </p:sp>
      <p:sp>
        <p:nvSpPr>
          <p:cNvPr id="7" name="Text 5"/>
          <p:cNvSpPr txBox="1"/>
          <p:nvPr/>
        </p:nvSpPr>
        <p:spPr>
          <a:xfrm>
            <a:off x="740664" y="186537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Q7</a:t>
            </a:r>
            <a:endParaRPr lang="en-US" sz="1100" dirty="0"/>
          </a:p>
        </p:txBody>
      </p:sp>
      <p:sp>
        <p:nvSpPr>
          <p:cNvPr id="8" name="Text 6"/>
          <p:cNvSpPr txBox="1"/>
          <p:nvPr/>
        </p:nvSpPr>
        <p:spPr>
          <a:xfrm>
            <a:off x="1289304" y="1810512"/>
            <a:ext cx="10131552" cy="365760"/>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How do you manage scope creep?</a:t>
            </a:r>
            <a:endParaRPr lang="en-US" sz="1500" dirty="0"/>
          </a:p>
        </p:txBody>
      </p:sp>
      <p:sp>
        <p:nvSpPr>
          <p:cNvPr id="9" name="Text 7"/>
          <p:cNvSpPr txBox="1"/>
          <p:nvPr/>
        </p:nvSpPr>
        <p:spPr>
          <a:xfrm>
            <a:off x="1289304" y="2194560"/>
            <a:ext cx="10131552" cy="51206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I make every scope change visible, assess its impact on the sprint goal and capacity, and require an explicit decision. If new scope enters, either capacity or existing scope must change — those are the only two options. Jira history and sprint reports preserve traceability. Silent scope expansion is the single most common cause of a sprint that looks fine and then misses.</a:t>
            </a:r>
            <a:endParaRPr lang="en-US" sz="1200" dirty="0"/>
          </a:p>
        </p:txBody>
      </p:sp>
      <p:sp>
        <p:nvSpPr>
          <p:cNvPr id="10" name="Shape 8"/>
          <p:cNvSpPr/>
          <p:nvPr/>
        </p:nvSpPr>
        <p:spPr>
          <a:xfrm>
            <a:off x="502920" y="3072384"/>
            <a:ext cx="11183112" cy="1243584"/>
          </a:xfrm>
          <a:prstGeom prst="roundRect">
            <a:avLst>
              <a:gd name="adj" fmla="val 5882"/>
            </a:avLst>
          </a:prstGeom>
          <a:solidFill>
            <a:srgbClr val="FFFFFF"/>
          </a:solidFill>
          <a:ln w="12700">
            <a:solidFill>
              <a:srgbClr val="D8DEF2"/>
            </a:solidFill>
            <a:prstDash val="solid"/>
          </a:ln>
          <a:effectLst>
            <a:outerShdw sx="100000" sy="100000" kx="0" ky="0" algn="bl" rotWithShape="0" blurRad="101600" dist="19050" dir="5400000">
              <a:srgbClr val="8A93C0">
                <a:alpha val="15000"/>
              </a:srgbClr>
            </a:outerShdw>
          </a:effectLst>
        </p:spPr>
      </p:sp>
      <p:sp>
        <p:nvSpPr>
          <p:cNvPr id="11" name="Shape 9"/>
          <p:cNvSpPr/>
          <p:nvPr/>
        </p:nvSpPr>
        <p:spPr>
          <a:xfrm>
            <a:off x="740664" y="3310128"/>
            <a:ext cx="402336" cy="402336"/>
          </a:xfrm>
          <a:prstGeom prst="ellipse">
            <a:avLst/>
          </a:prstGeom>
          <a:solidFill>
            <a:srgbClr val="00B3A4"/>
          </a:solidFill>
          <a:ln w="12700">
            <a:solidFill>
              <a:srgbClr val="00B3A4"/>
            </a:solidFill>
            <a:prstDash val="solid"/>
          </a:ln>
        </p:spPr>
      </p:sp>
      <p:sp>
        <p:nvSpPr>
          <p:cNvPr id="12" name="Text 10"/>
          <p:cNvSpPr txBox="1"/>
          <p:nvPr/>
        </p:nvSpPr>
        <p:spPr>
          <a:xfrm>
            <a:off x="740664" y="331012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Q8</a:t>
            </a:r>
            <a:endParaRPr lang="en-US" sz="1100" dirty="0"/>
          </a:p>
        </p:txBody>
      </p:sp>
      <p:sp>
        <p:nvSpPr>
          <p:cNvPr id="13" name="Text 11"/>
          <p:cNvSpPr txBox="1"/>
          <p:nvPr/>
        </p:nvSpPr>
        <p:spPr>
          <a:xfrm>
            <a:off x="1289304" y="3255264"/>
            <a:ext cx="10131552" cy="365760"/>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What makes a good acceptance criterion?</a:t>
            </a:r>
            <a:endParaRPr lang="en-US" sz="1500" dirty="0"/>
          </a:p>
        </p:txBody>
      </p:sp>
      <p:sp>
        <p:nvSpPr>
          <p:cNvPr id="14" name="Text 12"/>
          <p:cNvSpPr txBox="1"/>
          <p:nvPr/>
        </p:nvSpPr>
        <p:spPr>
          <a:xfrm>
            <a:off x="1289304" y="3639312"/>
            <a:ext cx="10131552" cy="51206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It is observable, testable and unambiguous. It describes expected behaviour and outcome rather than implementation, unless the implementation is itself the requirement. It should let QA validate and a stakeholder sign off without a conversation. Good criteria reduce rework and remove the argument about whether something is actually done.</a:t>
            </a:r>
            <a:endParaRPr lang="en-US" sz="1200" dirty="0"/>
          </a:p>
        </p:txBody>
      </p:sp>
      <p:sp>
        <p:nvSpPr>
          <p:cNvPr id="15" name="Shape 13"/>
          <p:cNvSpPr/>
          <p:nvPr/>
        </p:nvSpPr>
        <p:spPr>
          <a:xfrm>
            <a:off x="502920" y="4517136"/>
            <a:ext cx="11183112" cy="1243584"/>
          </a:xfrm>
          <a:prstGeom prst="roundRect">
            <a:avLst>
              <a:gd name="adj" fmla="val 5882"/>
            </a:avLst>
          </a:prstGeom>
          <a:solidFill>
            <a:srgbClr val="FFFFFF"/>
          </a:solidFill>
          <a:ln w="12700">
            <a:solidFill>
              <a:srgbClr val="D8DEF2"/>
            </a:solidFill>
            <a:prstDash val="solid"/>
          </a:ln>
          <a:effectLst>
            <a:outerShdw sx="100000" sy="100000" kx="0" ky="0" algn="bl" rotWithShape="0" blurRad="101600" dist="19050" dir="5400000">
              <a:srgbClr val="8A93C0">
                <a:alpha val="15000"/>
              </a:srgbClr>
            </a:outerShdw>
          </a:effectLst>
        </p:spPr>
      </p:sp>
      <p:sp>
        <p:nvSpPr>
          <p:cNvPr id="16" name="Shape 14"/>
          <p:cNvSpPr/>
          <p:nvPr/>
        </p:nvSpPr>
        <p:spPr>
          <a:xfrm>
            <a:off x="740664" y="4754880"/>
            <a:ext cx="402336" cy="402336"/>
          </a:xfrm>
          <a:prstGeom prst="ellipse">
            <a:avLst/>
          </a:prstGeom>
          <a:solidFill>
            <a:srgbClr val="F4436C"/>
          </a:solidFill>
          <a:ln w="12700">
            <a:solidFill>
              <a:srgbClr val="F4436C"/>
            </a:solidFill>
            <a:prstDash val="solid"/>
          </a:ln>
        </p:spPr>
      </p:sp>
      <p:sp>
        <p:nvSpPr>
          <p:cNvPr id="17" name="Text 15"/>
          <p:cNvSpPr txBox="1"/>
          <p:nvPr/>
        </p:nvSpPr>
        <p:spPr>
          <a:xfrm>
            <a:off x="740664" y="475488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Q9</a:t>
            </a:r>
            <a:endParaRPr lang="en-US" sz="1100" dirty="0"/>
          </a:p>
        </p:txBody>
      </p:sp>
      <p:sp>
        <p:nvSpPr>
          <p:cNvPr id="18" name="Text 16"/>
          <p:cNvSpPr txBox="1"/>
          <p:nvPr/>
        </p:nvSpPr>
        <p:spPr>
          <a:xfrm>
            <a:off x="1289304" y="4700016"/>
            <a:ext cx="10131552" cy="365760"/>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How do you manage AI product delivery?</a:t>
            </a:r>
            <a:endParaRPr lang="en-US" sz="1500" dirty="0"/>
          </a:p>
        </p:txBody>
      </p:sp>
      <p:sp>
        <p:nvSpPr>
          <p:cNvPr id="19" name="Text 17"/>
          <p:cNvSpPr txBox="1"/>
          <p:nvPr/>
        </p:nvSpPr>
        <p:spPr>
          <a:xfrm>
            <a:off x="1289304" y="5084064"/>
            <a:ext cx="10131552" cy="51206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On top of normal delivery I track data readiness, evaluation metrics, model and API dependencies, safety and monitoring. I define measurable quality thresholds and test cases before production, keep model experimentation separate from production integration, and plan rollback and fallback behaviour for model or API failure. An AI feature without a fallback is an outage waiting for a date.</a:t>
            </a:r>
            <a:endParaRPr lang="en-US" sz="1200" dirty="0"/>
          </a:p>
        </p:txBody>
      </p:sp>
      <p:sp>
        <p:nvSpPr>
          <p:cNvPr id="20" name="Text 18"/>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1" name="Shape 19"/>
          <p:cNvSpPr/>
          <p:nvPr/>
        </p:nvSpPr>
        <p:spPr>
          <a:xfrm>
            <a:off x="11375136" y="6382512"/>
            <a:ext cx="310896" cy="310896"/>
          </a:xfrm>
          <a:prstGeom prst="ellipse">
            <a:avLst/>
          </a:prstGeom>
          <a:solidFill>
            <a:srgbClr val="EAEEFB"/>
          </a:solidFill>
          <a:ln w="12700">
            <a:solidFill>
              <a:srgbClr val="EAEEFB"/>
            </a:solidFill>
            <a:prstDash val="solid"/>
          </a:ln>
        </p:spPr>
      </p:sp>
      <p:sp>
        <p:nvSpPr>
          <p:cNvPr id="22" name="Text 20"/>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69</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620317" cy="292608"/>
          </a:xfrm>
          <a:prstGeom prst="roundRect">
            <a:avLst>
              <a:gd name="adj" fmla="val 50000"/>
            </a:avLst>
          </a:prstGeom>
          <a:solidFill>
            <a:srgbClr val="FFB01F"/>
          </a:solidFill>
          <a:ln w="12700">
            <a:solidFill>
              <a:srgbClr val="FFB01F"/>
            </a:solidFill>
            <a:prstDash val="solid"/>
          </a:ln>
        </p:spPr>
      </p:sp>
      <p:sp>
        <p:nvSpPr>
          <p:cNvPr id="3" name="Text 1"/>
          <p:cNvSpPr txBox="1"/>
          <p:nvPr/>
        </p:nvSpPr>
        <p:spPr>
          <a:xfrm>
            <a:off x="502920" y="384048"/>
            <a:ext cx="1620317"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3 · Q&amp;A 4</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TPM interview questions and model answers</a:t>
            </a:r>
            <a:endParaRPr lang="en-US" sz="3100" dirty="0"/>
          </a:p>
        </p:txBody>
      </p:sp>
      <p:sp>
        <p:nvSpPr>
          <p:cNvPr id="5" name="Shape 3"/>
          <p:cNvSpPr/>
          <p:nvPr/>
        </p:nvSpPr>
        <p:spPr>
          <a:xfrm>
            <a:off x="502920" y="1627632"/>
            <a:ext cx="11183112" cy="1243584"/>
          </a:xfrm>
          <a:prstGeom prst="roundRect">
            <a:avLst>
              <a:gd name="adj" fmla="val 5882"/>
            </a:avLst>
          </a:prstGeom>
          <a:solidFill>
            <a:srgbClr val="FFFFFF"/>
          </a:solidFill>
          <a:ln w="12700">
            <a:solidFill>
              <a:srgbClr val="D8DEF2"/>
            </a:solidFill>
            <a:prstDash val="solid"/>
          </a:ln>
          <a:effectLst>
            <a:outerShdw sx="100000" sy="100000" kx="0" ky="0" algn="bl" rotWithShape="0" blurRad="101600" dist="19050" dir="5400000">
              <a:srgbClr val="8A93C0">
                <a:alpha val="15000"/>
              </a:srgbClr>
            </a:outerShdw>
          </a:effectLst>
        </p:spPr>
      </p:sp>
      <p:sp>
        <p:nvSpPr>
          <p:cNvPr id="6" name="Shape 4"/>
          <p:cNvSpPr/>
          <p:nvPr/>
        </p:nvSpPr>
        <p:spPr>
          <a:xfrm>
            <a:off x="740664" y="1865376"/>
            <a:ext cx="402336" cy="402336"/>
          </a:xfrm>
          <a:prstGeom prst="ellipse">
            <a:avLst/>
          </a:prstGeom>
          <a:solidFill>
            <a:srgbClr val="8036F0"/>
          </a:solidFill>
          <a:ln w="12700">
            <a:solidFill>
              <a:srgbClr val="8036F0"/>
            </a:solidFill>
            <a:prstDash val="solid"/>
          </a:ln>
        </p:spPr>
      </p:sp>
      <p:sp>
        <p:nvSpPr>
          <p:cNvPr id="7" name="Text 5"/>
          <p:cNvSpPr txBox="1"/>
          <p:nvPr/>
        </p:nvSpPr>
        <p:spPr>
          <a:xfrm>
            <a:off x="740664" y="186537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Q10</a:t>
            </a:r>
            <a:endParaRPr lang="en-US" sz="1100" dirty="0"/>
          </a:p>
        </p:txBody>
      </p:sp>
      <p:sp>
        <p:nvSpPr>
          <p:cNvPr id="8" name="Text 6"/>
          <p:cNvSpPr txBox="1"/>
          <p:nvPr/>
        </p:nvSpPr>
        <p:spPr>
          <a:xfrm>
            <a:off x="1289304" y="1810512"/>
            <a:ext cx="10131552" cy="365760"/>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How do you handle cross-team dependencies?</a:t>
            </a:r>
            <a:endParaRPr lang="en-US" sz="1500" dirty="0"/>
          </a:p>
        </p:txBody>
      </p:sp>
      <p:sp>
        <p:nvSpPr>
          <p:cNvPr id="9" name="Text 7"/>
          <p:cNvSpPr txBox="1"/>
          <p:nvPr/>
        </p:nvSpPr>
        <p:spPr>
          <a:xfrm>
            <a:off x="1289304" y="2194560"/>
            <a:ext cx="10131552" cy="51206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I build a dependency map with upstream and downstream teams, the owner, the required artefact, the due date, the impact and the escalation path, and link it in Jira wherever the tool allows. Critical dependencies get recurring checkpoints rather than ad-hoc chasing. Escalation is triggered by agreed impact thresholds, not by frustration.</a:t>
            </a:r>
            <a:endParaRPr lang="en-US" sz="1200" dirty="0"/>
          </a:p>
        </p:txBody>
      </p:sp>
      <p:sp>
        <p:nvSpPr>
          <p:cNvPr id="10" name="Shape 8"/>
          <p:cNvSpPr/>
          <p:nvPr/>
        </p:nvSpPr>
        <p:spPr>
          <a:xfrm>
            <a:off x="502920" y="3072384"/>
            <a:ext cx="11183112" cy="1243584"/>
          </a:xfrm>
          <a:prstGeom prst="roundRect">
            <a:avLst>
              <a:gd name="adj" fmla="val 5882"/>
            </a:avLst>
          </a:prstGeom>
          <a:solidFill>
            <a:srgbClr val="FFFFFF"/>
          </a:solidFill>
          <a:ln w="12700">
            <a:solidFill>
              <a:srgbClr val="D8DEF2"/>
            </a:solidFill>
            <a:prstDash val="solid"/>
          </a:ln>
          <a:effectLst>
            <a:outerShdw sx="100000" sy="100000" kx="0" ky="0" algn="bl" rotWithShape="0" blurRad="101600" dist="19050" dir="5400000">
              <a:srgbClr val="8A93C0">
                <a:alpha val="15000"/>
              </a:srgbClr>
            </a:outerShdw>
          </a:effectLst>
        </p:spPr>
      </p:sp>
      <p:sp>
        <p:nvSpPr>
          <p:cNvPr id="11" name="Shape 9"/>
          <p:cNvSpPr/>
          <p:nvPr/>
        </p:nvSpPr>
        <p:spPr>
          <a:xfrm>
            <a:off x="740664" y="3310128"/>
            <a:ext cx="402336" cy="402336"/>
          </a:xfrm>
          <a:prstGeom prst="ellipse">
            <a:avLst/>
          </a:prstGeom>
          <a:solidFill>
            <a:srgbClr val="FFB01F"/>
          </a:solidFill>
          <a:ln w="12700">
            <a:solidFill>
              <a:srgbClr val="FFB01F"/>
            </a:solidFill>
            <a:prstDash val="solid"/>
          </a:ln>
        </p:spPr>
      </p:sp>
      <p:sp>
        <p:nvSpPr>
          <p:cNvPr id="12" name="Text 10"/>
          <p:cNvSpPr txBox="1"/>
          <p:nvPr/>
        </p:nvSpPr>
        <p:spPr>
          <a:xfrm>
            <a:off x="740664" y="331012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Q11</a:t>
            </a:r>
            <a:endParaRPr lang="en-US" sz="1100" dirty="0"/>
          </a:p>
        </p:txBody>
      </p:sp>
      <p:sp>
        <p:nvSpPr>
          <p:cNvPr id="13" name="Text 11"/>
          <p:cNvSpPr txBox="1"/>
          <p:nvPr/>
        </p:nvSpPr>
        <p:spPr>
          <a:xfrm>
            <a:off x="1289304" y="3255264"/>
            <a:ext cx="10131552" cy="365760"/>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How do you measure sprint health?</a:t>
            </a:r>
            <a:endParaRPr lang="en-US" sz="1500" dirty="0"/>
          </a:p>
        </p:txBody>
      </p:sp>
      <p:sp>
        <p:nvSpPr>
          <p:cNvPr id="14" name="Text 12"/>
          <p:cNvSpPr txBox="1"/>
          <p:nvPr/>
        </p:nvSpPr>
        <p:spPr>
          <a:xfrm>
            <a:off x="1289304" y="3639312"/>
            <a:ext cx="10131552" cy="51206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By combining goal progress, remaining work, flow, blockers, risk age, scope change and quality signals. A sprint with many completed points can still be unhealthy if the critical path is blocked — which is precisely the situation the ATSL-5 risk created. I use quantitative charts alongside qualitative risk commentary, and the sprint goal remains the primary measure.</a:t>
            </a:r>
            <a:endParaRPr lang="en-US" sz="1200" dirty="0"/>
          </a:p>
        </p:txBody>
      </p:sp>
      <p:sp>
        <p:nvSpPr>
          <p:cNvPr id="15" name="Shape 13"/>
          <p:cNvSpPr/>
          <p:nvPr/>
        </p:nvSpPr>
        <p:spPr>
          <a:xfrm>
            <a:off x="502920" y="4517136"/>
            <a:ext cx="11183112" cy="1243584"/>
          </a:xfrm>
          <a:prstGeom prst="roundRect">
            <a:avLst>
              <a:gd name="adj" fmla="val 5882"/>
            </a:avLst>
          </a:prstGeom>
          <a:solidFill>
            <a:srgbClr val="FFFFFF"/>
          </a:solidFill>
          <a:ln w="12700">
            <a:solidFill>
              <a:srgbClr val="D8DEF2"/>
            </a:solidFill>
            <a:prstDash val="solid"/>
          </a:ln>
          <a:effectLst>
            <a:outerShdw sx="100000" sy="100000" kx="0" ky="0" algn="bl" rotWithShape="0" blurRad="101600" dist="19050" dir="5400000">
              <a:srgbClr val="8A93C0">
                <a:alpha val="15000"/>
              </a:srgbClr>
            </a:outerShdw>
          </a:effectLst>
        </p:spPr>
      </p:sp>
      <p:sp>
        <p:nvSpPr>
          <p:cNvPr id="16" name="Shape 14"/>
          <p:cNvSpPr/>
          <p:nvPr/>
        </p:nvSpPr>
        <p:spPr>
          <a:xfrm>
            <a:off x="740664" y="4754880"/>
            <a:ext cx="402336" cy="402336"/>
          </a:xfrm>
          <a:prstGeom prst="ellipse">
            <a:avLst/>
          </a:prstGeom>
          <a:solidFill>
            <a:srgbClr val="16A34A"/>
          </a:solidFill>
          <a:ln w="12700">
            <a:solidFill>
              <a:srgbClr val="16A34A"/>
            </a:solidFill>
            <a:prstDash val="solid"/>
          </a:ln>
        </p:spPr>
      </p:sp>
      <p:sp>
        <p:nvSpPr>
          <p:cNvPr id="17" name="Text 15"/>
          <p:cNvSpPr txBox="1"/>
          <p:nvPr/>
        </p:nvSpPr>
        <p:spPr>
          <a:xfrm>
            <a:off x="740664" y="475488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Q12</a:t>
            </a:r>
            <a:endParaRPr lang="en-US" sz="1100" dirty="0"/>
          </a:p>
        </p:txBody>
      </p:sp>
      <p:sp>
        <p:nvSpPr>
          <p:cNvPr id="18" name="Text 16"/>
          <p:cNvSpPr txBox="1"/>
          <p:nvPr/>
        </p:nvSpPr>
        <p:spPr>
          <a:xfrm>
            <a:off x="1289304" y="4700016"/>
            <a:ext cx="10131552" cy="365760"/>
          </a:xfrm>
          <a:prstGeom prst="rect">
            <a:avLst/>
          </a:prstGeom>
          <a:noFill/>
          <a:ln/>
        </p:spPr>
        <p:txBody>
          <a:bodyPr wrap="square" lIns="0" tIns="0" rIns="0" bIns="0" rtlCol="0" anchor="ctr"/>
          <a:lstStyle/>
          <a:p>
            <a:pPr indent="0" marL="0">
              <a:buNone/>
            </a:pPr>
            <a:r>
              <a:rPr lang="en-US" sz="1500" b="1" dirty="0">
                <a:solidFill>
                  <a:srgbClr val="100B2E"/>
                </a:solidFill>
                <a:latin typeface="Calibri" pitchFamily="34" charset="0"/>
                <a:ea typeface="Calibri" pitchFamily="34" charset="-122"/>
                <a:cs typeface="Calibri" pitchFamily="34" charset="-120"/>
              </a:rPr>
              <a:t>What would you improve next?</a:t>
            </a:r>
            <a:endParaRPr lang="en-US" sz="1500" dirty="0"/>
          </a:p>
        </p:txBody>
      </p:sp>
      <p:sp>
        <p:nvSpPr>
          <p:cNvPr id="19" name="Text 17"/>
          <p:cNvSpPr txBox="1"/>
          <p:nvPr/>
        </p:nvSpPr>
        <p:spPr>
          <a:xfrm>
            <a:off x="1289304" y="5084064"/>
            <a:ext cx="10131552" cy="512064"/>
          </a:xfrm>
          <a:prstGeom prst="rect">
            <a:avLst/>
          </a:prstGeom>
          <a:noFill/>
          <a:ln/>
        </p:spPr>
        <p:txBody>
          <a:bodyPr wrap="square" lIns="0" tIns="0" rIns="0" bIns="0" rtlCol="0" anchor="ctr"/>
          <a:lstStyle/>
          <a:p>
            <a:pPr indent="0" marL="0">
              <a:lnSpc>
                <a:spcPts val="1700"/>
              </a:lnSpc>
              <a:buNone/>
            </a:pPr>
            <a:r>
              <a:rPr lang="en-US" sz="1200" dirty="0">
                <a:solidFill>
                  <a:srgbClr val="5B6180"/>
                </a:solidFill>
                <a:latin typeface="Calibri" pitchFamily="34" charset="0"/>
                <a:ea typeface="Calibri" pitchFamily="34" charset="-122"/>
                <a:cs typeface="Calibri" pitchFamily="34" charset="-120"/>
              </a:rPr>
              <a:t>Automation for risk ageing, dependency reminders and stakeholder status summaries. Integration of engineering delivery signals — pull requests, deployments and test results — so the dashboard reflects reality rather than Jira hygiene. And product metrics such as ticket deflection, routing accuracy and priority-prediction precision and recall, so delivery is judged by outcome.</a:t>
            </a:r>
            <a:endParaRPr lang="en-US" sz="1200" dirty="0"/>
          </a:p>
        </p:txBody>
      </p:sp>
      <p:sp>
        <p:nvSpPr>
          <p:cNvPr id="20" name="Text 18"/>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1" name="Shape 19"/>
          <p:cNvSpPr/>
          <p:nvPr/>
        </p:nvSpPr>
        <p:spPr>
          <a:xfrm>
            <a:off x="11375136" y="6382512"/>
            <a:ext cx="310896" cy="310896"/>
          </a:xfrm>
          <a:prstGeom prst="ellipse">
            <a:avLst/>
          </a:prstGeom>
          <a:solidFill>
            <a:srgbClr val="EAEEFB"/>
          </a:solidFill>
          <a:ln w="12700">
            <a:solidFill>
              <a:srgbClr val="EAEEFB"/>
            </a:solidFill>
            <a:prstDash val="solid"/>
          </a:ln>
        </p:spPr>
      </p:sp>
      <p:sp>
        <p:nvSpPr>
          <p:cNvPr id="22" name="Text 20"/>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70</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530706" cy="292608"/>
          </a:xfrm>
          <a:prstGeom prst="roundRect">
            <a:avLst>
              <a:gd name="adj" fmla="val 50000"/>
            </a:avLst>
          </a:prstGeom>
          <a:solidFill>
            <a:srgbClr val="FFB01F"/>
          </a:solidFill>
          <a:ln w="12700">
            <a:solidFill>
              <a:srgbClr val="FFB01F"/>
            </a:solidFill>
            <a:prstDash val="solid"/>
          </a:ln>
        </p:spPr>
      </p:sp>
      <p:sp>
        <p:nvSpPr>
          <p:cNvPr id="3" name="Text 1"/>
          <p:cNvSpPr txBox="1"/>
          <p:nvPr/>
        </p:nvSpPr>
        <p:spPr>
          <a:xfrm>
            <a:off x="502920" y="384048"/>
            <a:ext cx="1530706"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PART 3 · STAR</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Two delivery stories, told in STAR format</a:t>
            </a:r>
            <a:endParaRPr lang="en-US" sz="3100" dirty="0"/>
          </a:p>
        </p:txBody>
      </p:sp>
      <p:sp>
        <p:nvSpPr>
          <p:cNvPr id="5" name="Shape 3"/>
          <p:cNvSpPr/>
          <p:nvPr/>
        </p:nvSpPr>
        <p:spPr>
          <a:xfrm>
            <a:off x="502920" y="1627632"/>
            <a:ext cx="5436108" cy="4114800"/>
          </a:xfrm>
          <a:prstGeom prst="roundRect">
            <a:avLst>
              <a:gd name="adj" fmla="val 1778"/>
            </a:avLst>
          </a:prstGeom>
          <a:solidFill>
            <a:srgbClr val="FFFFFF"/>
          </a:solidFill>
          <a:ln w="12700">
            <a:solidFill>
              <a:srgbClr val="D8DEF2"/>
            </a:solidFill>
            <a:prstDash val="solid"/>
          </a:ln>
          <a:effectLst>
            <a:outerShdw sx="100000" sy="100000" kx="0" ky="0" algn="bl" rotWithShape="0" blurRad="101600" dist="19050" dir="5400000">
              <a:srgbClr val="8A93C0">
                <a:alpha val="16000"/>
              </a:srgbClr>
            </a:outerShdw>
          </a:effectLst>
        </p:spPr>
      </p:sp>
      <p:sp>
        <p:nvSpPr>
          <p:cNvPr id="6" name="Shape 4"/>
          <p:cNvSpPr/>
          <p:nvPr/>
        </p:nvSpPr>
        <p:spPr>
          <a:xfrm>
            <a:off x="704088" y="1810512"/>
            <a:ext cx="5033772" cy="402336"/>
          </a:xfrm>
          <a:prstGeom prst="roundRect">
            <a:avLst>
              <a:gd name="adj" fmla="val 18182"/>
            </a:avLst>
          </a:prstGeom>
          <a:solidFill>
            <a:srgbClr val="F4436C"/>
          </a:solidFill>
          <a:ln w="12700">
            <a:solidFill>
              <a:srgbClr val="F4436C"/>
            </a:solidFill>
            <a:prstDash val="solid"/>
          </a:ln>
        </p:spPr>
      </p:sp>
      <p:sp>
        <p:nvSpPr>
          <p:cNvPr id="7" name="Text 5"/>
          <p:cNvSpPr txBox="1"/>
          <p:nvPr/>
        </p:nvSpPr>
        <p:spPr>
          <a:xfrm>
            <a:off x="704088" y="1810512"/>
            <a:ext cx="5033772"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Dependency escalation</a:t>
            </a:r>
            <a:endParaRPr lang="en-US" sz="1400" dirty="0"/>
          </a:p>
        </p:txBody>
      </p:sp>
      <p:sp>
        <p:nvSpPr>
          <p:cNvPr id="8" name="Text 6"/>
          <p:cNvSpPr txBox="1"/>
          <p:nvPr/>
        </p:nvSpPr>
        <p:spPr>
          <a:xfrm>
            <a:off x="758952" y="2359152"/>
            <a:ext cx="914400" cy="274320"/>
          </a:xfrm>
          <a:prstGeom prst="rect">
            <a:avLst/>
          </a:prstGeom>
          <a:noFill/>
          <a:ln/>
        </p:spPr>
        <p:txBody>
          <a:bodyPr wrap="square" lIns="0" tIns="0" rIns="0" bIns="0" rtlCol="0" anchor="ctr"/>
          <a:lstStyle/>
          <a:p>
            <a:pPr indent="0" marL="0">
              <a:buNone/>
            </a:pPr>
            <a:r>
              <a:rPr lang="en-US" sz="950" b="1" spc="120" kern="0" dirty="0">
                <a:solidFill>
                  <a:srgbClr val="F4436C"/>
                </a:solidFill>
                <a:latin typeface="Calibri" pitchFamily="34" charset="0"/>
                <a:ea typeface="Calibri" pitchFamily="34" charset="-122"/>
                <a:cs typeface="Calibri" pitchFamily="34" charset="-120"/>
              </a:rPr>
              <a:t>SITUATION</a:t>
            </a:r>
            <a:endParaRPr lang="en-US" sz="950" dirty="0"/>
          </a:p>
        </p:txBody>
      </p:sp>
      <p:sp>
        <p:nvSpPr>
          <p:cNvPr id="9" name="Text 7"/>
          <p:cNvSpPr txBox="1"/>
          <p:nvPr/>
        </p:nvSpPr>
        <p:spPr>
          <a:xfrm>
            <a:off x="758952" y="2596896"/>
            <a:ext cx="4924044" cy="585216"/>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AI priority prediction (ATSL-2) depended on an external AI Prediction API whose readiness date was uncertain.</a:t>
            </a:r>
            <a:endParaRPr lang="en-US" sz="1150" dirty="0"/>
          </a:p>
        </p:txBody>
      </p:sp>
      <p:sp>
        <p:nvSpPr>
          <p:cNvPr id="10" name="Text 8"/>
          <p:cNvSpPr txBox="1"/>
          <p:nvPr/>
        </p:nvSpPr>
        <p:spPr>
          <a:xfrm>
            <a:off x="758952" y="3200400"/>
            <a:ext cx="914400" cy="274320"/>
          </a:xfrm>
          <a:prstGeom prst="rect">
            <a:avLst/>
          </a:prstGeom>
          <a:noFill/>
          <a:ln/>
        </p:spPr>
        <p:txBody>
          <a:bodyPr wrap="square" lIns="0" tIns="0" rIns="0" bIns="0" rtlCol="0" anchor="ctr"/>
          <a:lstStyle/>
          <a:p>
            <a:pPr indent="0" marL="0">
              <a:buNone/>
            </a:pPr>
            <a:r>
              <a:rPr lang="en-US" sz="950" b="1" spc="120" kern="0" dirty="0">
                <a:solidFill>
                  <a:srgbClr val="F4436C"/>
                </a:solidFill>
                <a:latin typeface="Calibri" pitchFamily="34" charset="0"/>
                <a:ea typeface="Calibri" pitchFamily="34" charset="-122"/>
                <a:cs typeface="Calibri" pitchFamily="34" charset="-120"/>
              </a:rPr>
              <a:t>TASK</a:t>
            </a:r>
            <a:endParaRPr lang="en-US" sz="950" dirty="0"/>
          </a:p>
        </p:txBody>
      </p:sp>
      <p:sp>
        <p:nvSpPr>
          <p:cNvPr id="11" name="Text 9"/>
          <p:cNvSpPr txBox="1"/>
          <p:nvPr/>
        </p:nvSpPr>
        <p:spPr>
          <a:xfrm>
            <a:off x="758952" y="3438144"/>
            <a:ext cx="4924044" cy="585216"/>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Protect the Sprint 1 delivery goal without pretending the dependency would resolve itself.</a:t>
            </a:r>
            <a:endParaRPr lang="en-US" sz="1150" dirty="0"/>
          </a:p>
        </p:txBody>
      </p:sp>
      <p:sp>
        <p:nvSpPr>
          <p:cNvPr id="12" name="Text 10"/>
          <p:cNvSpPr txBox="1"/>
          <p:nvPr/>
        </p:nvSpPr>
        <p:spPr>
          <a:xfrm>
            <a:off x="758952" y="4041648"/>
            <a:ext cx="914400" cy="274320"/>
          </a:xfrm>
          <a:prstGeom prst="rect">
            <a:avLst/>
          </a:prstGeom>
          <a:noFill/>
          <a:ln/>
        </p:spPr>
        <p:txBody>
          <a:bodyPr wrap="square" lIns="0" tIns="0" rIns="0" bIns="0" rtlCol="0" anchor="ctr"/>
          <a:lstStyle/>
          <a:p>
            <a:pPr indent="0" marL="0">
              <a:buNone/>
            </a:pPr>
            <a:r>
              <a:rPr lang="en-US" sz="950" b="1" spc="120" kern="0" dirty="0">
                <a:solidFill>
                  <a:srgbClr val="F4436C"/>
                </a:solidFill>
                <a:latin typeface="Calibri" pitchFamily="34" charset="0"/>
                <a:ea typeface="Calibri" pitchFamily="34" charset="-122"/>
                <a:cs typeface="Calibri" pitchFamily="34" charset="-120"/>
              </a:rPr>
              <a:t>ACTION</a:t>
            </a:r>
            <a:endParaRPr lang="en-US" sz="950" dirty="0"/>
          </a:p>
        </p:txBody>
      </p:sp>
      <p:sp>
        <p:nvSpPr>
          <p:cNvPr id="13" name="Text 11"/>
          <p:cNvSpPr txBox="1"/>
          <p:nvPr/>
        </p:nvSpPr>
        <p:spPr>
          <a:xfrm>
            <a:off x="758952" y="4279392"/>
            <a:ext cx="4924044" cy="585216"/>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Documented the risk as ATSL-5, linked it to ATSL-2, assigned the engineering owner, defined a mock-API mitigation and set a dated readiness checkpoint.</a:t>
            </a:r>
            <a:endParaRPr lang="en-US" sz="1150" dirty="0"/>
          </a:p>
        </p:txBody>
      </p:sp>
      <p:sp>
        <p:nvSpPr>
          <p:cNvPr id="14" name="Text 12"/>
          <p:cNvSpPr txBox="1"/>
          <p:nvPr/>
        </p:nvSpPr>
        <p:spPr>
          <a:xfrm>
            <a:off x="758952" y="4882896"/>
            <a:ext cx="914400" cy="274320"/>
          </a:xfrm>
          <a:prstGeom prst="rect">
            <a:avLst/>
          </a:prstGeom>
          <a:noFill/>
          <a:ln/>
        </p:spPr>
        <p:txBody>
          <a:bodyPr wrap="square" lIns="0" tIns="0" rIns="0" bIns="0" rtlCol="0" anchor="ctr"/>
          <a:lstStyle/>
          <a:p>
            <a:pPr indent="0" marL="0">
              <a:buNone/>
            </a:pPr>
            <a:r>
              <a:rPr lang="en-US" sz="950" b="1" spc="120" kern="0" dirty="0">
                <a:solidFill>
                  <a:srgbClr val="F4436C"/>
                </a:solidFill>
                <a:latin typeface="Calibri" pitchFamily="34" charset="0"/>
                <a:ea typeface="Calibri" pitchFamily="34" charset="-122"/>
                <a:cs typeface="Calibri" pitchFamily="34" charset="-120"/>
              </a:rPr>
              <a:t>RESULT</a:t>
            </a:r>
            <a:endParaRPr lang="en-US" sz="950" dirty="0"/>
          </a:p>
        </p:txBody>
      </p:sp>
      <p:sp>
        <p:nvSpPr>
          <p:cNvPr id="15" name="Text 13"/>
          <p:cNvSpPr txBox="1"/>
          <p:nvPr/>
        </p:nvSpPr>
        <p:spPr>
          <a:xfrm>
            <a:off x="758952" y="5120640"/>
            <a:ext cx="4924044" cy="585216"/>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Downstream delivery stayed visible and actionable. The slip was a managed decision at planning rather than a surprise at sprint review.</a:t>
            </a:r>
            <a:endParaRPr lang="en-US" sz="1150" dirty="0"/>
          </a:p>
        </p:txBody>
      </p:sp>
      <p:sp>
        <p:nvSpPr>
          <p:cNvPr id="16" name="Shape 14"/>
          <p:cNvSpPr/>
          <p:nvPr/>
        </p:nvSpPr>
        <p:spPr>
          <a:xfrm>
            <a:off x="6249924" y="1627632"/>
            <a:ext cx="5436108" cy="4114800"/>
          </a:xfrm>
          <a:prstGeom prst="roundRect">
            <a:avLst>
              <a:gd name="adj" fmla="val 1778"/>
            </a:avLst>
          </a:prstGeom>
          <a:solidFill>
            <a:srgbClr val="FFFFFF"/>
          </a:solidFill>
          <a:ln w="12700">
            <a:solidFill>
              <a:srgbClr val="D8DEF2"/>
            </a:solidFill>
            <a:prstDash val="solid"/>
          </a:ln>
          <a:effectLst>
            <a:outerShdw sx="100000" sy="100000" kx="0" ky="0" algn="bl" rotWithShape="0" blurRad="101600" dist="19050" dir="5400000">
              <a:srgbClr val="8A93C0">
                <a:alpha val="16000"/>
              </a:srgbClr>
            </a:outerShdw>
          </a:effectLst>
        </p:spPr>
      </p:sp>
      <p:sp>
        <p:nvSpPr>
          <p:cNvPr id="17" name="Shape 15"/>
          <p:cNvSpPr/>
          <p:nvPr/>
        </p:nvSpPr>
        <p:spPr>
          <a:xfrm>
            <a:off x="6451092" y="1810512"/>
            <a:ext cx="5033772" cy="402336"/>
          </a:xfrm>
          <a:prstGeom prst="roundRect">
            <a:avLst>
              <a:gd name="adj" fmla="val 18182"/>
            </a:avLst>
          </a:prstGeom>
          <a:solidFill>
            <a:srgbClr val="1364F4"/>
          </a:solidFill>
          <a:ln w="12700">
            <a:solidFill>
              <a:srgbClr val="1364F4"/>
            </a:solidFill>
            <a:prstDash val="solid"/>
          </a:ln>
        </p:spPr>
      </p:sp>
      <p:sp>
        <p:nvSpPr>
          <p:cNvPr id="18" name="Text 16"/>
          <p:cNvSpPr txBox="1"/>
          <p:nvPr/>
        </p:nvSpPr>
        <p:spPr>
          <a:xfrm>
            <a:off x="6451092" y="1810512"/>
            <a:ext cx="5033772"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Building the delivery dashboard</a:t>
            </a:r>
            <a:endParaRPr lang="en-US" sz="1400" dirty="0"/>
          </a:p>
        </p:txBody>
      </p:sp>
      <p:sp>
        <p:nvSpPr>
          <p:cNvPr id="19" name="Text 17"/>
          <p:cNvSpPr txBox="1"/>
          <p:nvPr/>
        </p:nvSpPr>
        <p:spPr>
          <a:xfrm>
            <a:off x="6505956" y="2359152"/>
            <a:ext cx="914400" cy="274320"/>
          </a:xfrm>
          <a:prstGeom prst="rect">
            <a:avLst/>
          </a:prstGeom>
          <a:noFill/>
          <a:ln/>
        </p:spPr>
        <p:txBody>
          <a:bodyPr wrap="square" lIns="0" tIns="0" rIns="0" bIns="0" rtlCol="0" anchor="ctr"/>
          <a:lstStyle/>
          <a:p>
            <a:pPr indent="0" marL="0">
              <a:buNone/>
            </a:pPr>
            <a:r>
              <a:rPr lang="en-US" sz="950" b="1" spc="120" kern="0" dirty="0">
                <a:solidFill>
                  <a:srgbClr val="1364F4"/>
                </a:solidFill>
                <a:latin typeface="Calibri" pitchFamily="34" charset="0"/>
                <a:ea typeface="Calibri" pitchFamily="34" charset="-122"/>
                <a:cs typeface="Calibri" pitchFamily="34" charset="-120"/>
              </a:rPr>
              <a:t>SITUATION</a:t>
            </a:r>
            <a:endParaRPr lang="en-US" sz="950" dirty="0"/>
          </a:p>
        </p:txBody>
      </p:sp>
      <p:sp>
        <p:nvSpPr>
          <p:cNvPr id="20" name="Text 18"/>
          <p:cNvSpPr txBox="1"/>
          <p:nvPr/>
        </p:nvSpPr>
        <p:spPr>
          <a:xfrm>
            <a:off x="6505956" y="2596896"/>
            <a:ext cx="4924044" cy="585216"/>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Delivery information was scattered across stories, risk items and blocked subtasks in two different projects.</a:t>
            </a:r>
            <a:endParaRPr lang="en-US" sz="1150" dirty="0"/>
          </a:p>
        </p:txBody>
      </p:sp>
      <p:sp>
        <p:nvSpPr>
          <p:cNvPr id="21" name="Text 19"/>
          <p:cNvSpPr txBox="1"/>
          <p:nvPr/>
        </p:nvSpPr>
        <p:spPr>
          <a:xfrm>
            <a:off x="6505956" y="3200400"/>
            <a:ext cx="914400" cy="274320"/>
          </a:xfrm>
          <a:prstGeom prst="rect">
            <a:avLst/>
          </a:prstGeom>
          <a:noFill/>
          <a:ln/>
        </p:spPr>
        <p:txBody>
          <a:bodyPr wrap="square" lIns="0" tIns="0" rIns="0" bIns="0" rtlCol="0" anchor="ctr"/>
          <a:lstStyle/>
          <a:p>
            <a:pPr indent="0" marL="0">
              <a:buNone/>
            </a:pPr>
            <a:r>
              <a:rPr lang="en-US" sz="950" b="1" spc="120" kern="0" dirty="0">
                <a:solidFill>
                  <a:srgbClr val="1364F4"/>
                </a:solidFill>
                <a:latin typeface="Calibri" pitchFamily="34" charset="0"/>
                <a:ea typeface="Calibri" pitchFamily="34" charset="-122"/>
                <a:cs typeface="Calibri" pitchFamily="34" charset="-120"/>
              </a:rPr>
              <a:t>TASK</a:t>
            </a:r>
            <a:endParaRPr lang="en-US" sz="950" dirty="0"/>
          </a:p>
        </p:txBody>
      </p:sp>
      <p:sp>
        <p:nvSpPr>
          <p:cNvPr id="22" name="Text 20"/>
          <p:cNvSpPr txBox="1"/>
          <p:nvPr/>
        </p:nvSpPr>
        <p:spPr>
          <a:xfrm>
            <a:off x="6505956" y="3438144"/>
            <a:ext cx="4924044" cy="585216"/>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Create a single view that answers what is blocked, what is risky, what is urgent and what is progressing.</a:t>
            </a:r>
            <a:endParaRPr lang="en-US" sz="1150" dirty="0"/>
          </a:p>
        </p:txBody>
      </p:sp>
      <p:sp>
        <p:nvSpPr>
          <p:cNvPr id="23" name="Text 21"/>
          <p:cNvSpPr txBox="1"/>
          <p:nvPr/>
        </p:nvSpPr>
        <p:spPr>
          <a:xfrm>
            <a:off x="6505956" y="4041648"/>
            <a:ext cx="914400" cy="274320"/>
          </a:xfrm>
          <a:prstGeom prst="rect">
            <a:avLst/>
          </a:prstGeom>
          <a:noFill/>
          <a:ln/>
        </p:spPr>
        <p:txBody>
          <a:bodyPr wrap="square" lIns="0" tIns="0" rIns="0" bIns="0" rtlCol="0" anchor="ctr"/>
          <a:lstStyle/>
          <a:p>
            <a:pPr indent="0" marL="0">
              <a:buNone/>
            </a:pPr>
            <a:r>
              <a:rPr lang="en-US" sz="950" b="1" spc="120" kern="0" dirty="0">
                <a:solidFill>
                  <a:srgbClr val="1364F4"/>
                </a:solidFill>
                <a:latin typeface="Calibri" pitchFamily="34" charset="0"/>
                <a:ea typeface="Calibri" pitchFamily="34" charset="-122"/>
                <a:cs typeface="Calibri" pitchFamily="34" charset="-120"/>
              </a:rPr>
              <a:t>ACTION</a:t>
            </a:r>
            <a:endParaRPr lang="en-US" sz="950" dirty="0"/>
          </a:p>
        </p:txBody>
      </p:sp>
      <p:sp>
        <p:nvSpPr>
          <p:cNvPr id="24" name="Text 22"/>
          <p:cNvSpPr txBox="1"/>
          <p:nvPr/>
        </p:nvSpPr>
        <p:spPr>
          <a:xfrm>
            <a:off x="6505956" y="4279392"/>
            <a:ext cx="4924044" cy="585216"/>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Wrote and saved JQL filters for risks, high-priority work and blockers, then bound each one to a dashboard gadget alongside a status pie chart.</a:t>
            </a:r>
            <a:endParaRPr lang="en-US" sz="1150" dirty="0"/>
          </a:p>
        </p:txBody>
      </p:sp>
      <p:sp>
        <p:nvSpPr>
          <p:cNvPr id="25" name="Text 23"/>
          <p:cNvSpPr txBox="1"/>
          <p:nvPr/>
        </p:nvSpPr>
        <p:spPr>
          <a:xfrm>
            <a:off x="6505956" y="4882896"/>
            <a:ext cx="914400" cy="274320"/>
          </a:xfrm>
          <a:prstGeom prst="rect">
            <a:avLst/>
          </a:prstGeom>
          <a:noFill/>
          <a:ln/>
        </p:spPr>
        <p:txBody>
          <a:bodyPr wrap="square" lIns="0" tIns="0" rIns="0" bIns="0" rtlCol="0" anchor="ctr"/>
          <a:lstStyle/>
          <a:p>
            <a:pPr indent="0" marL="0">
              <a:buNone/>
            </a:pPr>
            <a:r>
              <a:rPr lang="en-US" sz="950" b="1" spc="120" kern="0" dirty="0">
                <a:solidFill>
                  <a:srgbClr val="1364F4"/>
                </a:solidFill>
                <a:latin typeface="Calibri" pitchFamily="34" charset="0"/>
                <a:ea typeface="Calibri" pitchFamily="34" charset="-122"/>
                <a:cs typeface="Calibri" pitchFamily="34" charset="-120"/>
              </a:rPr>
              <a:t>RESULT</a:t>
            </a:r>
            <a:endParaRPr lang="en-US" sz="950" dirty="0"/>
          </a:p>
        </p:txBody>
      </p:sp>
      <p:sp>
        <p:nvSpPr>
          <p:cNvPr id="26" name="Text 24"/>
          <p:cNvSpPr txBox="1"/>
          <p:nvPr/>
        </p:nvSpPr>
        <p:spPr>
          <a:xfrm>
            <a:off x="6505956" y="5120640"/>
            <a:ext cx="4924044" cy="585216"/>
          </a:xfrm>
          <a:prstGeom prst="rect">
            <a:avLst/>
          </a:prstGeom>
          <a:noFill/>
          <a:ln/>
        </p:spPr>
        <p:txBody>
          <a:bodyPr wrap="square" lIns="0" tIns="0" rIns="0" bIns="0" rtlCol="0" anchor="ctr"/>
          <a:lstStyle/>
          <a:p>
            <a:pPr indent="0" marL="0">
              <a:lnSpc>
                <a:spcPts val="1600"/>
              </a:lnSpc>
              <a:buNone/>
            </a:pPr>
            <a:r>
              <a:rPr lang="en-US" sz="1150" dirty="0">
                <a:solidFill>
                  <a:srgbClr val="5B6180"/>
                </a:solidFill>
                <a:latin typeface="Calibri" pitchFamily="34" charset="0"/>
                <a:ea typeface="Calibri" pitchFamily="34" charset="-122"/>
                <a:cs typeface="Calibri" pitchFamily="34" charset="-120"/>
              </a:rPr>
              <a:t>Stakeholders can read delivery health, the open risk and the blocked item in seconds, without asking the TPM to assemble a report.</a:t>
            </a:r>
            <a:endParaRPr lang="en-US" sz="1150" dirty="0"/>
          </a:p>
        </p:txBody>
      </p:sp>
      <p:sp>
        <p:nvSpPr>
          <p:cNvPr id="27" name="Text 25"/>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28" name="Shape 26"/>
          <p:cNvSpPr/>
          <p:nvPr/>
        </p:nvSpPr>
        <p:spPr>
          <a:xfrm>
            <a:off x="11375136" y="6382512"/>
            <a:ext cx="310896" cy="310896"/>
          </a:xfrm>
          <a:prstGeom prst="ellipse">
            <a:avLst/>
          </a:prstGeom>
          <a:solidFill>
            <a:srgbClr val="EAEEFB"/>
          </a:solidFill>
          <a:ln w="12700">
            <a:solidFill>
              <a:srgbClr val="EAEEFB"/>
            </a:solidFill>
            <a:prstDash val="solid"/>
          </a:ln>
        </p:spPr>
      </p:sp>
      <p:sp>
        <p:nvSpPr>
          <p:cNvPr id="29" name="Text 27"/>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71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371600" cy="292608"/>
          </a:xfrm>
          <a:prstGeom prst="roundRect">
            <a:avLst>
              <a:gd name="adj" fmla="val 50000"/>
            </a:avLst>
          </a:prstGeom>
          <a:solidFill>
            <a:srgbClr val="16A34A"/>
          </a:solidFill>
          <a:ln w="12700">
            <a:solidFill>
              <a:srgbClr val="16A34A"/>
            </a:solidFill>
            <a:prstDash val="solid"/>
          </a:ln>
        </p:spPr>
      </p:sp>
      <p:sp>
        <p:nvSpPr>
          <p:cNvPr id="3" name="Text 1"/>
          <p:cNvSpPr txBox="1"/>
          <p:nvPr/>
        </p:nvSpPr>
        <p:spPr>
          <a:xfrm>
            <a:off x="502920" y="384048"/>
            <a:ext cx="137160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CLOSING</a:t>
            </a:r>
            <a:endParaRPr lang="en-US" sz="1050" dirty="0"/>
          </a:p>
        </p:txBody>
      </p:sp>
      <p:sp>
        <p:nvSpPr>
          <p:cNvPr id="4" name="Text 2"/>
          <p:cNvSpPr txBox="1"/>
          <p:nvPr/>
        </p:nvSpPr>
        <p:spPr>
          <a:xfrm>
            <a:off x="502920" y="786384"/>
            <a:ext cx="11183112" cy="676656"/>
          </a:xfrm>
          <a:prstGeom prst="rect">
            <a:avLst/>
          </a:prstGeom>
          <a:noFill/>
          <a:ln/>
        </p:spPr>
        <p:txBody>
          <a:bodyPr wrap="square" lIns="0" tIns="0" rIns="0" bIns="0" rtlCol="0" anchor="ctr"/>
          <a:lstStyle/>
          <a:p>
            <a:pPr indent="0" marL="0">
              <a:buNone/>
            </a:pPr>
            <a:r>
              <a:rPr lang="en-US" sz="3100" b="1" dirty="0">
                <a:solidFill>
                  <a:srgbClr val="100B2E"/>
                </a:solidFill>
                <a:latin typeface="Calibri" pitchFamily="34" charset="0"/>
                <a:ea typeface="Calibri" pitchFamily="34" charset="-122"/>
                <a:cs typeface="Calibri" pitchFamily="34" charset="-120"/>
              </a:rPr>
              <a:t>Project and submission checklist</a:t>
            </a:r>
            <a:endParaRPr lang="en-US" sz="3100" dirty="0"/>
          </a:p>
        </p:txBody>
      </p:sp>
      <p:sp>
        <p:nvSpPr>
          <p:cNvPr id="5" name="Shape 3"/>
          <p:cNvSpPr/>
          <p:nvPr/>
        </p:nvSpPr>
        <p:spPr>
          <a:xfrm>
            <a:off x="502920" y="1645920"/>
            <a:ext cx="5454396" cy="713232"/>
          </a:xfrm>
          <a:prstGeom prst="roundRect">
            <a:avLst>
              <a:gd name="adj" fmla="val 7692"/>
            </a:avLst>
          </a:prstGeom>
          <a:solidFill>
            <a:srgbClr val="F3F5FD"/>
          </a:solidFill>
          <a:ln w="12700">
            <a:solidFill>
              <a:srgbClr val="D8DEF2"/>
            </a:solidFill>
            <a:prstDash val="solid"/>
          </a:ln>
        </p:spPr>
      </p:sp>
      <p:sp>
        <p:nvSpPr>
          <p:cNvPr id="6" name="Shape 4"/>
          <p:cNvSpPr/>
          <p:nvPr/>
        </p:nvSpPr>
        <p:spPr>
          <a:xfrm>
            <a:off x="685800" y="1847088"/>
            <a:ext cx="310896" cy="310896"/>
          </a:xfrm>
          <a:prstGeom prst="ellipse">
            <a:avLst/>
          </a:prstGeom>
          <a:solidFill>
            <a:srgbClr val="1364F4"/>
          </a:solidFill>
          <a:ln w="12700">
            <a:solidFill>
              <a:srgbClr val="1364F4"/>
            </a:solidFill>
            <a:prstDash val="solid"/>
          </a:ln>
        </p:spPr>
      </p:sp>
      <p:sp>
        <p:nvSpPr>
          <p:cNvPr id="7" name="Text 5"/>
          <p:cNvSpPr txBox="1"/>
          <p:nvPr/>
        </p:nvSpPr>
        <p:spPr>
          <a:xfrm>
            <a:off x="685800" y="18470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8" name="Text 6"/>
          <p:cNvSpPr txBox="1"/>
          <p:nvPr/>
        </p:nvSpPr>
        <p:spPr>
          <a:xfrm>
            <a:off x="1106424" y="1682496"/>
            <a:ext cx="4668012" cy="640080"/>
          </a:xfrm>
          <a:prstGeom prst="rect">
            <a:avLst/>
          </a:prstGeom>
          <a:noFill/>
          <a:ln/>
        </p:spPr>
        <p:txBody>
          <a:bodyPr wrap="square" lIns="0" tIns="0" rIns="0" bIns="0" rtlCol="0" anchor="ctr"/>
          <a:lstStyle/>
          <a:p>
            <a:pPr indent="0" marL="0">
              <a:lnSpc>
                <a:spcPts val="1500"/>
              </a:lnSpc>
              <a:buNone/>
            </a:pPr>
            <a:r>
              <a:rPr lang="en-US" sz="1250" b="1" dirty="0">
                <a:solidFill>
                  <a:srgbClr val="100B2E"/>
                </a:solidFill>
                <a:latin typeface="Calibri" pitchFamily="34" charset="0"/>
                <a:ea typeface="Calibri" pitchFamily="34" charset="-122"/>
                <a:cs typeface="Calibri" pitchFamily="34" charset="-120"/>
              </a:rPr>
              <a:t>Jira practical work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Two projects created and run end to end: ATSL Scrum and KAN Kanban.</a:t>
            </a:r>
            <a:endParaRPr lang="en-US" sz="1250" dirty="0"/>
          </a:p>
        </p:txBody>
      </p:sp>
      <p:sp>
        <p:nvSpPr>
          <p:cNvPr id="9" name="Shape 7"/>
          <p:cNvSpPr/>
          <p:nvPr/>
        </p:nvSpPr>
        <p:spPr>
          <a:xfrm>
            <a:off x="6231636" y="1645920"/>
            <a:ext cx="5454396" cy="713232"/>
          </a:xfrm>
          <a:prstGeom prst="roundRect">
            <a:avLst>
              <a:gd name="adj" fmla="val 7692"/>
            </a:avLst>
          </a:prstGeom>
          <a:solidFill>
            <a:srgbClr val="F3F5FD"/>
          </a:solidFill>
          <a:ln w="12700">
            <a:solidFill>
              <a:srgbClr val="D8DEF2"/>
            </a:solidFill>
            <a:prstDash val="solid"/>
          </a:ln>
        </p:spPr>
      </p:sp>
      <p:sp>
        <p:nvSpPr>
          <p:cNvPr id="10" name="Shape 8"/>
          <p:cNvSpPr/>
          <p:nvPr/>
        </p:nvSpPr>
        <p:spPr>
          <a:xfrm>
            <a:off x="6414516" y="1847088"/>
            <a:ext cx="310896" cy="310896"/>
          </a:xfrm>
          <a:prstGeom prst="ellipse">
            <a:avLst/>
          </a:prstGeom>
          <a:solidFill>
            <a:srgbClr val="00B3A4"/>
          </a:solidFill>
          <a:ln w="12700">
            <a:solidFill>
              <a:srgbClr val="00B3A4"/>
            </a:solidFill>
            <a:prstDash val="solid"/>
          </a:ln>
        </p:spPr>
      </p:sp>
      <p:sp>
        <p:nvSpPr>
          <p:cNvPr id="11" name="Text 9"/>
          <p:cNvSpPr txBox="1"/>
          <p:nvPr/>
        </p:nvSpPr>
        <p:spPr>
          <a:xfrm>
            <a:off x="6414516" y="18470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txBox="1"/>
          <p:nvPr/>
        </p:nvSpPr>
        <p:spPr>
          <a:xfrm>
            <a:off x="6835140" y="1682496"/>
            <a:ext cx="4668012" cy="640080"/>
          </a:xfrm>
          <a:prstGeom prst="rect">
            <a:avLst/>
          </a:prstGeom>
          <a:noFill/>
          <a:ln/>
        </p:spPr>
        <p:txBody>
          <a:bodyPr wrap="square" lIns="0" tIns="0" rIns="0" bIns="0" rtlCol="0" anchor="ctr"/>
          <a:lstStyle/>
          <a:p>
            <a:pPr indent="0" marL="0">
              <a:lnSpc>
                <a:spcPts val="1500"/>
              </a:lnSpc>
              <a:buNone/>
            </a:pPr>
            <a:r>
              <a:rPr lang="en-US" sz="1250" b="1" dirty="0">
                <a:solidFill>
                  <a:srgbClr val="100B2E"/>
                </a:solidFill>
                <a:latin typeface="Calibri" pitchFamily="34" charset="0"/>
                <a:ea typeface="Calibri" pitchFamily="34" charset="-122"/>
                <a:cs typeface="Calibri" pitchFamily="34" charset="-120"/>
              </a:rPr>
              <a:t>Scrum execution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Backlog, user stories, acceptance criteria, story points, sprint planning and sprint execution.</a:t>
            </a:r>
            <a:endParaRPr lang="en-US" sz="1250" dirty="0"/>
          </a:p>
        </p:txBody>
      </p:sp>
      <p:sp>
        <p:nvSpPr>
          <p:cNvPr id="13" name="Shape 11"/>
          <p:cNvSpPr/>
          <p:nvPr/>
        </p:nvSpPr>
        <p:spPr>
          <a:xfrm>
            <a:off x="502920" y="2468880"/>
            <a:ext cx="5454396" cy="713232"/>
          </a:xfrm>
          <a:prstGeom prst="roundRect">
            <a:avLst>
              <a:gd name="adj" fmla="val 7692"/>
            </a:avLst>
          </a:prstGeom>
          <a:solidFill>
            <a:srgbClr val="F3F5FD"/>
          </a:solidFill>
          <a:ln w="12700">
            <a:solidFill>
              <a:srgbClr val="D8DEF2"/>
            </a:solidFill>
            <a:prstDash val="solid"/>
          </a:ln>
        </p:spPr>
      </p:sp>
      <p:sp>
        <p:nvSpPr>
          <p:cNvPr id="14" name="Shape 12"/>
          <p:cNvSpPr/>
          <p:nvPr/>
        </p:nvSpPr>
        <p:spPr>
          <a:xfrm>
            <a:off x="685800" y="2670048"/>
            <a:ext cx="310896" cy="310896"/>
          </a:xfrm>
          <a:prstGeom prst="ellipse">
            <a:avLst/>
          </a:prstGeom>
          <a:solidFill>
            <a:srgbClr val="F4436C"/>
          </a:solidFill>
          <a:ln w="12700">
            <a:solidFill>
              <a:srgbClr val="F4436C"/>
            </a:solidFill>
            <a:prstDash val="solid"/>
          </a:ln>
        </p:spPr>
      </p:sp>
      <p:sp>
        <p:nvSpPr>
          <p:cNvPr id="15" name="Text 13"/>
          <p:cNvSpPr txBox="1"/>
          <p:nvPr/>
        </p:nvSpPr>
        <p:spPr>
          <a:xfrm>
            <a:off x="685800" y="26700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1106424" y="2505456"/>
            <a:ext cx="4668012" cy="640080"/>
          </a:xfrm>
          <a:prstGeom prst="rect">
            <a:avLst/>
          </a:prstGeom>
          <a:noFill/>
          <a:ln/>
        </p:spPr>
        <p:txBody>
          <a:bodyPr wrap="square" lIns="0" tIns="0" rIns="0" bIns="0" rtlCol="0" anchor="ctr"/>
          <a:lstStyle/>
          <a:p>
            <a:pPr indent="0" marL="0">
              <a:lnSpc>
                <a:spcPts val="1500"/>
              </a:lnSpc>
              <a:buNone/>
            </a:pPr>
            <a:r>
              <a:rPr lang="en-US" sz="1250" b="1" dirty="0">
                <a:solidFill>
                  <a:srgbClr val="100B2E"/>
                </a:solidFill>
                <a:latin typeface="Calibri" pitchFamily="34" charset="0"/>
                <a:ea typeface="Calibri" pitchFamily="34" charset="-122"/>
                <a:cs typeface="Calibri" pitchFamily="34" charset="-120"/>
              </a:rPr>
              <a:t>Dependencies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Three blocking relationships recorded with the correct Jira link type and queried in JQL.</a:t>
            </a:r>
            <a:endParaRPr lang="en-US" sz="1250" dirty="0"/>
          </a:p>
        </p:txBody>
      </p:sp>
      <p:sp>
        <p:nvSpPr>
          <p:cNvPr id="17" name="Shape 15"/>
          <p:cNvSpPr/>
          <p:nvPr/>
        </p:nvSpPr>
        <p:spPr>
          <a:xfrm>
            <a:off x="6231636" y="2468880"/>
            <a:ext cx="5454396" cy="713232"/>
          </a:xfrm>
          <a:prstGeom prst="roundRect">
            <a:avLst>
              <a:gd name="adj" fmla="val 7692"/>
            </a:avLst>
          </a:prstGeom>
          <a:solidFill>
            <a:srgbClr val="F3F5FD"/>
          </a:solidFill>
          <a:ln w="12700">
            <a:solidFill>
              <a:srgbClr val="D8DEF2"/>
            </a:solidFill>
            <a:prstDash val="solid"/>
          </a:ln>
        </p:spPr>
      </p:sp>
      <p:sp>
        <p:nvSpPr>
          <p:cNvPr id="18" name="Shape 16"/>
          <p:cNvSpPr/>
          <p:nvPr/>
        </p:nvSpPr>
        <p:spPr>
          <a:xfrm>
            <a:off x="6414516" y="2670048"/>
            <a:ext cx="310896" cy="310896"/>
          </a:xfrm>
          <a:prstGeom prst="ellipse">
            <a:avLst/>
          </a:prstGeom>
          <a:solidFill>
            <a:srgbClr val="8036F0"/>
          </a:solidFill>
          <a:ln w="12700">
            <a:solidFill>
              <a:srgbClr val="8036F0"/>
            </a:solidFill>
            <a:prstDash val="solid"/>
          </a:ln>
        </p:spPr>
      </p:sp>
      <p:sp>
        <p:nvSpPr>
          <p:cNvPr id="19" name="Text 17"/>
          <p:cNvSpPr txBox="1"/>
          <p:nvPr/>
        </p:nvSpPr>
        <p:spPr>
          <a:xfrm>
            <a:off x="6414516" y="26700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0" name="Text 18"/>
          <p:cNvSpPr txBox="1"/>
          <p:nvPr/>
        </p:nvSpPr>
        <p:spPr>
          <a:xfrm>
            <a:off x="6835140" y="2505456"/>
            <a:ext cx="4668012" cy="640080"/>
          </a:xfrm>
          <a:prstGeom prst="rect">
            <a:avLst/>
          </a:prstGeom>
          <a:noFill/>
          <a:ln/>
        </p:spPr>
        <p:txBody>
          <a:bodyPr wrap="square" lIns="0" tIns="0" rIns="0" bIns="0" rtlCol="0" anchor="ctr"/>
          <a:lstStyle/>
          <a:p>
            <a:pPr indent="0" marL="0">
              <a:lnSpc>
                <a:spcPts val="1500"/>
              </a:lnSpc>
              <a:buNone/>
            </a:pPr>
            <a:r>
              <a:rPr lang="en-US" sz="1250" b="1" dirty="0">
                <a:solidFill>
                  <a:srgbClr val="100B2E"/>
                </a:solidFill>
                <a:latin typeface="Calibri" pitchFamily="34" charset="0"/>
                <a:ea typeface="Calibri" pitchFamily="34" charset="-122"/>
                <a:cs typeface="Calibri" pitchFamily="34" charset="-120"/>
              </a:rPr>
              <a:t>Risk and escalation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ATSL-5 documented with impact, owner, mitigation and a dated checkpoint.</a:t>
            </a:r>
            <a:endParaRPr lang="en-US" sz="1250" dirty="0"/>
          </a:p>
        </p:txBody>
      </p:sp>
      <p:sp>
        <p:nvSpPr>
          <p:cNvPr id="21" name="Shape 19"/>
          <p:cNvSpPr/>
          <p:nvPr/>
        </p:nvSpPr>
        <p:spPr>
          <a:xfrm>
            <a:off x="502920" y="3291840"/>
            <a:ext cx="5454396" cy="713232"/>
          </a:xfrm>
          <a:prstGeom prst="roundRect">
            <a:avLst>
              <a:gd name="adj" fmla="val 7692"/>
            </a:avLst>
          </a:prstGeom>
          <a:solidFill>
            <a:srgbClr val="F3F5FD"/>
          </a:solidFill>
          <a:ln w="12700">
            <a:solidFill>
              <a:srgbClr val="D8DEF2"/>
            </a:solidFill>
            <a:prstDash val="solid"/>
          </a:ln>
        </p:spPr>
      </p:sp>
      <p:sp>
        <p:nvSpPr>
          <p:cNvPr id="22" name="Shape 20"/>
          <p:cNvSpPr/>
          <p:nvPr/>
        </p:nvSpPr>
        <p:spPr>
          <a:xfrm>
            <a:off x="685800" y="3493008"/>
            <a:ext cx="310896" cy="310896"/>
          </a:xfrm>
          <a:prstGeom prst="ellipse">
            <a:avLst/>
          </a:prstGeom>
          <a:solidFill>
            <a:srgbClr val="FFB01F"/>
          </a:solidFill>
          <a:ln w="12700">
            <a:solidFill>
              <a:srgbClr val="FFB01F"/>
            </a:solidFill>
            <a:prstDash val="solid"/>
          </a:ln>
        </p:spPr>
      </p:sp>
      <p:sp>
        <p:nvSpPr>
          <p:cNvPr id="23" name="Text 21"/>
          <p:cNvSpPr txBox="1"/>
          <p:nvPr/>
        </p:nvSpPr>
        <p:spPr>
          <a:xfrm>
            <a:off x="685800" y="34930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4" name="Text 22"/>
          <p:cNvSpPr txBox="1"/>
          <p:nvPr/>
        </p:nvSpPr>
        <p:spPr>
          <a:xfrm>
            <a:off x="1106424" y="3328416"/>
            <a:ext cx="4668012" cy="640080"/>
          </a:xfrm>
          <a:prstGeom prst="rect">
            <a:avLst/>
          </a:prstGeom>
          <a:noFill/>
          <a:ln/>
        </p:spPr>
        <p:txBody>
          <a:bodyPr wrap="square" lIns="0" tIns="0" rIns="0" bIns="0" rtlCol="0" anchor="ctr"/>
          <a:lstStyle/>
          <a:p>
            <a:pPr indent="0" marL="0">
              <a:lnSpc>
                <a:spcPts val="1500"/>
              </a:lnSpc>
              <a:buNone/>
            </a:pPr>
            <a:r>
              <a:rPr lang="en-US" sz="1250" b="1" dirty="0">
                <a:solidFill>
                  <a:srgbClr val="100B2E"/>
                </a:solidFill>
                <a:latin typeface="Calibri" pitchFamily="34" charset="0"/>
                <a:ea typeface="Calibri" pitchFamily="34" charset="-122"/>
                <a:cs typeface="Calibri" pitchFamily="34" charset="-120"/>
              </a:rPr>
              <a:t>JQL and saved filters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Six queries and four saved filters, each answering a standing TPM question.</a:t>
            </a:r>
            <a:endParaRPr lang="en-US" sz="1250" dirty="0"/>
          </a:p>
        </p:txBody>
      </p:sp>
      <p:sp>
        <p:nvSpPr>
          <p:cNvPr id="25" name="Shape 23"/>
          <p:cNvSpPr/>
          <p:nvPr/>
        </p:nvSpPr>
        <p:spPr>
          <a:xfrm>
            <a:off x="6231636" y="3291840"/>
            <a:ext cx="5454396" cy="713232"/>
          </a:xfrm>
          <a:prstGeom prst="roundRect">
            <a:avLst>
              <a:gd name="adj" fmla="val 7692"/>
            </a:avLst>
          </a:prstGeom>
          <a:solidFill>
            <a:srgbClr val="F3F5FD"/>
          </a:solidFill>
          <a:ln w="12700">
            <a:solidFill>
              <a:srgbClr val="D8DEF2"/>
            </a:solidFill>
            <a:prstDash val="solid"/>
          </a:ln>
        </p:spPr>
      </p:sp>
      <p:sp>
        <p:nvSpPr>
          <p:cNvPr id="26" name="Shape 24"/>
          <p:cNvSpPr/>
          <p:nvPr/>
        </p:nvSpPr>
        <p:spPr>
          <a:xfrm>
            <a:off x="6414516" y="3493008"/>
            <a:ext cx="310896" cy="310896"/>
          </a:xfrm>
          <a:prstGeom prst="ellipse">
            <a:avLst/>
          </a:prstGeom>
          <a:solidFill>
            <a:srgbClr val="16A34A"/>
          </a:solidFill>
          <a:ln w="12700">
            <a:solidFill>
              <a:srgbClr val="16A34A"/>
            </a:solidFill>
            <a:prstDash val="solid"/>
          </a:ln>
        </p:spPr>
      </p:sp>
      <p:sp>
        <p:nvSpPr>
          <p:cNvPr id="27" name="Text 25"/>
          <p:cNvSpPr txBox="1"/>
          <p:nvPr/>
        </p:nvSpPr>
        <p:spPr>
          <a:xfrm>
            <a:off x="6414516" y="34930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8" name="Text 26"/>
          <p:cNvSpPr txBox="1"/>
          <p:nvPr/>
        </p:nvSpPr>
        <p:spPr>
          <a:xfrm>
            <a:off x="6835140" y="3328416"/>
            <a:ext cx="4668012" cy="640080"/>
          </a:xfrm>
          <a:prstGeom prst="rect">
            <a:avLst/>
          </a:prstGeom>
          <a:noFill/>
          <a:ln/>
        </p:spPr>
        <p:txBody>
          <a:bodyPr wrap="square" lIns="0" tIns="0" rIns="0" bIns="0" rtlCol="0" anchor="ctr"/>
          <a:lstStyle/>
          <a:p>
            <a:pPr indent="0" marL="0">
              <a:lnSpc>
                <a:spcPts val="1500"/>
              </a:lnSpc>
              <a:buNone/>
            </a:pPr>
            <a:r>
              <a:rPr lang="en-US" sz="1250" b="1" dirty="0">
                <a:solidFill>
                  <a:srgbClr val="100B2E"/>
                </a:solidFill>
                <a:latin typeface="Calibri" pitchFamily="34" charset="0"/>
                <a:ea typeface="Calibri" pitchFamily="34" charset="-122"/>
                <a:cs typeface="Calibri" pitchFamily="34" charset="-120"/>
              </a:rPr>
              <a:t>Reporting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Burndown, sprint report, velocity, cumulative flow and status distribution all interpreted.</a:t>
            </a:r>
            <a:endParaRPr lang="en-US" sz="1250" dirty="0"/>
          </a:p>
        </p:txBody>
      </p:sp>
      <p:sp>
        <p:nvSpPr>
          <p:cNvPr id="29" name="Shape 27"/>
          <p:cNvSpPr/>
          <p:nvPr/>
        </p:nvSpPr>
        <p:spPr>
          <a:xfrm>
            <a:off x="502920" y="4114800"/>
            <a:ext cx="5454396" cy="713232"/>
          </a:xfrm>
          <a:prstGeom prst="roundRect">
            <a:avLst>
              <a:gd name="adj" fmla="val 7692"/>
            </a:avLst>
          </a:prstGeom>
          <a:solidFill>
            <a:srgbClr val="F3F5FD"/>
          </a:solidFill>
          <a:ln w="12700">
            <a:solidFill>
              <a:srgbClr val="D8DEF2"/>
            </a:solidFill>
            <a:prstDash val="solid"/>
          </a:ln>
        </p:spPr>
      </p:sp>
      <p:sp>
        <p:nvSpPr>
          <p:cNvPr id="30" name="Shape 28"/>
          <p:cNvSpPr/>
          <p:nvPr/>
        </p:nvSpPr>
        <p:spPr>
          <a:xfrm>
            <a:off x="685800" y="4315968"/>
            <a:ext cx="310896" cy="310896"/>
          </a:xfrm>
          <a:prstGeom prst="ellipse">
            <a:avLst/>
          </a:prstGeom>
          <a:solidFill>
            <a:srgbClr val="1364F4"/>
          </a:solidFill>
          <a:ln w="12700">
            <a:solidFill>
              <a:srgbClr val="1364F4"/>
            </a:solidFill>
            <a:prstDash val="solid"/>
          </a:ln>
        </p:spPr>
      </p:sp>
      <p:sp>
        <p:nvSpPr>
          <p:cNvPr id="31" name="Text 29"/>
          <p:cNvSpPr txBox="1"/>
          <p:nvPr/>
        </p:nvSpPr>
        <p:spPr>
          <a:xfrm>
            <a:off x="685800" y="43159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2" name="Text 30"/>
          <p:cNvSpPr txBox="1"/>
          <p:nvPr/>
        </p:nvSpPr>
        <p:spPr>
          <a:xfrm>
            <a:off x="1106424" y="4151376"/>
            <a:ext cx="4668012" cy="640080"/>
          </a:xfrm>
          <a:prstGeom prst="rect">
            <a:avLst/>
          </a:prstGeom>
          <a:noFill/>
          <a:ln/>
        </p:spPr>
        <p:txBody>
          <a:bodyPr wrap="square" lIns="0" tIns="0" rIns="0" bIns="0" rtlCol="0" anchor="ctr"/>
          <a:lstStyle/>
          <a:p>
            <a:pPr indent="0" marL="0">
              <a:lnSpc>
                <a:spcPts val="1500"/>
              </a:lnSpc>
              <a:buNone/>
            </a:pPr>
            <a:r>
              <a:rPr lang="en-US" sz="1250" b="1" dirty="0">
                <a:solidFill>
                  <a:srgbClr val="100B2E"/>
                </a:solidFill>
                <a:latin typeface="Calibri" pitchFamily="34" charset="0"/>
                <a:ea typeface="Calibri" pitchFamily="34" charset="-122"/>
                <a:cs typeface="Calibri" pitchFamily="34" charset="-120"/>
              </a:rPr>
              <a:t>Executive dashboard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AI TPM Delivery Dashboard with five gadgets bound to saved filters.</a:t>
            </a:r>
            <a:endParaRPr lang="en-US" sz="1250" dirty="0"/>
          </a:p>
        </p:txBody>
      </p:sp>
      <p:sp>
        <p:nvSpPr>
          <p:cNvPr id="33" name="Shape 31"/>
          <p:cNvSpPr/>
          <p:nvPr/>
        </p:nvSpPr>
        <p:spPr>
          <a:xfrm>
            <a:off x="6231636" y="4114800"/>
            <a:ext cx="5454396" cy="713232"/>
          </a:xfrm>
          <a:prstGeom prst="roundRect">
            <a:avLst>
              <a:gd name="adj" fmla="val 7692"/>
            </a:avLst>
          </a:prstGeom>
          <a:solidFill>
            <a:srgbClr val="F3F5FD"/>
          </a:solidFill>
          <a:ln w="12700">
            <a:solidFill>
              <a:srgbClr val="D8DEF2"/>
            </a:solidFill>
            <a:prstDash val="solid"/>
          </a:ln>
        </p:spPr>
      </p:sp>
      <p:sp>
        <p:nvSpPr>
          <p:cNvPr id="34" name="Shape 32"/>
          <p:cNvSpPr/>
          <p:nvPr/>
        </p:nvSpPr>
        <p:spPr>
          <a:xfrm>
            <a:off x="6414516" y="4315968"/>
            <a:ext cx="310896" cy="310896"/>
          </a:xfrm>
          <a:prstGeom prst="ellipse">
            <a:avLst/>
          </a:prstGeom>
          <a:solidFill>
            <a:srgbClr val="00B3A4"/>
          </a:solidFill>
          <a:ln w="12700">
            <a:solidFill>
              <a:srgbClr val="00B3A4"/>
            </a:solidFill>
            <a:prstDash val="solid"/>
          </a:ln>
        </p:spPr>
      </p:sp>
      <p:sp>
        <p:nvSpPr>
          <p:cNvPr id="35" name="Text 33"/>
          <p:cNvSpPr txBox="1"/>
          <p:nvPr/>
        </p:nvSpPr>
        <p:spPr>
          <a:xfrm>
            <a:off x="6414516" y="431596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6" name="Text 34"/>
          <p:cNvSpPr txBox="1"/>
          <p:nvPr/>
        </p:nvSpPr>
        <p:spPr>
          <a:xfrm>
            <a:off x="6835140" y="4151376"/>
            <a:ext cx="4668012" cy="640080"/>
          </a:xfrm>
          <a:prstGeom prst="rect">
            <a:avLst/>
          </a:prstGeom>
          <a:noFill/>
          <a:ln/>
        </p:spPr>
        <p:txBody>
          <a:bodyPr wrap="square" lIns="0" tIns="0" rIns="0" bIns="0" rtlCol="0" anchor="ctr"/>
          <a:lstStyle/>
          <a:p>
            <a:pPr indent="0" marL="0">
              <a:lnSpc>
                <a:spcPts val="1500"/>
              </a:lnSpc>
              <a:buNone/>
            </a:pPr>
            <a:r>
              <a:rPr lang="en-US" sz="1250" b="1" dirty="0">
                <a:solidFill>
                  <a:srgbClr val="100B2E"/>
                </a:solidFill>
                <a:latin typeface="Calibri" pitchFamily="34" charset="0"/>
                <a:ea typeface="Calibri" pitchFamily="34" charset="-122"/>
                <a:cs typeface="Calibri" pitchFamily="34" charset="-120"/>
              </a:rPr>
              <a:t>Evidence archive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80 screenshots, indexed and individually described in Part 2 of this deck.</a:t>
            </a:r>
            <a:endParaRPr lang="en-US" sz="1250" dirty="0"/>
          </a:p>
        </p:txBody>
      </p:sp>
      <p:sp>
        <p:nvSpPr>
          <p:cNvPr id="37" name="Shape 35"/>
          <p:cNvSpPr/>
          <p:nvPr/>
        </p:nvSpPr>
        <p:spPr>
          <a:xfrm>
            <a:off x="502920" y="4937760"/>
            <a:ext cx="5454396" cy="713232"/>
          </a:xfrm>
          <a:prstGeom prst="roundRect">
            <a:avLst>
              <a:gd name="adj" fmla="val 7692"/>
            </a:avLst>
          </a:prstGeom>
          <a:solidFill>
            <a:srgbClr val="F3F5FD"/>
          </a:solidFill>
          <a:ln w="12700">
            <a:solidFill>
              <a:srgbClr val="D8DEF2"/>
            </a:solidFill>
            <a:prstDash val="solid"/>
          </a:ln>
        </p:spPr>
      </p:sp>
      <p:sp>
        <p:nvSpPr>
          <p:cNvPr id="38" name="Shape 36"/>
          <p:cNvSpPr/>
          <p:nvPr/>
        </p:nvSpPr>
        <p:spPr>
          <a:xfrm>
            <a:off x="685800" y="5138928"/>
            <a:ext cx="310896" cy="310896"/>
          </a:xfrm>
          <a:prstGeom prst="ellipse">
            <a:avLst/>
          </a:prstGeom>
          <a:solidFill>
            <a:srgbClr val="F4436C"/>
          </a:solidFill>
          <a:ln w="12700">
            <a:solidFill>
              <a:srgbClr val="F4436C"/>
            </a:solidFill>
            <a:prstDash val="solid"/>
          </a:ln>
        </p:spPr>
      </p:sp>
      <p:sp>
        <p:nvSpPr>
          <p:cNvPr id="39" name="Text 37"/>
          <p:cNvSpPr txBox="1"/>
          <p:nvPr/>
        </p:nvSpPr>
        <p:spPr>
          <a:xfrm>
            <a:off x="685800" y="51389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0" name="Text 38"/>
          <p:cNvSpPr txBox="1"/>
          <p:nvPr/>
        </p:nvSpPr>
        <p:spPr>
          <a:xfrm>
            <a:off x="1106424" y="4974336"/>
            <a:ext cx="4668012" cy="640080"/>
          </a:xfrm>
          <a:prstGeom prst="rect">
            <a:avLst/>
          </a:prstGeom>
          <a:noFill/>
          <a:ln/>
        </p:spPr>
        <p:txBody>
          <a:bodyPr wrap="square" lIns="0" tIns="0" rIns="0" bIns="0" rtlCol="0" anchor="ctr"/>
          <a:lstStyle/>
          <a:p>
            <a:pPr indent="0" marL="0">
              <a:lnSpc>
                <a:spcPts val="1500"/>
              </a:lnSpc>
              <a:buNone/>
            </a:pPr>
            <a:r>
              <a:rPr lang="en-US" sz="1250" b="1" dirty="0">
                <a:solidFill>
                  <a:srgbClr val="100B2E"/>
                </a:solidFill>
                <a:latin typeface="Calibri" pitchFamily="34" charset="0"/>
                <a:ea typeface="Calibri" pitchFamily="34" charset="-122"/>
                <a:cs typeface="Calibri" pitchFamily="34" charset="-120"/>
              </a:rPr>
              <a:t>Presentation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This deck: project walkthrough, evidence archive and twelve TPM interview answers.</a:t>
            </a:r>
            <a:endParaRPr lang="en-US" sz="1250" dirty="0"/>
          </a:p>
        </p:txBody>
      </p:sp>
      <p:sp>
        <p:nvSpPr>
          <p:cNvPr id="41" name="Shape 39"/>
          <p:cNvSpPr/>
          <p:nvPr/>
        </p:nvSpPr>
        <p:spPr>
          <a:xfrm>
            <a:off x="6231636" y="4937760"/>
            <a:ext cx="5454396" cy="713232"/>
          </a:xfrm>
          <a:prstGeom prst="roundRect">
            <a:avLst>
              <a:gd name="adj" fmla="val 7692"/>
            </a:avLst>
          </a:prstGeom>
          <a:solidFill>
            <a:srgbClr val="F3F5FD"/>
          </a:solidFill>
          <a:ln w="12700">
            <a:solidFill>
              <a:srgbClr val="D8DEF2"/>
            </a:solidFill>
            <a:prstDash val="solid"/>
          </a:ln>
        </p:spPr>
      </p:sp>
      <p:sp>
        <p:nvSpPr>
          <p:cNvPr id="42" name="Shape 40"/>
          <p:cNvSpPr/>
          <p:nvPr/>
        </p:nvSpPr>
        <p:spPr>
          <a:xfrm>
            <a:off x="6414516" y="5138928"/>
            <a:ext cx="310896" cy="310896"/>
          </a:xfrm>
          <a:prstGeom prst="ellipse">
            <a:avLst/>
          </a:prstGeom>
          <a:solidFill>
            <a:srgbClr val="8036F0"/>
          </a:solidFill>
          <a:ln w="12700">
            <a:solidFill>
              <a:srgbClr val="8036F0"/>
            </a:solidFill>
            <a:prstDash val="solid"/>
          </a:ln>
        </p:spPr>
      </p:sp>
      <p:sp>
        <p:nvSpPr>
          <p:cNvPr id="43" name="Text 41"/>
          <p:cNvSpPr txBox="1"/>
          <p:nvPr/>
        </p:nvSpPr>
        <p:spPr>
          <a:xfrm>
            <a:off x="6414516" y="51389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4" name="Text 42"/>
          <p:cNvSpPr txBox="1"/>
          <p:nvPr/>
        </p:nvSpPr>
        <p:spPr>
          <a:xfrm>
            <a:off x="6835140" y="4974336"/>
            <a:ext cx="4668012" cy="640080"/>
          </a:xfrm>
          <a:prstGeom prst="rect">
            <a:avLst/>
          </a:prstGeom>
          <a:noFill/>
          <a:ln/>
        </p:spPr>
        <p:txBody>
          <a:bodyPr wrap="square" lIns="0" tIns="0" rIns="0" bIns="0" rtlCol="0" anchor="ctr"/>
          <a:lstStyle/>
          <a:p>
            <a:pPr indent="0" marL="0">
              <a:lnSpc>
                <a:spcPts val="1500"/>
              </a:lnSpc>
              <a:buNone/>
            </a:pPr>
            <a:r>
              <a:rPr lang="en-US" sz="1250" b="1" dirty="0">
                <a:solidFill>
                  <a:srgbClr val="100B2E"/>
                </a:solidFill>
                <a:latin typeface="Calibri" pitchFamily="34" charset="0"/>
                <a:ea typeface="Calibri" pitchFamily="34" charset="-122"/>
                <a:cs typeface="Calibri" pitchFamily="34" charset="-120"/>
              </a:rPr>
              <a:t>GitHub package
</a:t>
            </a:r>
            <a:pPr indent="0" marL="0">
              <a:lnSpc>
                <a:spcPts val="1500"/>
              </a:lnSpc>
              <a:buNone/>
            </a:pPr>
            <a:r>
              <a:rPr lang="en-US" sz="1100" dirty="0">
                <a:solidFill>
                  <a:srgbClr val="5B6180"/>
                </a:solidFill>
                <a:latin typeface="Calibri" pitchFamily="34" charset="0"/>
                <a:ea typeface="Calibri" pitchFamily="34" charset="-122"/>
                <a:cs typeface="Calibri" pitchFamily="34" charset="-120"/>
              </a:rPr>
              <a:t>README, presentation, evidence folder, evidence index, TPM Q&amp;A and submission checklist.</a:t>
            </a:r>
            <a:endParaRPr lang="en-US" sz="1250" dirty="0"/>
          </a:p>
        </p:txBody>
      </p:sp>
      <p:sp>
        <p:nvSpPr>
          <p:cNvPr id="45" name="Text 43"/>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5B6180"/>
                </a:solidFill>
                <a:latin typeface="Calibri" pitchFamily="34" charset="0"/>
                <a:ea typeface="Calibri" pitchFamily="34" charset="-122"/>
                <a:cs typeface="Calibri" pitchFamily="34" charset="-120"/>
              </a:rPr>
              <a:t>Mahesh Zade  •  AI TPM / Jira Delivery Project</a:t>
            </a:r>
            <a:endParaRPr lang="en-US" sz="1000" dirty="0"/>
          </a:p>
        </p:txBody>
      </p:sp>
      <p:sp>
        <p:nvSpPr>
          <p:cNvPr id="46" name="Shape 44"/>
          <p:cNvSpPr/>
          <p:nvPr/>
        </p:nvSpPr>
        <p:spPr>
          <a:xfrm>
            <a:off x="11375136" y="6382512"/>
            <a:ext cx="310896" cy="310896"/>
          </a:xfrm>
          <a:prstGeom prst="ellipse">
            <a:avLst/>
          </a:prstGeom>
          <a:solidFill>
            <a:srgbClr val="EAEEFB"/>
          </a:solidFill>
          <a:ln w="12700">
            <a:solidFill>
              <a:srgbClr val="EAEEFB"/>
            </a:solidFill>
            <a:prstDash val="solid"/>
          </a:ln>
        </p:spPr>
      </p:sp>
      <p:sp>
        <p:nvSpPr>
          <p:cNvPr id="47" name="Text 45"/>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2A1A6E"/>
                </a:solidFill>
                <a:latin typeface="Calibri" pitchFamily="34" charset="0"/>
                <a:ea typeface="Calibri" pitchFamily="34" charset="-122"/>
                <a:cs typeface="Calibri" pitchFamily="34" charset="-120"/>
              </a:rPr>
              <a:t>72</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00B2E"/>
        </a:solidFill>
      </p:bgPr>
    </p:bg>
    <p:spTree>
      <p:nvGrpSpPr>
        <p:cNvPr id="1" name=""/>
        <p:cNvGrpSpPr/>
        <p:nvPr/>
      </p:nvGrpSpPr>
      <p:grpSpPr>
        <a:xfrm>
          <a:off x="0" y="0"/>
          <a:ext cx="0" cy="0"/>
          <a:chOff x="0" y="0"/>
          <a:chExt cx="0" cy="0"/>
        </a:xfrm>
      </p:grpSpPr>
      <p:sp>
        <p:nvSpPr>
          <p:cNvPr id="2" name="Shape 0"/>
          <p:cNvSpPr/>
          <p:nvPr/>
        </p:nvSpPr>
        <p:spPr>
          <a:xfrm>
            <a:off x="9326880" y="-1097280"/>
            <a:ext cx="4389120" cy="4389120"/>
          </a:xfrm>
          <a:prstGeom prst="ellipse">
            <a:avLst/>
          </a:prstGeom>
          <a:solidFill>
            <a:srgbClr val="1364F4">
              <a:alpha val="40000"/>
            </a:srgbClr>
          </a:solidFill>
          <a:ln w="12700">
            <a:solidFill>
              <a:srgbClr val="1364F4">
                <a:alpha val="0"/>
              </a:srgbClr>
            </a:solidFill>
            <a:prstDash val="solid"/>
          </a:ln>
        </p:spPr>
      </p:sp>
      <p:sp>
        <p:nvSpPr>
          <p:cNvPr id="3" name="Shape 1"/>
          <p:cNvSpPr/>
          <p:nvPr/>
        </p:nvSpPr>
        <p:spPr>
          <a:xfrm>
            <a:off x="10424160" y="3291840"/>
            <a:ext cx="2926080" cy="2926080"/>
          </a:xfrm>
          <a:prstGeom prst="ellipse">
            <a:avLst/>
          </a:prstGeom>
          <a:solidFill>
            <a:srgbClr val="00B3A4">
              <a:alpha val="42000"/>
            </a:srgbClr>
          </a:solidFill>
          <a:ln w="12700">
            <a:solidFill>
              <a:srgbClr val="00B3A4">
                <a:alpha val="0"/>
              </a:srgbClr>
            </a:solidFill>
            <a:prstDash val="solid"/>
          </a:ln>
        </p:spPr>
      </p:sp>
      <p:sp>
        <p:nvSpPr>
          <p:cNvPr id="4" name="Shape 2"/>
          <p:cNvSpPr/>
          <p:nvPr/>
        </p:nvSpPr>
        <p:spPr>
          <a:xfrm>
            <a:off x="-914400" y="4754880"/>
            <a:ext cx="2926080" cy="2926080"/>
          </a:xfrm>
          <a:prstGeom prst="ellipse">
            <a:avLst/>
          </a:prstGeom>
          <a:solidFill>
            <a:srgbClr val="F4436C">
              <a:alpha val="30000"/>
            </a:srgbClr>
          </a:solidFill>
          <a:ln w="12700">
            <a:solidFill>
              <a:srgbClr val="F4436C">
                <a:alpha val="0"/>
              </a:srgbClr>
            </a:solidFill>
            <a:prstDash val="solid"/>
          </a:ln>
        </p:spPr>
      </p:sp>
      <p:sp>
        <p:nvSpPr>
          <p:cNvPr id="5" name="Shape 3"/>
          <p:cNvSpPr/>
          <p:nvPr/>
        </p:nvSpPr>
        <p:spPr>
          <a:xfrm>
            <a:off x="8229600" y="5120640"/>
            <a:ext cx="2194560" cy="2194560"/>
          </a:xfrm>
          <a:prstGeom prst="ellipse">
            <a:avLst/>
          </a:prstGeom>
          <a:solidFill>
            <a:srgbClr val="FFB01F">
              <a:alpha val="36000"/>
            </a:srgbClr>
          </a:solidFill>
          <a:ln w="12700">
            <a:solidFill>
              <a:srgbClr val="FFB01F">
                <a:alpha val="0"/>
              </a:srgbClr>
            </a:solidFill>
            <a:prstDash val="solid"/>
          </a:ln>
        </p:spPr>
      </p:sp>
      <p:sp>
        <p:nvSpPr>
          <p:cNvPr id="6" name="Shape 4"/>
          <p:cNvSpPr/>
          <p:nvPr/>
        </p:nvSpPr>
        <p:spPr>
          <a:xfrm>
            <a:off x="-1005840" y="-914400"/>
            <a:ext cx="2560320" cy="2560320"/>
          </a:xfrm>
          <a:prstGeom prst="ellipse">
            <a:avLst/>
          </a:prstGeom>
          <a:solidFill>
            <a:srgbClr val="8036F0">
              <a:alpha val="30000"/>
            </a:srgbClr>
          </a:solidFill>
          <a:ln w="12700">
            <a:solidFill>
              <a:srgbClr val="8036F0">
                <a:alpha val="0"/>
              </a:srgbClr>
            </a:solidFill>
            <a:prstDash val="solid"/>
          </a:ln>
        </p:spPr>
      </p:sp>
      <p:sp>
        <p:nvSpPr>
          <p:cNvPr id="7" name="Text 5"/>
          <p:cNvSpPr txBox="1"/>
          <p:nvPr/>
        </p:nvSpPr>
        <p:spPr>
          <a:xfrm>
            <a:off x="502920" y="2011680"/>
            <a:ext cx="7315200" cy="100584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8" name="Text 6"/>
          <p:cNvSpPr txBox="1"/>
          <p:nvPr/>
        </p:nvSpPr>
        <p:spPr>
          <a:xfrm>
            <a:off x="502920" y="3063240"/>
            <a:ext cx="6766560" cy="731520"/>
          </a:xfrm>
          <a:prstGeom prst="rect">
            <a:avLst/>
          </a:prstGeom>
          <a:noFill/>
          <a:ln/>
        </p:spPr>
        <p:txBody>
          <a:bodyPr wrap="square" lIns="0" tIns="0" rIns="0" bIns="0" rtlCol="0" anchor="ctr"/>
          <a:lstStyle/>
          <a:p>
            <a:pPr indent="0" marL="0">
              <a:lnSpc>
                <a:spcPts val="2100"/>
              </a:lnSpc>
              <a:buNone/>
            </a:pPr>
            <a:r>
              <a:rPr lang="en-US" sz="1450" dirty="0">
                <a:solidFill>
                  <a:srgbClr val="C2C9E8"/>
                </a:solidFill>
                <a:latin typeface="Calibri" pitchFamily="34" charset="0"/>
                <a:ea typeface="Calibri" pitchFamily="34" charset="-122"/>
                <a:cs typeface="Calibri" pitchFamily="34" charset="-120"/>
              </a:rPr>
              <a:t>AI-Powered Customer Support Platform — Jira TPM practical project, delivered, evidenced and documented end to end.</a:t>
            </a:r>
            <a:endParaRPr lang="en-US" sz="1450" dirty="0"/>
          </a:p>
        </p:txBody>
      </p:sp>
      <p:sp>
        <p:nvSpPr>
          <p:cNvPr id="9" name="Shape 7"/>
          <p:cNvSpPr/>
          <p:nvPr/>
        </p:nvSpPr>
        <p:spPr>
          <a:xfrm>
            <a:off x="502920" y="4023360"/>
            <a:ext cx="4754880" cy="1051560"/>
          </a:xfrm>
          <a:prstGeom prst="roundRect">
            <a:avLst>
              <a:gd name="adj" fmla="val 10435"/>
            </a:avLst>
          </a:prstGeom>
          <a:solidFill>
            <a:srgbClr val="FFFFFF">
              <a:alpha val="12000"/>
            </a:srgbClr>
          </a:solidFill>
          <a:ln w="12700">
            <a:solidFill>
              <a:srgbClr val="4B4394"/>
            </a:solidFill>
            <a:prstDash val="solid"/>
          </a:ln>
        </p:spPr>
      </p:sp>
      <p:sp>
        <p:nvSpPr>
          <p:cNvPr id="10" name="Text 8"/>
          <p:cNvSpPr txBox="1"/>
          <p:nvPr/>
        </p:nvSpPr>
        <p:spPr>
          <a:xfrm>
            <a:off x="777240" y="4023360"/>
            <a:ext cx="4206240" cy="1051560"/>
          </a:xfrm>
          <a:prstGeom prst="rect">
            <a:avLst/>
          </a:prstGeom>
          <a:noFill/>
          <a:ln/>
        </p:spPr>
        <p:txBody>
          <a:bodyPr wrap="square" lIns="0" tIns="0" rIns="0" bIns="0" rtlCol="0" anchor="ctr"/>
          <a:lstStyle/>
          <a:p>
            <a:pPr indent="0" marL="0">
              <a:lnSpc>
                <a:spcPts val="2600"/>
              </a:lnSpc>
              <a:buNone/>
            </a:pPr>
            <a:r>
              <a:rPr lang="en-US" sz="1100" dirty="0">
                <a:solidFill>
                  <a:srgbClr val="9AA3C8"/>
                </a:solidFill>
                <a:latin typeface="Calibri" pitchFamily="34" charset="0"/>
                <a:ea typeface="Calibri" pitchFamily="34" charset="-122"/>
                <a:cs typeface="Calibri" pitchFamily="34" charset="-120"/>
              </a:rPr>
              <a:t>Prepared and presented by
</a:t>
            </a:r>
            <a:pPr indent="0" marL="0">
              <a:lnSpc>
                <a:spcPts val="2600"/>
              </a:lnSpc>
              <a:buNone/>
            </a:pPr>
            <a:r>
              <a:rPr lang="en-US" sz="2400" b="1" dirty="0">
                <a:solidFill>
                  <a:srgbClr val="FFFFFF"/>
                </a:solidFill>
                <a:latin typeface="Calibri" pitchFamily="34" charset="0"/>
                <a:ea typeface="Calibri" pitchFamily="34" charset="-122"/>
                <a:cs typeface="Calibri" pitchFamily="34" charset="-120"/>
              </a:rPr>
              <a:t>Mahesh Zade</a:t>
            </a:r>
            <a:endParaRPr lang="en-US" sz="1100" dirty="0"/>
          </a:p>
        </p:txBody>
      </p:sp>
      <p:sp>
        <p:nvSpPr>
          <p:cNvPr id="11" name="Text 9"/>
          <p:cNvSpPr txBox="1"/>
          <p:nvPr/>
        </p:nvSpPr>
        <p:spPr>
          <a:xfrm>
            <a:off x="502920" y="6419088"/>
            <a:ext cx="7772400" cy="274320"/>
          </a:xfrm>
          <a:prstGeom prst="rect">
            <a:avLst/>
          </a:prstGeom>
          <a:noFill/>
          <a:ln/>
        </p:spPr>
        <p:txBody>
          <a:bodyPr wrap="square" lIns="0" tIns="0" rIns="0" bIns="0" rtlCol="0" anchor="ctr"/>
          <a:lstStyle/>
          <a:p>
            <a:pPr algn="l" indent="0" marL="0">
              <a:buNone/>
            </a:pPr>
            <a:r>
              <a:rPr lang="en-US" sz="1000" dirty="0">
                <a:solidFill>
                  <a:srgbClr val="9AA3C8"/>
                </a:solidFill>
                <a:latin typeface="Calibri" pitchFamily="34" charset="0"/>
                <a:ea typeface="Calibri" pitchFamily="34" charset="-122"/>
                <a:cs typeface="Calibri" pitchFamily="34" charset="-120"/>
              </a:rPr>
              <a:t>Mahesh Zade  •  AI TPM / Jira Delivery Project</a:t>
            </a:r>
            <a:endParaRPr lang="en-US" sz="1000" dirty="0"/>
          </a:p>
        </p:txBody>
      </p:sp>
      <p:sp>
        <p:nvSpPr>
          <p:cNvPr id="12" name="Shape 10"/>
          <p:cNvSpPr/>
          <p:nvPr/>
        </p:nvSpPr>
        <p:spPr>
          <a:xfrm>
            <a:off x="11375136" y="6382512"/>
            <a:ext cx="310896" cy="310896"/>
          </a:xfrm>
          <a:prstGeom prst="ellipse">
            <a:avLst/>
          </a:prstGeom>
          <a:solidFill>
            <a:srgbClr val="1364F4"/>
          </a:solidFill>
          <a:ln w="12700">
            <a:solidFill>
              <a:srgbClr val="1364F4"/>
            </a:solidFill>
            <a:prstDash val="solid"/>
          </a:ln>
        </p:spPr>
      </p:sp>
      <p:sp>
        <p:nvSpPr>
          <p:cNvPr id="13" name="Text 11"/>
          <p:cNvSpPr txBox="1"/>
          <p:nvPr/>
        </p:nvSpPr>
        <p:spPr>
          <a:xfrm>
            <a:off x="11375136" y="6382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73</Slides>
  <Notes>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Company>Mahesh Zade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TPM / Jira Delivery Project — Mahesh Zade</dc:title>
  <dc:subject>PptxGenJS Presentation</dc:subject>
  <dc:creator>Mahesh Zade</dc:creator>
  <cp:lastModifiedBy>Mahesh Zade</cp:lastModifiedBy>
  <cp:revision>1</cp:revision>
  <dcterms:created xsi:type="dcterms:W3CDTF">2026-09-20T03:00:50Z</dcterms:created>
  <dcterms:modified xsi:type="dcterms:W3CDTF">2026-09-20T03:00:50Z</dcterms:modified>
</cp:coreProperties>
</file>