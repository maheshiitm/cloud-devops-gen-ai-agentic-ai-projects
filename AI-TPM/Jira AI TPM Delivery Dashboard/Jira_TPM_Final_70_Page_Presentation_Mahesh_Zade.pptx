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Executive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Project: AI-Powered Customer Support Platform managed through Jira.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Primary environment: AI TPM Scrum Lab (ATSL); supporting Cloud/DevOps Kanban environment: KAN.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Objective: demonstrate practical TPM ownership from backlog to sprint execution, dependency management, risk escalation, reporting and executive dashboarding.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Evidence is backed by Jira screenshots captured during the hands-on exercise.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Business Problem &amp; Product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Cloud support teams receive tickets requiring classification, priority prediction, routing and sentiment analysis.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The TPM translates product intent into measurable delivery increments.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Delivery focus: AI-powered support-ticket triage while maintaining visibility of dependencies and delivery risks.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Success means transparent scope, accountable ownership, measurable progress and controlled delivery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Jira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Epic / parent capability → user story → acceptance criteria → subtasks → sprint → delivery evidence.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Status flow: To Do → In Progress → Done.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Dependencies are explicitly linked rather than kept only in comments.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Risks have an owner, impact, mitigation and checkpoint.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Dashboards convert work-item data into stakeholder visibility.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Cloud/DevOps Work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KAN-4: provision EC2 and S3 infrastructure for a customer application.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Subtasks: KAN-6 EC2, KAN-7 S3, KAN-8 security group, KAN-9 documentation.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KAN-6 blocks KAN-8, demonstrating a real implementation dependency.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Ownership, priority, labels and status are maintained in Jira.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AI Scrum 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ATSL-1: AI ticket classification — 5 story points — completed.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ATSL-2: AI ticket priority prediction — 3 story points — dependency on prediction API.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ATSL-3: AI ticket routing — 5 story points — decomposed into four implementation subtasks.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ATSL-4 sentiment analysis was retained outside the initial sprint scope.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User Story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User stories use the format: As a [role], I want [capability], so that [outcome].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Acceptance criteria define observable behavior rather than implementation details.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Example: AI identifies Critical/High/Medium/Low priority, provides a recommendation, allows manager review and records the result.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This gives Engineering and QA a shared definition of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Sprint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Sprint planning selected a focused set of AI support-ticket capabilities.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Sprint 1 goal: deliver core classification, priority prediction and automatic routing.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Initial commitment: 13 story points.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Sprint 2 continued priority prediction and routing while actively managing API and routing-rule dependencies.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Sprint Execution &amp;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Completed work moves to Done; active work remains visible in In Progress.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Subtasks expose implementation progress beneath the parent story.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Dependencies prevent downstream work from being treated as independently deliverable.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Status updates provide an audit trail for stakeholder communication.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Dependency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ATSL-5 blocks ATSL-2 because the AI Prediction API may not be available on time.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ATSL-7 blocks ATSL-8 because routing logic depends on finalized routing rules and team mapping.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KAN-6 blocks KAN-8 for the Cloud/DevOps infrastructure flow.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practice: identify → link → assess impact → assign owner → mitigate → checkpoint.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ATSL-5 is a delivery risk with High impact and a documented owner.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Mitigation includes confirming API readiness, authentication, response format and using a mock API in parallel.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Checkpoint: confirm readiness and integration contract by the stated date.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Risk comments were used as structured TPM status updates rather than informal notes.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Escalation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Risk statement: what may happen and why it matters.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Impact: identify the affected story, sprint or downstream capability.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Escalation: name the responsible engineering/team owner and the required decision.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Recovery plan: parallelize work, use a mock dependency, revise delivery sequencing or communicate a schedule impact.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Next checkpoint: define a concrete date or trigger.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JQL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Status query: project = ATSL AND status = "In Progress".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Outstanding work: project = ATSL AND status != Done.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High priority: project = ATSL AND priority in (Highest, High).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My work: project = ATSL AND assignee = currentUser().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Dependency query: project = KAN AND workItemLinkType = "is blocked by".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13. Saved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- AI Risks: project = ATSL AND labels = risk.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- High Priority Open Work: saved query for high-priority unresolved delivery work.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- KAN Blockers: dependency query for KAN blocked work.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Saved filters provide reusable data sources for dashboards and stakeholder 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14. Burndown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Burndown shows remaining story points over the sprint timeline.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The chart distinguishes actual remaining work from the ideal guideline.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 TPM uses deviations to ask: is scope changing, is delivery slower, or are dependencies constraining throughput?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Burndown is a signal for intervention, not a substitute for root-cause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15. Sprint Report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Sprint Report separates completed and not-completed work.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It exposes scope that moved forward and work that remained in progress.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discussion should connect incomplete items to dependency, capacity, scope or quality reasons.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The report is useful for sprint review and retrospective preparation.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16. Cumulative Flow &amp; Status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Cumulative Flow visualizes how work accumulates across statuses.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Growing In Progress work can indicate a bottleneck.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Stable flow requires balanced intake, execution and completion.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Status distribution on the final dashboard gives an executive snapshot.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17. Dashboard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Dashboard: AI TPM Delivery Dashboard.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Core views: status distribution, high-priority open work, AI risks, assigned work and KAN blockers.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The dashboard is designed around TPM questions: What is blocked? What is risky? What is urgent? What is progressing?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Only useful gadgets were retained to avoid dashboard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18. Final Dashboard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Status chart: 10 total work items — 5 To Do, 3 In Progress, 2 Done.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- High Priority Open Work surfaces the current risk item.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- AI Risks surfaces ATSL-5.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TPM - KAN Blockers surfaces KAN-8.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Assigned to Me provides personal execution visibility.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19. TPM Metrics to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Delivery: story points completed vs committed.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Flow: work in progress, cycle time and throughput.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Risk: number of open high-impact risks and age of critical dependencies.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Quality: acceptance criteria completion and reopened work.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Stakeholder health: decisions pending, escalations and checkpoint adherence.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20. TPM Stakeholder Communication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Executive: outcome, delivery health, top risk, decision required.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Product: scope, customer impact, priority and trade-offs.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Engineering: dependency, technical owner, integration contract and acceptance criteria.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Support/Operations: readiness, runbook, incident impact and handoff.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21. TPM Question: How do you manage a blocked story?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I first make the dependency explicit in Jira, identify the upstream owner and quantify impact on scope, milestone and downstream work.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then agree a mitigation such as a mock interface, parallel development or resequencing.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add a checkpoint and communicate the expected impact to stakeholders.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only remove the blocker when the dependency is validated, not merely when someone says it is ready.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22. TPM Question: How do you prioritize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I combine customer impact, business value, risk reduction, urgency, dependencies and engineering effort.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make the prioritization criteria explicit and validate trade-offs with Product and Engineering.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For AI products, I also consider data readiness, model quality, safety, latency and integration dependencies.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The output is a transparent ordered backlog rather than a priority based only on opinion.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23. TPM Question: How do you handle an API dependency?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I define the interface contract early: authentication, request/response schema, error handling, latency and availability expectations.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identify the provider and consumer owners.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use mocks or stubs to avoid blocking parallel development where feasible.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track readiness as a dependency with a date and escalation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24. TPM Question: How do you run a sprint?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Start with a clear sprint goal, prioritized backlog, capacity check and acceptance criteria.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During execution, monitor flow, blockers, risks and scope changes daily.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Use burndown/status reports for evidence and escalate material deviations early.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Finish with review and retrospective, then carry forward only justified incomplete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25. TPM Question: How do you report project status to executives?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Use a concise RAG-style narrative: outcome, progress, top risks, decisions needed and next milestone.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Lead with business impact rather than Jira mechanics.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Use dashboard evidence to support the message.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Never hide uncertainty; state the owner, mitigation and next checkpoint.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26. TPM Question: What is the difference between a risk and an issue?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A risk is a potential future event that may affect delivery; an issue is an active problem already affecting delivery.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Example risk: API may not be available by the integration date.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Example issue: the API is unavailable today and the sprint task is blocked.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Both need ownership, impact assessment and a response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27. TPM Question: How do you manage scope creep?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Make scope changes visible, assess impact on sprint goal and capacity, and obtain an explicit decision.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If new scope enters, either capacity or existing scope must change.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Use Jira history and sprint reports to preserve traceability.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Do not allow silent scope expansion.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28. TPM Question: What makes a good acceptance criterion?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It is observable, testable and unambiguous.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It describes expected behavior and outcome, not a specific implementation unless implementation is itself a requirement.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It should support QA validation and stakeholder sign-off.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Good criteria reduce rework and disagreement over completion.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29. TPM Question: How do you manage AI product delivery?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In addition to normal product delivery, I track data readiness, evaluation metrics, model/API dependencies, safety and monitoring.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define measurable quality thresholds and test cases before production.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separate model experimentation from production integration.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 plan rollback/fallback behavior for model or API failures.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30. TPM Question: How do you handle cross-team dependencies?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Create a dependency map with upstream/downstream teams, owner, required artifact, due date, impact and escalation path.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Link the dependency in Jira where possible.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Use recurring checkpoints for critical dependencies.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Escalate based on impact and agreed thresholds, not emotion.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31. TPM Question: How do you measure sprint health?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Combine goal progress, remaining work, flow, blockers, risk age, scope change and quality signals.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 sprint with many completed points can still be unhealthy if the critical path is blocked.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Use both quantitative charts and qualitative risk commentary.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The sprint goal remains the primary outcome measure.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32. TPM Question: What would you improve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Answer: Add automation for risk aging, dependency reminders and stakeholder status summaries.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Integrate engineering delivery signals such as GitHub PRs, deployments and test results.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Add product metrics such as ticket deflection, routing accuracy and priority prediction precision/recall.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Use the dashboard as an operating mechanism, not only a reporting artifact.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33. Interview Story — Dependency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Situation: AI priority prediction depended on an external API.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Task: protect sprint delivery while the API readiness was uncertain.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Action: documented the risk, linked it to ATSL-2, assigned the engineering owner, defined mock-API mitigation and checkpointed readiness.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Result: downstream delivery remained visible and actionable instead of becoming a surprise.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34. Interview Story — Delivery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Situation: delivery information was spread across stories, risks and blockers.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Task: create a single TPM view.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Action: created saved JQL filters and a dashboard for status, risks, high-priority work, assigned work and blockers.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Result: stakeholders can quickly identify delivery health, risks and intervention areas.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35. Final Project &amp; Submission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TPM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Jira practical work: completed.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Scrum execution, dependencies, risks, JQL, reports and dashboard: completed.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Evidence archive: 80 screenshots including final dashboard evidence.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70-page presentation: includes project explanation plus TPM interview questions and model answers.</a:t>
            </a:r>
          </a:p>
          <a:p>
            <a:pPr>
              <a:spcAft>
                <a:spcPts val="1000"/>
              </a:spcAft>
              <a:defRPr sz="1900">
                <a:solidFill>
                  <a:srgbClr val="202328"/>
                </a:solidFill>
              </a:defRPr>
            </a:pPr>
            <a:r>
              <a:t>GitHub-ready package: README, PPT, evidence, evidence index, TPM Q&amp;A and submission checklist.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01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674534"/>
            <a:ext cx="3685032" cy="1865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858785"/>
            <a:ext cx="3685032" cy="14970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680292"/>
            <a:ext cx="3685032" cy="18540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02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051490"/>
            <a:ext cx="3685032" cy="31116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670647"/>
            <a:ext cx="3685032" cy="1873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888891"/>
            <a:ext cx="3685032" cy="14368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03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677413"/>
            <a:ext cx="3685032" cy="1859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675968"/>
            <a:ext cx="3685032" cy="1862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051788"/>
            <a:ext cx="3685032" cy="31110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04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658220"/>
            <a:ext cx="3685032" cy="1898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701041"/>
            <a:ext cx="3685032" cy="18125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686050"/>
            <a:ext cx="3685032" cy="18425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05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658220"/>
            <a:ext cx="3685032" cy="1898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841512"/>
            <a:ext cx="3685032" cy="1531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848229"/>
            <a:ext cx="3685032" cy="15181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06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757275"/>
            <a:ext cx="3685032" cy="17000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712000"/>
            <a:ext cx="3685032" cy="17906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704283"/>
            <a:ext cx="3685032" cy="18060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07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925155"/>
            <a:ext cx="3685032" cy="13643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857239"/>
            <a:ext cx="3685032" cy="15001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592000"/>
            <a:ext cx="3685032" cy="20306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08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732112"/>
            <a:ext cx="3685032" cy="17503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672040"/>
            <a:ext cx="3685032" cy="18705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702363"/>
            <a:ext cx="3685032" cy="1809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09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687969"/>
            <a:ext cx="3685032" cy="18386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957542"/>
            <a:ext cx="3685032" cy="12995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696606"/>
            <a:ext cx="3685032" cy="18214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10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2727335"/>
            <a:ext cx="3685032" cy="1759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695646"/>
            <a:ext cx="3685032" cy="18233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06824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960120"/>
            <a:ext cx="37947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0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694695"/>
            <a:ext cx="3685032" cy="1825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961888"/>
            <a:ext cx="35753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11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57567"/>
            <a:ext cx="5513832" cy="2699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38901"/>
            <a:ext cx="5513832" cy="27368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12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43208"/>
            <a:ext cx="5513832" cy="2728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11619"/>
            <a:ext cx="5513832" cy="27913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13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24542"/>
            <a:ext cx="5513832" cy="27655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147004"/>
            <a:ext cx="5513832" cy="29206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14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19453"/>
            <a:ext cx="5513832" cy="2775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34593"/>
            <a:ext cx="5513832" cy="27454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15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53260"/>
            <a:ext cx="5513832" cy="2708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36029"/>
            <a:ext cx="5513832" cy="2742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16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25978"/>
            <a:ext cx="5513832" cy="27626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70490"/>
            <a:ext cx="5513832" cy="26736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17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24542"/>
            <a:ext cx="5513832" cy="27655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59003"/>
            <a:ext cx="5513832" cy="2696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18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22310"/>
            <a:ext cx="5513832" cy="2769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895104"/>
            <a:ext cx="5513832" cy="14244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19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40337"/>
            <a:ext cx="5513832" cy="27339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13022"/>
            <a:ext cx="5513832" cy="27885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20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666797"/>
            <a:ext cx="5513832" cy="18810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796028"/>
            <a:ext cx="5513832" cy="16225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21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95863"/>
            <a:ext cx="5513832" cy="26228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3047264"/>
            <a:ext cx="5513832" cy="11200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22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17362"/>
            <a:ext cx="5513832" cy="27798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31721"/>
            <a:ext cx="5513832" cy="27511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23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01568"/>
            <a:ext cx="5513832" cy="2811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140311"/>
            <a:ext cx="5513832" cy="2933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24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36029"/>
            <a:ext cx="5513832" cy="27425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17362"/>
            <a:ext cx="5513832" cy="27798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25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764438"/>
            <a:ext cx="5513832" cy="1685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978386"/>
            <a:ext cx="5513832" cy="12578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26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17362"/>
            <a:ext cx="5513832" cy="27798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184756"/>
            <a:ext cx="5513832" cy="28451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27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44694"/>
            <a:ext cx="5513832" cy="2725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3080334"/>
            <a:ext cx="5513832" cy="10539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28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10183"/>
            <a:ext cx="5513832" cy="27942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80596"/>
            <a:ext cx="5513832" cy="26534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29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388234"/>
            <a:ext cx="5513832" cy="24381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194388"/>
            <a:ext cx="5513832" cy="28258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30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53" y="1170431"/>
            <a:ext cx="5195212" cy="4873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05875"/>
            <a:ext cx="5513832" cy="2802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31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34593"/>
            <a:ext cx="5513832" cy="2745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59003"/>
            <a:ext cx="5513832" cy="2696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32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37465"/>
            <a:ext cx="5513832" cy="27396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18767"/>
            <a:ext cx="5513832" cy="27770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33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41773"/>
            <a:ext cx="5513832" cy="27310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23106"/>
            <a:ext cx="5513832" cy="27684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34 — Jira Screenshot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01511"/>
            <a:ext cx="5513832" cy="28115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33166"/>
            <a:ext cx="5513832" cy="27482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35 — Final Dashboard &amp; Closing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46304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6F2"/>
                </a:solidFill>
              </a:defRPr>
            </a:pPr>
            <a:r>
              <a:t>SCREENSHOT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vidence_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2247516"/>
            <a:ext cx="5513832" cy="27195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vidence_080_fina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2257567"/>
            <a:ext cx="5513832" cy="2699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1928" y="5961888"/>
            <a:ext cx="540410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F6973"/>
                </a:solidFill>
              </a:defRPr>
            </a:pPr>
            <a:r>
              <a:t>evidence_080_final_dashboard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37960"/>
            <a:ext cx="11338560" cy="18288"/>
          </a:xfrm>
          <a:prstGeom prst="rect">
            <a:avLst/>
          </a:prstGeom>
          <a:solidFill>
            <a:srgbClr val="D7D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3"/>
                </a:solidFill>
              </a:defRPr>
            </a:pPr>
            <a:r>
              <a:t>AI TPM / Jira Delivery Project  •  Prepared by Mahesh Zade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5624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F6973"/>
                </a:solidFill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